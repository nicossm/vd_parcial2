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2ae9e50-ced6-fdbc-1b43-0629499a8d4b}">
          <p14:sldIdLst>
            <p14:sldId id="256"/>
          </p14:sldIdLst>
        </p14:section>
        <p14:section name="Resumen" id="{38eaffcc-2509-71a8-ee20-c13f6a5dccf5}">
          <p14:sldIdLst>
            <p14:sldId id="257"/>
          </p14:sldIdLst>
        </p14:section>
        <p14:section name="Contexto" id="{921fd3ee-cd34-2529-97b2-17e4a989dacd}">
          <p14:sldIdLst>
            <p14:sldId id="258"/>
          </p14:sldIdLst>
        </p14:section>
        <p14:section name="Hallazgos" id="{4563bd22-ab2f-5472-0d4b-d7d1029a938b}">
          <p14:sldIdLst>
            <p14:sldId id="259"/>
            <p14:sldId id="260"/>
            <p14:sldId id="261"/>
            <p14:sldId id="262"/>
          </p14:sldIdLst>
        </p14:section>
        <p14:section name="Solución" id="{dff75828-2a05-524d-46f9-1b404ec0c684}">
          <p14:sldIdLst>
            <p14:sldId id="263"/>
          </p14:sldIdLst>
        </p14:section>
        <p14:section name="Cierre" id="{cf99d9de-71d3-2389-2a5e-92360e5744b2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Ventas mensuales de pedidos entregados (millones de pesos)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(M$)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$0.0 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Ago</c:v>
                  </c:pt>
                  <c:pt idx="4">
                    <c:v>Sep</c:v>
                  </c:pt>
                  <c:pt idx="5">
                    <c:v>Oct*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2.82</c:v>
                </c:pt>
                <c:pt idx="1">
                  <c:v>2.55</c:v>
                </c:pt>
                <c:pt idx="2">
                  <c:v>2.72</c:v>
                </c:pt>
                <c:pt idx="3">
                  <c:v>2.5</c:v>
                </c:pt>
                <c:pt idx="4">
                  <c:v>2.68</c:v>
                </c:pt>
                <c:pt idx="5">
                  <c:v>1.55</c:v>
                </c:pt>
              </c:numCache>
            </c:numRef>
          </c:val>
        </c:ser>
        <c:dLbls>
          <c:numFmt formatCode="$0.0 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$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Tasa de cancelación por comuna del restaurante (meta 8%)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Cancelación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Maipú</c:v>
                  </c:pt>
                  <c:pt idx="1">
                    <c:v>Las Condes</c:v>
                  </c:pt>
                  <c:pt idx="2">
                    <c:v>Ñuñoa</c:v>
                  </c:pt>
                  <c:pt idx="3">
                    <c:v>La Florida</c:v>
                  </c:pt>
                  <c:pt idx="4">
                    <c:v>Sin información</c:v>
                  </c:pt>
                  <c:pt idx="5">
                    <c:v>Santiago</c:v>
                  </c:pt>
                  <c:pt idx="6">
                    <c:v>Providencia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0.173</c:v>
                </c:pt>
                <c:pt idx="1">
                  <c:v>0.138</c:v>
                </c:pt>
                <c:pt idx="2">
                  <c:v>0.128</c:v>
                </c:pt>
                <c:pt idx="3">
                  <c:v>0.118</c:v>
                </c:pt>
                <c:pt idx="4">
                  <c:v>0.092</c:v>
                </c:pt>
                <c:pt idx="5">
                  <c:v>0.084</c:v>
                </c:pt>
                <c:pt idx="6">
                  <c:v>0.073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Calificación promedio (1–5) según tiempo de entrega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Calificación</c:v>
                </c:pt>
              </c:strCache>
            </c:strRef>
          </c:tx>
          <c:spPr>
            <a:solidFill>
              <a:srgbClr val="2E5EA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≤20 min</c:v>
                  </c:pt>
                  <c:pt idx="1">
                    <c:v>21–30</c:v>
                  </c:pt>
                  <c:pt idx="2">
                    <c:v>31–40</c:v>
                  </c:pt>
                  <c:pt idx="3">
                    <c:v>41–50</c:v>
                  </c:pt>
                  <c:pt idx="4">
                    <c:v>&gt;50 min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4.19</c:v>
                </c:pt>
                <c:pt idx="1">
                  <c:v>4.12</c:v>
                </c:pt>
                <c:pt idx="2">
                  <c:v>4.13</c:v>
                </c:pt>
                <c:pt idx="3">
                  <c:v>4.22</c:v>
                </c:pt>
                <c:pt idx="4">
                  <c:v>4.16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Tasa de cancelación por tipo de cuenta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Cancelación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Premium</c:v>
                  </c:pt>
                  <c:pt idx="1">
                    <c:v>Estándar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0.124</c:v>
                </c:pt>
                <c:pt idx="1">
                  <c:v>0.108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5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análisis de PideYa, app de delivery que opera en seis comunas de Santiago. Integramos tres fuentes de datos y construimos un dashboard en Power BI para apoyar decisiones de operación, servicio y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de los seis indicadores principales están en rojo. El mensaje central: PideYa no tiene un problema de demanda, tiene un problema de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venían con fechas en tres formatos, nombres escritos de distintas formas, montos como texto, duplicados y valores imposibles. Todo se corrigió con un script de Python reproducible que deja una bitácora. Luego armamos un modelo estrella en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ventas mensuales son estables, sin tendencia de crecimiento. La baja de octubre no es real: los datos llegan solo hasta el 19. Saludable es la categoría líder y Santiago la comuna con más ventas.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cancelación promedio es 10,8%. Ninguna categoría cumple la meta de 8% y, por comuna, solo Providencia lo logra. Maipú llega a 17,3%. Agosto bajó a 7%, lo que demuestra que la meta es alcanzable.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el 45% de las entregas llega en 30 minutos o menos. Sin embargo, la calificación es prácticamente igual en todos los rangos de tiempo. Acelerar las entregas no subiría la satisfacción por sí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Dulce Tentación vende mucho pero tiene la peor nota: 43% de sus calificaciones son de 3 estrellas o menos. Además, los usuarios Premium cancelan más que los Estándar y no gastan más, por lo que la cuenta Premium no está fidelizando.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es un dashboard de tres páginas. Cada una responde la pregunta de una audiencia distinta. Los KPIs usan semáforos según la meta y todos los filtros actualizan la página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Proponemos cuatro acciones, cada una con un indicador que se puede seguir en el dashboard: reducir cancelaciones donde se concentran, mejorar la calidad de los restaurantes críticos, rediseñar los beneficios Premium y mejorar la captura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síntesis: PideYa no necesita más clientes para crecer, sino retener mejor a los que ya tiene. Quedamos atentos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241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PideYa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PideYa · Presentación ejecutiva · ADY1104-001D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Desempeño comercial y calidad de servicio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Resumen ejecutivo · Dashboard de visualización de datos en Power BI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212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ADY1104 · Visualización de Datos · Sección ADY1104-001D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Javier Sagredo · Cristian Romero · Rolando Paredes · Nicolás Osses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Duoc UC · 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Ventas estables, pero el servicio no cumple sus metas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$14,8 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042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Ventas (may–oct 2026)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1.327 pedidos entregados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64992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10,8%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3042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Tasa de cancelación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5603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Meta: 8%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6181344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45%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042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Entregas en ≤ 30 min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5603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Promedio: 31,5 min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8997696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6296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4,14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3042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Calificación promedio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5603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Meta: 4,2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46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 que encontramos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03320"/>
            <a:ext cx="6583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Ninguna categoría cumple la meta de cancelación; Maipú llega a 17,3%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Más de la mitad de las entregas llega después de 30 minutos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La calificación depende del restaurante, no de la rapidez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El segmento Premium cancela más que el Estándar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7589520" y="329184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352044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Mensaje clave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El crecimiento no está limitado por la demanda, sino por la calidad del servicio.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Integramos tres sistemas que nunca se habían consolidado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18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Usuarios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308 → 300 filas  ·  comuna · tipo de cuenta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269748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Restaurantes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30 → 30 filas  ·  categoría · comuna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388620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95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Pedidos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1.515 → 1.488 filas  ·  monto · tiempo · calificación</a:t>
            </a:r>
            <a:endParaRPr lang="en-US" sz="1200" dirty="0"/>
          </a:p>
        </p:txBody>
      </p:sp>
      <p:sp>
        <p:nvSpPr>
          <p:cNvPr id="12" name="arrow1"/>
          <p:cNvSpPr/>
          <p:nvPr/>
        </p:nvSpPr>
        <p:spPr>
          <a:xfrm>
            <a:off x="4069080" y="2697480"/>
            <a:ext cx="64008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4937760" y="150876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16916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Limpieza en Python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743 fechas en 3 formatos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313 textos inconsistentes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149 montos con texto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23 duplicados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12 claves inexistentes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12 tiempos imposibles</a:t>
            </a:r>
            <a:endParaRPr lang="en-US" sz="1400" dirty="0"/>
          </a:p>
        </p:txBody>
      </p:sp>
      <p:sp>
        <p:nvSpPr>
          <p:cNvPr id="15" name="arrow2"/>
          <p:cNvSpPr/>
          <p:nvPr/>
        </p:nvSpPr>
        <p:spPr>
          <a:xfrm>
            <a:off x="8275320" y="2697480"/>
            <a:ext cx="64008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9144000" y="1508760"/>
            <a:ext cx="2468880" cy="33832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169164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Modelo estrella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Pedidos al centro, unidos a Usuarios, Restaurantes y un Calendario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26 medidas DAX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Proceso reproducible: el script registra cada corrección en una bitácora de calidad y los KPIs se validaron contra cálculos independientes.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Las ventas son estables: entre $2,5 y $2,8 millones al mes</a:t>
            </a:r>
            <a:endParaRPr lang="en-US" sz="2800" dirty="0"/>
          </a:p>
        </p:txBody>
      </p:sp>
      <p:graphicFrame>
        <p:nvGraphicFramePr>
          <p:cNvPr id="3" name="ventas_mes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691640"/>
            <a:ext cx="3337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Qué vende PideYa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Saludable lidera con el 35% de las ventas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Santiago concentra el 31% de las ventas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58% de los pedidos se paga con tarjeta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Ticket promedio estable: $11.160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Sábado es el día de más pedidos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*Octubre con datos solo hasta el día 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Solo Providencia cumple la meta de cancelación de 8%</a:t>
            </a:r>
            <a:endParaRPr lang="en-US" sz="2800" dirty="0"/>
          </a:p>
        </p:txBody>
      </p:sp>
      <p:graphicFrame>
        <p:nvGraphicFramePr>
          <p:cNvPr id="3" name="cancel_comuna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7863840" y="1463040"/>
            <a:ext cx="3749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600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17,3%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304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Cancelación en Maipú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Más del doble de la meta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7863840" y="3063240"/>
            <a:ext cx="3749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13,6%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044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Cancelación en comida Asiática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160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La categoría más alta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7863840" y="4663440"/>
            <a:ext cx="3749040" cy="1417320"/>
          </a:xfrm>
          <a:prstGeom prst="roundRect">
            <a:avLst>
              <a:gd name="adj" fmla="val 516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475488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Agosto bajó a 7,0%: la meta es alcanzable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 55% de las entregas llega tarde, pero eso no baja la nota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55%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042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Entregas sobre 30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Mediana: 32 minutos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548640" y="306324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≈ 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04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Correlación tiempo–calificación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60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La rapidez no explica la nota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548640" y="466344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548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Satisfacción depende del restaurante, no del reparto</a:t>
            </a:r>
            <a:endParaRPr lang="en-US" sz="1600" dirty="0"/>
          </a:p>
        </p:txBody>
      </p:sp>
      <p:graphicFrame>
        <p:nvGraphicFramePr>
          <p:cNvPr id="13" name="calif_tiempo" descr=""/>
          <p:cNvGraphicFramePr/>
          <p:nvPr/>
        </p:nvGraphicFramePr>
        <p:xfrm>
          <a:off x="4206240" y="1371600"/>
          <a:ext cx="7406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Dos alertas: un restaurante clave y el segmento Premium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Dulce Tentación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3.er restaurante en ventas, con la peor calificación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$692 mil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Ventas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3,77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Calificación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43%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Notas ≤ 3★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Un local con alto volumen y mala experiencia daña la marca en cada pedido.</a:t>
            </a:r>
            <a:endParaRPr lang="en-US" sz="1500" dirty="0"/>
          </a:p>
        </p:txBody>
      </p:sp>
      <p:graphicFrame>
        <p:nvGraphicFramePr>
          <p:cNvPr id="13" name="cancel_premium" descr=""/>
          <p:cNvGraphicFramePr/>
          <p:nvPr/>
        </p:nvGraphicFramePr>
        <p:xfrm>
          <a:off x="6309360" y="137160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309360" y="45720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Premium cancela más y no gasta más por pedido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($11.081 vs $11.173). Representa el 27% de las ventas: son los clientes que más conviene retener.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 dashboard con tres páginas, una por audiencia</a:t>
            </a:r>
            <a:endParaRPr lang="en-US" sz="2800" dirty="0"/>
          </a:p>
        </p:txBody>
      </p:sp>
      <p:pic>
        <p:nvPicPr>
          <p:cNvPr id="3" name="shot0" descr="Captura de la página 1 · Resumen ejecu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520440" cy="19795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566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· Resumen ejecutivo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Gerencia general: KPIs con semáforo y evolución</a:t>
            </a:r>
            <a:endParaRPr lang="en-US" sz="1300" dirty="0"/>
          </a:p>
        </p:txBody>
      </p:sp>
      <p:pic>
        <p:nvPicPr>
          <p:cNvPr id="6" name="shot1" descr="Captura de la página 2 · Opera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3040"/>
            <a:ext cx="3520440" cy="197958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97680" y="3566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· Operación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29768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Operaciones: cancelación, tiempos y restaurantes</a:t>
            </a:r>
            <a:endParaRPr lang="en-US" sz="1300" dirty="0"/>
          </a:p>
        </p:txBody>
      </p:sp>
      <p:pic>
        <p:nvPicPr>
          <p:cNvPr id="9" name="shot2" descr="Captura de la página 3 · Clien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3520440" cy="197958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46720" y="3566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· Clientes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04672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Marketing: comunas, días y segmento Premium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48463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Interactividad: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navegación entre páginas · filtros por mes, comuna, categoría y tipo de cuenta · botón limpiar filtros · filtro cruzado al hacer clic · subtítulo que indica los filtros activos · colores que cambian según la meta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Cuatro acciones para mejorar el servicio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Plan focalizado de cancelaciones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Maipú, Las Condes y comida Asiática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Meta: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Cancelación ≤ 8% en 3 meses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Programa de calidad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Dulce Tentación y locales bajo 4,0★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Meta: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Calificación por local ≥ 4,0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3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Rediseñar Premium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Prioridad de despacho y compensación por demoras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57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Meta: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Cancelación Premium ≤ Estándar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617220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4"/>
          <p:cNvSpPr/>
          <p:nvPr/>
        </p:nvSpPr>
        <p:spPr>
          <a:xfrm>
            <a:off x="644652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Mejorar la captura de datos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Listas cerradas y motivo de cancelación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257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Meta: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Cero correcciones manuales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Retener mejor a los clientes que ya tenemos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El dashboard entrega a cada área los indicadores para monitorear ese objetivo de forma continua.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486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Gracias · ¿Preguntas?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deYa">
  <a:themeElements>
    <a:clrScheme name="PideYa">
      <a:dk1>
        <a:srgbClr val="1F2937"/>
      </a:dk1>
      <a:lt1>
        <a:srgbClr val="FFFFFF"/>
      </a:lt1>
      <a:dk2>
        <a:srgbClr val="4B5563"/>
      </a:dk2>
      <a:lt2>
        <a:srgbClr val="F3F4F6"/>
      </a:lt2>
      <a:accent1>
        <a:srgbClr val="E4572E"/>
      </a:accent1>
      <a:accent2>
        <a:srgbClr val="2E5EAA"/>
      </a:accent2>
      <a:accent3>
        <a:srgbClr val="C2410C"/>
      </a:accent3>
      <a:accent4>
        <a:srgbClr val="15803D"/>
      </a:accent4>
      <a:accent5>
        <a:srgbClr val="9CA3AF"/>
      </a:accent5>
      <a:accent6>
        <a:srgbClr val="17A398"/>
      </a:accent6>
      <a:hlink>
        <a:srgbClr val="2E5EAA"/>
      </a:hlink>
      <a:folHlink>
        <a:srgbClr val="6C4E97"/>
      </a:folHlink>
    </a:clrScheme>
    <a:fontScheme name="PideY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PideYa · Presentación ejecutiva</dc:title>
  <dc:subject>PptxGenJS Presentation</dc:subject>
  <dc:creator>Javier Sagredo, Cristian Romero, Rolando Paredes, Nicolás Osses</dc:creator>
  <cp:lastModifiedBy>Javier Sagredo, Cristian Romero, Rolando Paredes, Nicolás Osses</cp:lastModifiedBy>
  <cp:revision>1</cp:revision>
  <dcterms:created xsi:type="dcterms:W3CDTF">2026-10-29T22:18:38Z</dcterms:created>
  <dcterms:modified xsi:type="dcterms:W3CDTF">2026-10-29T22:18:38Z</dcterms:modified>
</cp:coreProperties>
</file>