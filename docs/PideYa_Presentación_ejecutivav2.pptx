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Somos el equipo que analizó los pedidos de PideYa entre mayo y octubre de 2026. Nuestra conclusión cabe en una frase: PideYa retiene muy bien a sus clientes, pero cada mes suma menos clientes nuevos.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PideYa opera en seis comunas de Santiago, con 300 usuarios, 30 restaurantes y 1.488 pedidos entre el 1 de mayo y el 19 de octubre de 2026. El punto de partida era que usuarios, restaurantes y pedidos estaban en tres sistemas que nunca se habían cruzado, así que no existía una sola versión de los números. La gerencia nos hizo cuatro preguntas, y cada una tiene su respuesta en una diapositiva de esta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período vendimos $14,8 millones en 1.327 pedidos entregados, y el 97,7% de los clientes volvió a pedir. Pero la cancelación está en 10,8%, solo el 45% de las entregas llega en 30 minutos o menos y la nota promedio es 4,14: las tres quedan bajo las metas que propusimos como equipo, porque PideYa no tenía metas formales. El mensaje clave es que la base es fiel pero no crece, así que hay que sumar clientes nuevos y corregir las cancelaciones en cinco restaurantes.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analizar tuvimos que ordenar los datos. Corregimos 743 fechas escritas en tres formatos, 313 nombres escritos de distintas formas, 149 montos con texto, 23 registros duplicados, 12 pedidos de clientes o locales que no existen y 12 tiempos de entrega imposibles. Así quedamos con 300 usuarios, 30 restaurantes y 1.488 pedidos válidos. Hoy hay una sola fuente de datos, cada corrección queda registrada y las cifras se verificaron con un cálculo independiente.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ventas se mueven entre $2,5 y $2,8 millones al mes, sin una tendencia de crecimiento; octubre se ve más bajo solo porque los datos llegan hasta el día 19. Saludable lidera con el 35% de las ventas, Santiago concentra el 31% y el ticket promedio se mantiene en $11.160. Con ventas planas y casi toda la base ya comprando, la única forma de crecer es sumar clientes.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la buena noticia: el 97,7% de los clientes volvió a pedir, con una mediana de 5 pedidos por cliente, uno cada 19 días. La mala noticia está a la derecha: los registros nuevos bajaron de 13,8 al mes entre enero y mayo a 8,8 entre junio y septiembre, y en octubre no hubo registros. Además, 73 clientes, el 24,5%, llevan más de 45 días sin pedir. Y la cuenta Premium no cambia nada: esos clientes piden lo mismo y gastan lo mismo que los Estándar.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cancelaciones no están repartidas: cinco restaurantes, con solo el 15,5% de los pedidos, explican 42 de las 161 cancelaciones, un 26%. Sushi Mar cancela el 22,7% de sus pedidos, casi el triple de la meta propuesta de 8%, y los dos únicos locales de Maipú están en esta lista. Si estos cinco bajaran al 8%, la tasa total pasaría de 10,8% a 9,2%. Y agosto, con 7,0%, demuestra que la meta es alcanzable.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el 45% de las entregas llega en 30 minutos o menos, la meta que propusimos, y el promedio es 31,5 minutos. Pero la nota casi no cambia con el tiempo de entrega: va de 4,12 a 4,22 en todos los tramos, incluso sobre los 50 minutos. Con el medio de pago pasa lo mismo: tarjeta, efectivo y transferencia cancelan entre 9,4% y 11,1% y tienen un ticket cercano a $11.100. La satisfacción depende del restaurante, y eso es lo que vemos en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Saludable es la categoría que más vende, con $5,15 millones, y además la mejor evaluada: 4,22 de nota y 82,6% de clientes satisfechos. El caso que preocupa es Dulce Tentación: es el tercer restaurante en ventas, con $692 mil, pero tiene la peor nota, 3,77, y el 43% de sus notas son de 3 estrellas o menos; esa diferencia con el resto no es casualidad. Junto a Pollo al Carbón, Café Luna y Verde Bowl son los cuatro locales bajo 4,0. Si nos preguntan por categorías: algunas vienen mal asignadas desde el origen, por eso no recomendamos acciones por categoría.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saber dónde crecer miramos cada comuna. La Florida tiene los clientes más activos, con 5,25 pedidos por usuario, la mayor satisfacción, 83%, y un 41% de cuentas Premium. Ñuñoa tiene 6 locales para 41 usuarios, la mayor oferta por usuario, y sus clientes son los que menos cancelan, 8,1%. Maipú crece, pero sus locales cancelan 17,3%, así que primero hay que arreglar la oferta; Las Condes solo sumó 2 usuarios desde mayo y Santiago, con el 31% de las ventas, tiene la satisfacción más baja.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Proponemos cinco acciones, las mismas del informe escrito. Las dos primeras corrigen el servicio: bajar las cancelaciones en los cinco restaurantes, a menos de 9,2% en tres meses y de 8% en seis, y llevar a los cuatro peor evaluados a 4,0 o más. La tercera y la cuarta buscan crecer: captar clientes en La Florida y Ñuñoa, contactar a los 73 clientes que llevan más de 45 días sin pedir para volver a 14 registros nuevos al mes, y darle a Premium un beneficio ligado a la frecuencia, como despacho prioritario. La quinta ordena la captura de datos para que no haya que corregir nada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PideYa tiene clientes fieles, pero una base que no crece. Las acciones 1 y 2 protegen las ventas que ya tenemos, y la 3 y la 4 son las que pueden hacerlas crecer. Ahora les mostramos el dashboard en vivo y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09600"/>
            <a:ext cx="10566400" cy="350520"/>
          </a:xfrm>
          <a:prstGeom prst="rect">
            <a:avLst/>
          </a:prstGeom>
          <a:noFill/>
          <a:ln/>
        </p:spPr>
        <p:txBody>
          <a:bodyPr wrap="square" lIns="0" tIns="0" rIns="0" bIns="0" rtlCol="0" anchor="t"/>
          <a:lstStyle>
            <a:lvl1pPr algn="l" indent="0" marL="0">
              <a:lnSpc>
                <a:spcPct val="115000"/>
              </a:lnSpc>
              <a:buNone/>
              <a:defRPr lang="en-US" sz="2400" dirty="0">
                <a:solidFill>
                  <a:srgbClr val="1F2937"/>
                </a:solidFill>
                <a:latin typeface="Arial" pitchFamily="34" charset="0"/>
                <a:ea typeface="Arial" pitchFamily="34" charset="-122"/>
                <a:cs typeface="Arial"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264920"/>
            <a:ext cx="10566400" cy="4780280"/>
          </a:xfrm>
          <a:prstGeom prst="rect">
            <a:avLst/>
          </a:prstGeom>
          <a:noFill/>
          <a:ln/>
        </p:spPr>
        <p:txBody>
          <a:bodyPr wrap="square" lIns="0" tIns="0" rIns="0" bIns="0" rtlCol="0" anchor="t"/>
          <a:lstStyle>
            <a:lvl1pPr algn="l" indent="0" marL="0">
              <a:lnSpc>
                <a:spcPct val="140000"/>
              </a:lnSpc>
              <a:buNone/>
              <a:defRPr lang="en-US" sz="1600" dirty="0">
                <a:solidFill>
                  <a:srgbClr val="1F2937"/>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609600"/>
            <a:ext cx="10566400" cy="350520"/>
          </a:xfrm>
          <a:prstGeom prst="rect">
            <a:avLst/>
          </a:prstGeom>
          <a:noFill/>
          <a:ln/>
        </p:spPr>
        <p:txBody>
          <a:bodyPr wrap="square" lIns="0" tIns="0" rIns="0" bIns="0" rtlCol="0" anchor="t"/>
          <a:lstStyle>
            <a:lvl1pPr algn="l" indent="0" marL="0">
              <a:lnSpc>
                <a:spcPct val="115000"/>
              </a:lnSpc>
              <a:buNone/>
              <a:defRPr lang="en-US" sz="2400" dirty="0">
                <a:solidFill>
                  <a:srgbClr val="1F2937"/>
                </a:solidFill>
                <a:latin typeface="Arial" pitchFamily="34" charset="0"/>
                <a:ea typeface="Arial" pitchFamily="34" charset="-122"/>
                <a:cs typeface="Arial"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264920"/>
            <a:ext cx="10566400" cy="4780280"/>
          </a:xfrm>
          <a:prstGeom prst="rect">
            <a:avLst/>
          </a:prstGeom>
          <a:noFill/>
          <a:ln/>
        </p:spPr>
        <p:txBody>
          <a:bodyPr wrap="square" lIns="0" tIns="0" rIns="0" bIns="0" rtlCol="0" anchor="t"/>
          <a:lstStyle>
            <a:lvl1pPr algn="l" indent="0" marL="0">
              <a:lnSpc>
                <a:spcPct val="140000"/>
              </a:lnSpc>
              <a:buNone/>
              <a:defRPr lang="en-US" sz="1600" dirty="0">
                <a:solidFill>
                  <a:srgbClr val="1F2937"/>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7"/>
        </a:solidFill>
      </p:bgPr>
    </p:bg>
    <p:spTree>
      <p:nvGrpSpPr>
        <p:cNvPr id="1" name=""/>
        <p:cNvGrpSpPr/>
        <p:nvPr/>
      </p:nvGrpSpPr>
      <p:grpSpPr>
        <a:xfrm>
          <a:off x="0" y="0"/>
          <a:ext cx="0" cy="0"/>
          <a:chOff x="0" y="0"/>
          <a:chExt cx="0" cy="0"/>
        </a:xfrm>
      </p:grpSpPr>
      <p:sp>
        <p:nvSpPr>
          <p:cNvPr id="2" name="Text 0"/>
          <p:cNvSpPr/>
          <p:nvPr/>
        </p:nvSpPr>
        <p:spPr>
          <a:xfrm>
            <a:off x="812800" y="81280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4572E"/>
                </a:solidFill>
                <a:latin typeface="Arial" pitchFamily="34" charset="0"/>
                <a:ea typeface="Arial" pitchFamily="34" charset="-122"/>
                <a:cs typeface="Arial" pitchFamily="34" charset="-120"/>
              </a:rPr>
              <a:t>PideYa</a:t>
            </a:r>
            <a:endParaRPr lang="en-US" sz="1800" dirty="0"/>
          </a:p>
        </p:txBody>
      </p:sp>
      <p:sp>
        <p:nvSpPr>
          <p:cNvPr id="3" name="Shape 1"/>
          <p:cNvSpPr/>
          <p:nvPr/>
        </p:nvSpPr>
        <p:spPr>
          <a:xfrm>
            <a:off x="812800" y="2324735"/>
            <a:ext cx="762000" cy="50800"/>
          </a:xfrm>
          <a:prstGeom prst="roundRect">
            <a:avLst>
              <a:gd name="adj" fmla="val 50000"/>
            </a:avLst>
          </a:prstGeom>
          <a:solidFill>
            <a:srgbClr val="E4572E"/>
          </a:solidFill>
          <a:ln/>
        </p:spPr>
      </p:sp>
      <p:sp>
        <p:nvSpPr>
          <p:cNvPr id="4" name="Text 2"/>
          <p:cNvSpPr/>
          <p:nvPr>
            <p:ph type="title"/>
          </p:nvPr>
        </p:nvSpPr>
        <p:spPr>
          <a:xfrm>
            <a:off x="812800" y="2578735"/>
            <a:ext cx="10464800" cy="1087120"/>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FFFFFF"/>
                </a:solidFill>
                <a:latin typeface="Arial" pitchFamily="34" charset="0"/>
                <a:ea typeface="Arial" pitchFamily="34" charset="-122"/>
                <a:cs typeface="Arial" pitchFamily="34" charset="-120"/>
              </a:rPr>
              <a:t>PideYa retiene a sus clientes, pero cada vez suma menos clientes nuevos</a:t>
            </a:r>
            <a:endParaRPr lang="en-US" sz="3800" dirty="0"/>
          </a:p>
        </p:txBody>
      </p:sp>
      <p:sp>
        <p:nvSpPr>
          <p:cNvPr id="5" name="Text 3"/>
          <p:cNvSpPr/>
          <p:nvPr/>
        </p:nvSpPr>
        <p:spPr>
          <a:xfrm>
            <a:off x="812800" y="3843655"/>
            <a:ext cx="1088339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9CA3AF"/>
                </a:solidFill>
                <a:latin typeface="Arial" pitchFamily="34" charset="0"/>
                <a:ea typeface="Arial" pitchFamily="34" charset="-122"/>
                <a:cs typeface="Arial" pitchFamily="34" charset="-120"/>
              </a:rPr>
              <a:t>Hallazgos y recomendaciones · pedidos de mayo a octubre de 2026</a:t>
            </a:r>
            <a:endParaRPr lang="en-US" sz="1600" dirty="0"/>
          </a:p>
        </p:txBody>
      </p:sp>
      <p:sp>
        <p:nvSpPr>
          <p:cNvPr id="6" name="Text 4"/>
          <p:cNvSpPr/>
          <p:nvPr/>
        </p:nvSpPr>
        <p:spPr>
          <a:xfrm>
            <a:off x="812800" y="5299710"/>
            <a:ext cx="10883392"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1D5DB"/>
                </a:solidFill>
                <a:latin typeface="Arial" pitchFamily="34" charset="0"/>
                <a:ea typeface="Arial" pitchFamily="34" charset="-122"/>
                <a:cs typeface="Arial" pitchFamily="34" charset="-120"/>
              </a:rPr>
              <a:t>Evaluación Parcial 2 · ADY1104 Visualización de Datos · Sección ADY1104-001D</a:t>
            </a:r>
            <a:endParaRPr lang="en-US" sz="1300" dirty="0"/>
          </a:p>
        </p:txBody>
      </p:sp>
      <p:sp>
        <p:nvSpPr>
          <p:cNvPr id="7" name="Text 5"/>
          <p:cNvSpPr/>
          <p:nvPr/>
        </p:nvSpPr>
        <p:spPr>
          <a:xfrm>
            <a:off x="812800" y="5565140"/>
            <a:ext cx="10883392"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1D5DB"/>
                </a:solidFill>
                <a:latin typeface="Arial" pitchFamily="34" charset="0"/>
                <a:ea typeface="Arial" pitchFamily="34" charset="-122"/>
                <a:cs typeface="Arial" pitchFamily="34" charset="-120"/>
              </a:rPr>
              <a:t>Javier Sagredo · Cristian Romero · Rolando Paredes · Nicolás Osses</a:t>
            </a:r>
            <a:endParaRPr lang="en-US" sz="1300" dirty="0"/>
          </a:p>
        </p:txBody>
      </p:sp>
      <p:sp>
        <p:nvSpPr>
          <p:cNvPr id="8" name="Text 6"/>
          <p:cNvSpPr/>
          <p:nvPr/>
        </p:nvSpPr>
        <p:spPr>
          <a:xfrm>
            <a:off x="812800" y="5830570"/>
            <a:ext cx="10883392"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1D5DB"/>
                </a:solidFill>
                <a:latin typeface="Arial" pitchFamily="34" charset="0"/>
                <a:ea typeface="Arial" pitchFamily="34" charset="-122"/>
                <a:cs typeface="Arial" pitchFamily="34" charset="-120"/>
              </a:rPr>
              <a:t>Duoc UC · Octubre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PideYa necesitaba una sola versión de sus números</a:t>
            </a:r>
            <a:endParaRPr lang="en-US" sz="2400" dirty="0"/>
          </a:p>
        </p:txBody>
      </p:sp>
      <p:sp>
        <p:nvSpPr>
          <p:cNvPr id="3" name="Text 1"/>
          <p:cNvSpPr/>
          <p:nvPr/>
        </p:nvSpPr>
        <p:spPr>
          <a:xfrm>
            <a:off x="812800" y="1291590"/>
            <a:ext cx="520623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937"/>
                </a:solidFill>
                <a:latin typeface="Arial" pitchFamily="34" charset="0"/>
                <a:ea typeface="Arial" pitchFamily="34" charset="-122"/>
                <a:cs typeface="Arial" pitchFamily="34" charset="-120"/>
              </a:rPr>
              <a:t>App de delivery en 6 comunas de Santiago: Santiago, Providencia, Las Condes, Ñuñoa, Maipú y La Florida.</a:t>
            </a:r>
            <a:endParaRPr lang="en-US" sz="1500" dirty="0"/>
          </a:p>
        </p:txBody>
      </p:sp>
      <p:sp>
        <p:nvSpPr>
          <p:cNvPr id="4" name="Text 2"/>
          <p:cNvSpPr/>
          <p:nvPr/>
        </p:nvSpPr>
        <p:spPr>
          <a:xfrm>
            <a:off x="812800" y="1951990"/>
            <a:ext cx="520623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937"/>
                </a:solidFill>
                <a:latin typeface="Arial" pitchFamily="34" charset="0"/>
                <a:ea typeface="Arial" pitchFamily="34" charset="-122"/>
                <a:cs typeface="Arial" pitchFamily="34" charset="-120"/>
              </a:rPr>
              <a:t>Usuarios, restaurantes y pedidos estaban en </a:t>
            </a:r>
            <a:r>
              <a:rPr lang="en-US" sz="1500" b="1" dirty="0">
                <a:solidFill>
                  <a:srgbClr val="1F2937"/>
                </a:solidFill>
                <a:latin typeface="Arial" pitchFamily="34" charset="0"/>
                <a:ea typeface="Arial" pitchFamily="34" charset="-122"/>
                <a:cs typeface="Arial" pitchFamily="34" charset="-120"/>
              </a:rPr>
              <a:t>tres sistemas separados que nunca se consolidaron.</a:t>
            </a:r>
            <a:endParaRPr lang="en-US" sz="1500" dirty="0"/>
          </a:p>
        </p:txBody>
      </p:sp>
      <p:sp>
        <p:nvSpPr>
          <p:cNvPr id="5" name="Shape 3"/>
          <p:cNvSpPr/>
          <p:nvPr/>
        </p:nvSpPr>
        <p:spPr>
          <a:xfrm>
            <a:off x="6172200" y="1214120"/>
            <a:ext cx="1651000" cy="1059180"/>
          </a:xfrm>
          <a:prstGeom prst="roundRect">
            <a:avLst>
              <a:gd name="adj" fmla="val 7194"/>
            </a:avLst>
          </a:prstGeom>
          <a:solidFill>
            <a:srgbClr val="F3F4F6"/>
          </a:solidFill>
          <a:ln/>
        </p:spPr>
      </p:sp>
      <p:sp>
        <p:nvSpPr>
          <p:cNvPr id="6" name="Text 4"/>
          <p:cNvSpPr/>
          <p:nvPr/>
        </p:nvSpPr>
        <p:spPr>
          <a:xfrm>
            <a:off x="6375400" y="1391920"/>
            <a:ext cx="129540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Arial" pitchFamily="34" charset="0"/>
                <a:ea typeface="Arial" pitchFamily="34" charset="-122"/>
                <a:cs typeface="Arial" pitchFamily="34" charset="-120"/>
              </a:rPr>
              <a:t>300</a:t>
            </a:r>
            <a:endParaRPr lang="en-US" sz="3200" dirty="0"/>
          </a:p>
        </p:txBody>
      </p:sp>
      <p:sp>
        <p:nvSpPr>
          <p:cNvPr id="7" name="Text 5"/>
          <p:cNvSpPr/>
          <p:nvPr/>
        </p:nvSpPr>
        <p:spPr>
          <a:xfrm>
            <a:off x="6375400" y="1864360"/>
            <a:ext cx="1295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563"/>
                </a:solidFill>
                <a:latin typeface="Arial" pitchFamily="34" charset="0"/>
                <a:ea typeface="Arial" pitchFamily="34" charset="-122"/>
                <a:cs typeface="Arial" pitchFamily="34" charset="-120"/>
              </a:rPr>
              <a:t>usuarios</a:t>
            </a:r>
            <a:endParaRPr lang="en-US" sz="1300" dirty="0"/>
          </a:p>
        </p:txBody>
      </p:sp>
      <p:sp>
        <p:nvSpPr>
          <p:cNvPr id="8" name="Shape 6"/>
          <p:cNvSpPr/>
          <p:nvPr/>
        </p:nvSpPr>
        <p:spPr>
          <a:xfrm>
            <a:off x="7950200" y="1214120"/>
            <a:ext cx="1651000" cy="1059180"/>
          </a:xfrm>
          <a:prstGeom prst="roundRect">
            <a:avLst>
              <a:gd name="adj" fmla="val 7194"/>
            </a:avLst>
          </a:prstGeom>
          <a:solidFill>
            <a:srgbClr val="F3F4F6"/>
          </a:solidFill>
          <a:ln/>
        </p:spPr>
      </p:sp>
      <p:sp>
        <p:nvSpPr>
          <p:cNvPr id="9" name="Text 7"/>
          <p:cNvSpPr/>
          <p:nvPr/>
        </p:nvSpPr>
        <p:spPr>
          <a:xfrm>
            <a:off x="8153400" y="1391920"/>
            <a:ext cx="129540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Arial" pitchFamily="34" charset="0"/>
                <a:ea typeface="Arial" pitchFamily="34" charset="-122"/>
                <a:cs typeface="Arial" pitchFamily="34" charset="-120"/>
              </a:rPr>
              <a:t>30</a:t>
            </a:r>
            <a:endParaRPr lang="en-US" sz="3200" dirty="0"/>
          </a:p>
        </p:txBody>
      </p:sp>
      <p:sp>
        <p:nvSpPr>
          <p:cNvPr id="10" name="Text 8"/>
          <p:cNvSpPr/>
          <p:nvPr/>
        </p:nvSpPr>
        <p:spPr>
          <a:xfrm>
            <a:off x="8153400" y="1864360"/>
            <a:ext cx="1295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563"/>
                </a:solidFill>
                <a:latin typeface="Arial" pitchFamily="34" charset="0"/>
                <a:ea typeface="Arial" pitchFamily="34" charset="-122"/>
                <a:cs typeface="Arial" pitchFamily="34" charset="-120"/>
              </a:rPr>
              <a:t>restaurantes</a:t>
            </a:r>
            <a:endParaRPr lang="en-US" sz="1300" dirty="0"/>
          </a:p>
        </p:txBody>
      </p:sp>
      <p:sp>
        <p:nvSpPr>
          <p:cNvPr id="11" name="Shape 9"/>
          <p:cNvSpPr/>
          <p:nvPr/>
        </p:nvSpPr>
        <p:spPr>
          <a:xfrm>
            <a:off x="9728200" y="1214120"/>
            <a:ext cx="1651000" cy="1059180"/>
          </a:xfrm>
          <a:prstGeom prst="roundRect">
            <a:avLst>
              <a:gd name="adj" fmla="val 7194"/>
            </a:avLst>
          </a:prstGeom>
          <a:solidFill>
            <a:srgbClr val="F3F4F6"/>
          </a:solidFill>
          <a:ln/>
        </p:spPr>
      </p:sp>
      <p:sp>
        <p:nvSpPr>
          <p:cNvPr id="12" name="Text 10"/>
          <p:cNvSpPr/>
          <p:nvPr/>
        </p:nvSpPr>
        <p:spPr>
          <a:xfrm>
            <a:off x="9931400" y="1391920"/>
            <a:ext cx="129540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Arial" pitchFamily="34" charset="0"/>
                <a:ea typeface="Arial" pitchFamily="34" charset="-122"/>
                <a:cs typeface="Arial" pitchFamily="34" charset="-120"/>
              </a:rPr>
              <a:t>1.488</a:t>
            </a:r>
            <a:endParaRPr lang="en-US" sz="3200" dirty="0"/>
          </a:p>
        </p:txBody>
      </p:sp>
      <p:sp>
        <p:nvSpPr>
          <p:cNvPr id="13" name="Text 11"/>
          <p:cNvSpPr/>
          <p:nvPr/>
        </p:nvSpPr>
        <p:spPr>
          <a:xfrm>
            <a:off x="9931400" y="1864360"/>
            <a:ext cx="1295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563"/>
                </a:solidFill>
                <a:latin typeface="Arial" pitchFamily="34" charset="0"/>
                <a:ea typeface="Arial" pitchFamily="34" charset="-122"/>
                <a:cs typeface="Arial" pitchFamily="34" charset="-120"/>
              </a:rPr>
              <a:t>pedidos</a:t>
            </a:r>
            <a:endParaRPr lang="en-US" sz="1300" dirty="0"/>
          </a:p>
        </p:txBody>
      </p:sp>
      <p:sp>
        <p:nvSpPr>
          <p:cNvPr id="14" name="Text 12"/>
          <p:cNvSpPr/>
          <p:nvPr/>
        </p:nvSpPr>
        <p:spPr>
          <a:xfrm>
            <a:off x="6172200" y="2349500"/>
            <a:ext cx="53632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Pedidos del 1 de mayo al 19 de octubre de 2026</a:t>
            </a:r>
            <a:endParaRPr lang="en-US" sz="1200" dirty="0"/>
          </a:p>
        </p:txBody>
      </p:sp>
      <p:sp>
        <p:nvSpPr>
          <p:cNvPr id="15" name="Text 13"/>
          <p:cNvSpPr/>
          <p:nvPr/>
        </p:nvSpPr>
        <p:spPr>
          <a:xfrm>
            <a:off x="812800" y="281686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937"/>
                </a:solidFill>
                <a:latin typeface="Arial" pitchFamily="34" charset="0"/>
                <a:ea typeface="Arial" pitchFamily="34" charset="-122"/>
                <a:cs typeface="Arial" pitchFamily="34" charset="-120"/>
              </a:rPr>
              <a:t>Las cuatro preguntas de la gerencia</a:t>
            </a:r>
            <a:endParaRPr lang="en-US" sz="1500" dirty="0"/>
          </a:p>
        </p:txBody>
      </p:sp>
      <p:sp>
        <p:nvSpPr>
          <p:cNvPr id="16" name="Shape 14"/>
          <p:cNvSpPr/>
          <p:nvPr/>
        </p:nvSpPr>
        <p:spPr>
          <a:xfrm>
            <a:off x="812800" y="3210560"/>
            <a:ext cx="2527300" cy="2153920"/>
          </a:xfrm>
          <a:prstGeom prst="roundRect">
            <a:avLst>
              <a:gd name="adj" fmla="val 3538"/>
            </a:avLst>
          </a:prstGeom>
          <a:solidFill>
            <a:srgbClr val="F3F4F6"/>
          </a:solidFill>
          <a:ln/>
        </p:spPr>
      </p:sp>
      <p:pic>
        <p:nvPicPr>
          <p:cNvPr id="17" name="Image 0" descr="Star">    </p:cNvPr>
          <p:cNvPicPr>
            <a:picLocks noChangeAspect="1"/>
          </p:cNvPicPr>
          <p:nvPr/>
        </p:nvPicPr>
        <p:blipFill>
          <a:blip r:embed="rId1"/>
          <a:srcRect l="0" r="0" t="0" b="0"/>
          <a:stretch/>
        </p:blipFill>
        <p:spPr>
          <a:xfrm>
            <a:off x="1016000" y="3413760"/>
            <a:ext cx="304800" cy="304800"/>
          </a:xfrm>
          <a:prstGeom prst="rect">
            <a:avLst/>
          </a:prstGeom>
        </p:spPr>
      </p:pic>
      <p:sp>
        <p:nvSpPr>
          <p:cNvPr id="18" name="Text 15"/>
          <p:cNvSpPr/>
          <p:nvPr/>
        </p:nvSpPr>
        <p:spPr>
          <a:xfrm>
            <a:off x="1016000" y="3820160"/>
            <a:ext cx="2184527" cy="9499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F2937"/>
                </a:solidFill>
                <a:latin typeface="Arial" pitchFamily="34" charset="0"/>
                <a:ea typeface="Arial" pitchFamily="34" charset="-122"/>
                <a:cs typeface="Arial" pitchFamily="34" charset="-120"/>
              </a:rPr>
              <a:t>¿Qué restaurantes y categorías generan más pedidos y mejores calificaciones?</a:t>
            </a:r>
            <a:endParaRPr lang="en-US" sz="1400" dirty="0"/>
          </a:p>
        </p:txBody>
      </p:sp>
      <p:sp>
        <p:nvSpPr>
          <p:cNvPr id="19" name="Text 16"/>
          <p:cNvSpPr/>
          <p:nvPr/>
        </p:nvSpPr>
        <p:spPr>
          <a:xfrm>
            <a:off x="1016000" y="4947920"/>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4572E"/>
                </a:solidFill>
                <a:latin typeface="Arial" pitchFamily="34" charset="0"/>
                <a:ea typeface="Arial" pitchFamily="34" charset="-122"/>
                <a:cs typeface="Arial" pitchFamily="34" charset="-120"/>
              </a:rPr>
              <a:t>→ Diapositiva 9</a:t>
            </a:r>
            <a:endParaRPr lang="en-US" sz="1200" dirty="0"/>
          </a:p>
        </p:txBody>
      </p:sp>
      <p:sp>
        <p:nvSpPr>
          <p:cNvPr id="20" name="Shape 17"/>
          <p:cNvSpPr/>
          <p:nvPr/>
        </p:nvSpPr>
        <p:spPr>
          <a:xfrm>
            <a:off x="3492500" y="3210560"/>
            <a:ext cx="2527300" cy="2153920"/>
          </a:xfrm>
          <a:prstGeom prst="roundRect">
            <a:avLst>
              <a:gd name="adj" fmla="val 3538"/>
            </a:avLst>
          </a:prstGeom>
          <a:solidFill>
            <a:srgbClr val="F3F4F6"/>
          </a:solidFill>
          <a:ln/>
        </p:spPr>
      </p:sp>
      <p:pic>
        <p:nvPicPr>
          <p:cNvPr id="21" name="Image 1" descr="Globe">    </p:cNvPr>
          <p:cNvPicPr>
            <a:picLocks noChangeAspect="1"/>
          </p:cNvPicPr>
          <p:nvPr/>
        </p:nvPicPr>
        <p:blipFill>
          <a:blip r:embed="rId2"/>
          <a:srcRect l="0" r="0" t="0" b="0"/>
          <a:stretch/>
        </p:blipFill>
        <p:spPr>
          <a:xfrm>
            <a:off x="3695700" y="3413760"/>
            <a:ext cx="304800" cy="304800"/>
          </a:xfrm>
          <a:prstGeom prst="rect">
            <a:avLst/>
          </a:prstGeom>
        </p:spPr>
      </p:pic>
      <p:sp>
        <p:nvSpPr>
          <p:cNvPr id="22" name="Text 18"/>
          <p:cNvSpPr/>
          <p:nvPr/>
        </p:nvSpPr>
        <p:spPr>
          <a:xfrm>
            <a:off x="3695700" y="3820160"/>
            <a:ext cx="2184527" cy="71882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F2937"/>
                </a:solidFill>
                <a:latin typeface="Arial" pitchFamily="34" charset="0"/>
                <a:ea typeface="Arial" pitchFamily="34" charset="-122"/>
                <a:cs typeface="Arial" pitchFamily="34" charset="-120"/>
              </a:rPr>
              <a:t>¿En qué comunas hay mejor oportunidad de crecimiento?</a:t>
            </a:r>
            <a:endParaRPr lang="en-US" sz="1400" dirty="0"/>
          </a:p>
        </p:txBody>
      </p:sp>
      <p:sp>
        <p:nvSpPr>
          <p:cNvPr id="23" name="Text 19"/>
          <p:cNvSpPr/>
          <p:nvPr/>
        </p:nvSpPr>
        <p:spPr>
          <a:xfrm>
            <a:off x="3695700" y="4947920"/>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4572E"/>
                </a:solidFill>
                <a:latin typeface="Arial" pitchFamily="34" charset="0"/>
                <a:ea typeface="Arial" pitchFamily="34" charset="-122"/>
                <a:cs typeface="Arial" pitchFamily="34" charset="-120"/>
              </a:rPr>
              <a:t>→ Diapositiva 10</a:t>
            </a:r>
            <a:endParaRPr lang="en-US" sz="1200" dirty="0"/>
          </a:p>
        </p:txBody>
      </p:sp>
      <p:sp>
        <p:nvSpPr>
          <p:cNvPr id="24" name="Shape 20"/>
          <p:cNvSpPr/>
          <p:nvPr/>
        </p:nvSpPr>
        <p:spPr>
          <a:xfrm>
            <a:off x="6172200" y="3210560"/>
            <a:ext cx="2527300" cy="2153920"/>
          </a:xfrm>
          <a:prstGeom prst="roundRect">
            <a:avLst>
              <a:gd name="adj" fmla="val 3538"/>
            </a:avLst>
          </a:prstGeom>
          <a:solidFill>
            <a:srgbClr val="F3F4F6"/>
          </a:solidFill>
          <a:ln/>
        </p:spPr>
      </p:sp>
      <p:pic>
        <p:nvPicPr>
          <p:cNvPr id="25" name="Image 2" descr="Users">    </p:cNvPr>
          <p:cNvPicPr>
            <a:picLocks noChangeAspect="1"/>
          </p:cNvPicPr>
          <p:nvPr/>
        </p:nvPicPr>
        <p:blipFill>
          <a:blip r:embed="rId3"/>
          <a:srcRect l="0" r="0" t="0" b="0"/>
          <a:stretch/>
        </p:blipFill>
        <p:spPr>
          <a:xfrm>
            <a:off x="6375400" y="3413760"/>
            <a:ext cx="304800" cy="304800"/>
          </a:xfrm>
          <a:prstGeom prst="rect">
            <a:avLst/>
          </a:prstGeom>
        </p:spPr>
      </p:pic>
      <p:sp>
        <p:nvSpPr>
          <p:cNvPr id="26" name="Text 21"/>
          <p:cNvSpPr/>
          <p:nvPr/>
        </p:nvSpPr>
        <p:spPr>
          <a:xfrm>
            <a:off x="6375400" y="3820160"/>
            <a:ext cx="2184527" cy="9499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F2937"/>
                </a:solidFill>
                <a:latin typeface="Arial" pitchFamily="34" charset="0"/>
                <a:ea typeface="Arial" pitchFamily="34" charset="-122"/>
                <a:cs typeface="Arial" pitchFamily="34" charset="-120"/>
              </a:rPr>
              <a:t>¿Qué tan bien retiene PideYa a sus usuarios: piden una vez o vuelven a pedir?</a:t>
            </a:r>
            <a:endParaRPr lang="en-US" sz="1400" dirty="0"/>
          </a:p>
        </p:txBody>
      </p:sp>
      <p:sp>
        <p:nvSpPr>
          <p:cNvPr id="27" name="Text 22"/>
          <p:cNvSpPr/>
          <p:nvPr/>
        </p:nvSpPr>
        <p:spPr>
          <a:xfrm>
            <a:off x="6375400" y="4947920"/>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4572E"/>
                </a:solidFill>
                <a:latin typeface="Arial" pitchFamily="34" charset="0"/>
                <a:ea typeface="Arial" pitchFamily="34" charset="-122"/>
                <a:cs typeface="Arial" pitchFamily="34" charset="-120"/>
              </a:rPr>
              <a:t>→ Diapositiva 6</a:t>
            </a:r>
            <a:endParaRPr lang="en-US" sz="1200" dirty="0"/>
          </a:p>
        </p:txBody>
      </p:sp>
      <p:sp>
        <p:nvSpPr>
          <p:cNvPr id="28" name="Shape 23"/>
          <p:cNvSpPr/>
          <p:nvPr/>
        </p:nvSpPr>
        <p:spPr>
          <a:xfrm>
            <a:off x="8851900" y="3210560"/>
            <a:ext cx="2527300" cy="2153920"/>
          </a:xfrm>
          <a:prstGeom prst="roundRect">
            <a:avLst>
              <a:gd name="adj" fmla="val 3538"/>
            </a:avLst>
          </a:prstGeom>
          <a:solidFill>
            <a:srgbClr val="F3F4F6"/>
          </a:solidFill>
          <a:ln/>
        </p:spPr>
      </p:sp>
      <p:pic>
        <p:nvPicPr>
          <p:cNvPr id="29" name="Image 3" descr="Clock">    </p:cNvPr>
          <p:cNvPicPr>
            <a:picLocks noChangeAspect="1"/>
          </p:cNvPicPr>
          <p:nvPr/>
        </p:nvPicPr>
        <p:blipFill>
          <a:blip r:embed="rId4"/>
          <a:srcRect l="0" r="0" t="0" b="0"/>
          <a:stretch/>
        </p:blipFill>
        <p:spPr>
          <a:xfrm>
            <a:off x="9055100" y="3413760"/>
            <a:ext cx="304800" cy="304800"/>
          </a:xfrm>
          <a:prstGeom prst="rect">
            <a:avLst/>
          </a:prstGeom>
        </p:spPr>
      </p:pic>
      <p:sp>
        <p:nvSpPr>
          <p:cNvPr id="30" name="Text 24"/>
          <p:cNvSpPr/>
          <p:nvPr/>
        </p:nvSpPr>
        <p:spPr>
          <a:xfrm>
            <a:off x="9055100" y="3820160"/>
            <a:ext cx="2184527" cy="9499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F2937"/>
                </a:solidFill>
                <a:latin typeface="Arial" pitchFamily="34" charset="0"/>
                <a:ea typeface="Arial" pitchFamily="34" charset="-122"/>
                <a:cs typeface="Arial" pitchFamily="34" charset="-120"/>
              </a:rPr>
              <a:t>¿Cómo es la experiencia de entrega: tiempos, cancelaciones, medios de pago?</a:t>
            </a:r>
            <a:endParaRPr lang="en-US" sz="1400" dirty="0"/>
          </a:p>
        </p:txBody>
      </p:sp>
      <p:sp>
        <p:nvSpPr>
          <p:cNvPr id="31" name="Text 25"/>
          <p:cNvSpPr/>
          <p:nvPr/>
        </p:nvSpPr>
        <p:spPr>
          <a:xfrm>
            <a:off x="9055100" y="4947920"/>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4572E"/>
                </a:solidFill>
                <a:latin typeface="Arial" pitchFamily="34" charset="0"/>
                <a:ea typeface="Arial" pitchFamily="34" charset="-122"/>
                <a:cs typeface="Arial" pitchFamily="34" charset="-120"/>
              </a:rPr>
              <a:t>→ Diapositivas 7 y 8</a:t>
            </a:r>
            <a:endParaRPr lang="en-US" sz="1200" dirty="0"/>
          </a:p>
        </p:txBody>
      </p:sp>
      <p:sp>
        <p:nvSpPr>
          <p:cNvPr id="32" name="Text 26"/>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33" name="Text 27"/>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La base es fiel, pero no crece y el servicio tiene problemas puntuales</a:t>
            </a:r>
            <a:endParaRPr lang="en-US" sz="2400" dirty="0"/>
          </a:p>
        </p:txBody>
      </p:sp>
      <p:sp>
        <p:nvSpPr>
          <p:cNvPr id="3" name="Shape 1"/>
          <p:cNvSpPr/>
          <p:nvPr/>
        </p:nvSpPr>
        <p:spPr>
          <a:xfrm>
            <a:off x="812800" y="1163320"/>
            <a:ext cx="1991360" cy="1885950"/>
          </a:xfrm>
          <a:prstGeom prst="roundRect">
            <a:avLst>
              <a:gd name="adj" fmla="val 4040"/>
            </a:avLst>
          </a:prstGeom>
          <a:solidFill>
            <a:srgbClr val="F3F4F6"/>
          </a:solidFill>
          <a:ln/>
        </p:spPr>
      </p:sp>
      <p:sp>
        <p:nvSpPr>
          <p:cNvPr id="4" name="Text 2"/>
          <p:cNvSpPr/>
          <p:nvPr/>
        </p:nvSpPr>
        <p:spPr>
          <a:xfrm>
            <a:off x="990600" y="1341120"/>
            <a:ext cx="168656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Arial" pitchFamily="34" charset="0"/>
                <a:ea typeface="Arial" pitchFamily="34" charset="-122"/>
                <a:cs typeface="Arial" pitchFamily="34" charset="-120"/>
              </a:rPr>
              <a:t>$14,8 M</a:t>
            </a:r>
            <a:endParaRPr lang="en-US" sz="3200" dirty="0"/>
          </a:p>
        </p:txBody>
      </p:sp>
      <p:sp>
        <p:nvSpPr>
          <p:cNvPr id="5" name="Text 3"/>
          <p:cNvSpPr/>
          <p:nvPr/>
        </p:nvSpPr>
        <p:spPr>
          <a:xfrm>
            <a:off x="990600" y="1826261"/>
            <a:ext cx="168656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2937"/>
                </a:solidFill>
                <a:latin typeface="Arial" pitchFamily="34" charset="0"/>
                <a:ea typeface="Arial" pitchFamily="34" charset="-122"/>
                <a:cs typeface="Arial" pitchFamily="34" charset="-120"/>
              </a:rPr>
              <a:t>Ventas de mayo a octubre</a:t>
            </a:r>
            <a:endParaRPr lang="en-US" sz="1300" dirty="0"/>
          </a:p>
        </p:txBody>
      </p:sp>
      <p:sp>
        <p:nvSpPr>
          <p:cNvPr id="6" name="Text 4"/>
          <p:cNvSpPr/>
          <p:nvPr/>
        </p:nvSpPr>
        <p:spPr>
          <a:xfrm>
            <a:off x="990600" y="2277111"/>
            <a:ext cx="168656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1.327 pedidos entregados</a:t>
            </a:r>
            <a:endParaRPr lang="en-US" sz="1200" dirty="0"/>
          </a:p>
        </p:txBody>
      </p:sp>
      <p:sp>
        <p:nvSpPr>
          <p:cNvPr id="7" name="Shape 5"/>
          <p:cNvSpPr/>
          <p:nvPr/>
        </p:nvSpPr>
        <p:spPr>
          <a:xfrm>
            <a:off x="2956560" y="1163320"/>
            <a:ext cx="1991360" cy="1885950"/>
          </a:xfrm>
          <a:prstGeom prst="roundRect">
            <a:avLst>
              <a:gd name="adj" fmla="val 4040"/>
            </a:avLst>
          </a:prstGeom>
          <a:solidFill>
            <a:srgbClr val="F3F4F6"/>
          </a:solidFill>
          <a:ln/>
        </p:spPr>
      </p:sp>
      <p:sp>
        <p:nvSpPr>
          <p:cNvPr id="8" name="Text 6"/>
          <p:cNvSpPr/>
          <p:nvPr/>
        </p:nvSpPr>
        <p:spPr>
          <a:xfrm>
            <a:off x="3134360" y="1341120"/>
            <a:ext cx="168656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C2410C"/>
                </a:solidFill>
                <a:latin typeface="Arial" pitchFamily="34" charset="0"/>
                <a:ea typeface="Arial" pitchFamily="34" charset="-122"/>
                <a:cs typeface="Arial" pitchFamily="34" charset="-120"/>
              </a:rPr>
              <a:t>10,8%</a:t>
            </a:r>
            <a:endParaRPr lang="en-US" sz="3200" dirty="0"/>
          </a:p>
        </p:txBody>
      </p:sp>
      <p:sp>
        <p:nvSpPr>
          <p:cNvPr id="9" name="Text 7"/>
          <p:cNvSpPr/>
          <p:nvPr/>
        </p:nvSpPr>
        <p:spPr>
          <a:xfrm>
            <a:off x="3134360" y="1826261"/>
            <a:ext cx="181356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2937"/>
                </a:solidFill>
                <a:latin typeface="Arial" pitchFamily="34" charset="0"/>
                <a:ea typeface="Arial" pitchFamily="34" charset="-122"/>
                <a:cs typeface="Arial" pitchFamily="34" charset="-120"/>
              </a:rPr>
              <a:t>Tasa de cancelación</a:t>
            </a:r>
            <a:endParaRPr lang="en-US" sz="1300" dirty="0"/>
          </a:p>
        </p:txBody>
      </p:sp>
      <p:sp>
        <p:nvSpPr>
          <p:cNvPr id="10" name="Text 8"/>
          <p:cNvSpPr/>
          <p:nvPr/>
        </p:nvSpPr>
        <p:spPr>
          <a:xfrm>
            <a:off x="3134360" y="2070736"/>
            <a:ext cx="168656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Meta propuesta: 8%</a:t>
            </a:r>
            <a:endParaRPr lang="en-US" sz="1200" dirty="0"/>
          </a:p>
        </p:txBody>
      </p:sp>
      <p:sp>
        <p:nvSpPr>
          <p:cNvPr id="11" name="Shape 9"/>
          <p:cNvSpPr/>
          <p:nvPr/>
        </p:nvSpPr>
        <p:spPr>
          <a:xfrm>
            <a:off x="5100320" y="1163320"/>
            <a:ext cx="1991360" cy="1885950"/>
          </a:xfrm>
          <a:prstGeom prst="roundRect">
            <a:avLst>
              <a:gd name="adj" fmla="val 4040"/>
            </a:avLst>
          </a:prstGeom>
          <a:solidFill>
            <a:srgbClr val="F3F4F6"/>
          </a:solidFill>
          <a:ln/>
        </p:spPr>
      </p:sp>
      <p:sp>
        <p:nvSpPr>
          <p:cNvPr id="12" name="Text 10"/>
          <p:cNvSpPr/>
          <p:nvPr/>
        </p:nvSpPr>
        <p:spPr>
          <a:xfrm>
            <a:off x="5278120" y="1341120"/>
            <a:ext cx="168656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C2410C"/>
                </a:solidFill>
                <a:latin typeface="Arial" pitchFamily="34" charset="0"/>
                <a:ea typeface="Arial" pitchFamily="34" charset="-122"/>
                <a:cs typeface="Arial" pitchFamily="34" charset="-120"/>
              </a:rPr>
              <a:t>45%</a:t>
            </a:r>
            <a:endParaRPr lang="en-US" sz="3200" dirty="0"/>
          </a:p>
        </p:txBody>
      </p:sp>
      <p:sp>
        <p:nvSpPr>
          <p:cNvPr id="13" name="Text 11"/>
          <p:cNvSpPr/>
          <p:nvPr/>
        </p:nvSpPr>
        <p:spPr>
          <a:xfrm>
            <a:off x="5278120" y="1826261"/>
            <a:ext cx="168656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2937"/>
                </a:solidFill>
                <a:latin typeface="Arial" pitchFamily="34" charset="0"/>
                <a:ea typeface="Arial" pitchFamily="34" charset="-122"/>
                <a:cs typeface="Arial" pitchFamily="34" charset="-120"/>
              </a:rPr>
              <a:t>Entregas en 30 min o menos</a:t>
            </a:r>
            <a:endParaRPr lang="en-US" sz="1300" dirty="0"/>
          </a:p>
        </p:txBody>
      </p:sp>
      <p:sp>
        <p:nvSpPr>
          <p:cNvPr id="14" name="Text 12"/>
          <p:cNvSpPr/>
          <p:nvPr/>
        </p:nvSpPr>
        <p:spPr>
          <a:xfrm>
            <a:off x="5278120" y="2277111"/>
            <a:ext cx="1686560" cy="61976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Meta propuesta: 30 min. Promedio: 31,5 min</a:t>
            </a:r>
            <a:endParaRPr lang="en-US" sz="1200" dirty="0"/>
          </a:p>
        </p:txBody>
      </p:sp>
      <p:sp>
        <p:nvSpPr>
          <p:cNvPr id="15" name="Shape 13"/>
          <p:cNvSpPr/>
          <p:nvPr/>
        </p:nvSpPr>
        <p:spPr>
          <a:xfrm>
            <a:off x="7244080" y="1163320"/>
            <a:ext cx="1991360" cy="1885950"/>
          </a:xfrm>
          <a:prstGeom prst="roundRect">
            <a:avLst>
              <a:gd name="adj" fmla="val 4040"/>
            </a:avLst>
          </a:prstGeom>
          <a:solidFill>
            <a:srgbClr val="F3F4F6"/>
          </a:solidFill>
          <a:ln/>
        </p:spPr>
      </p:sp>
      <p:sp>
        <p:nvSpPr>
          <p:cNvPr id="16" name="Text 14"/>
          <p:cNvSpPr/>
          <p:nvPr/>
        </p:nvSpPr>
        <p:spPr>
          <a:xfrm>
            <a:off x="7421880" y="1341120"/>
            <a:ext cx="168656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C2410C"/>
                </a:solidFill>
                <a:latin typeface="Arial" pitchFamily="34" charset="0"/>
                <a:ea typeface="Arial" pitchFamily="34" charset="-122"/>
                <a:cs typeface="Arial" pitchFamily="34" charset="-120"/>
              </a:rPr>
              <a:t>4,14</a:t>
            </a:r>
            <a:endParaRPr lang="en-US" sz="3200" dirty="0"/>
          </a:p>
        </p:txBody>
      </p:sp>
      <p:sp>
        <p:nvSpPr>
          <p:cNvPr id="17" name="Text 15"/>
          <p:cNvSpPr/>
          <p:nvPr/>
        </p:nvSpPr>
        <p:spPr>
          <a:xfrm>
            <a:off x="7421880" y="1826261"/>
            <a:ext cx="168656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2937"/>
                </a:solidFill>
                <a:latin typeface="Arial" pitchFamily="34" charset="0"/>
                <a:ea typeface="Arial" pitchFamily="34" charset="-122"/>
                <a:cs typeface="Arial" pitchFamily="34" charset="-120"/>
              </a:rPr>
              <a:t>Calificación promedio</a:t>
            </a:r>
            <a:endParaRPr lang="en-US" sz="1300" dirty="0"/>
          </a:p>
        </p:txBody>
      </p:sp>
      <p:sp>
        <p:nvSpPr>
          <p:cNvPr id="18" name="Text 16"/>
          <p:cNvSpPr/>
          <p:nvPr/>
        </p:nvSpPr>
        <p:spPr>
          <a:xfrm>
            <a:off x="7421880" y="2277111"/>
            <a:ext cx="168656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Meta propuesta: 4,2</a:t>
            </a:r>
            <a:endParaRPr lang="en-US" sz="1200" dirty="0"/>
          </a:p>
        </p:txBody>
      </p:sp>
      <p:sp>
        <p:nvSpPr>
          <p:cNvPr id="19" name="Shape 17"/>
          <p:cNvSpPr/>
          <p:nvPr/>
        </p:nvSpPr>
        <p:spPr>
          <a:xfrm>
            <a:off x="9387840" y="1163320"/>
            <a:ext cx="1991360" cy="1885950"/>
          </a:xfrm>
          <a:prstGeom prst="roundRect">
            <a:avLst>
              <a:gd name="adj" fmla="val 4040"/>
            </a:avLst>
          </a:prstGeom>
          <a:solidFill>
            <a:srgbClr val="F3F4F6"/>
          </a:solidFill>
          <a:ln/>
        </p:spPr>
      </p:sp>
      <p:sp>
        <p:nvSpPr>
          <p:cNvPr id="20" name="Text 18"/>
          <p:cNvSpPr/>
          <p:nvPr/>
        </p:nvSpPr>
        <p:spPr>
          <a:xfrm>
            <a:off x="9565640" y="1341120"/>
            <a:ext cx="168656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937"/>
                </a:solidFill>
                <a:latin typeface="Arial" pitchFamily="34" charset="0"/>
                <a:ea typeface="Arial" pitchFamily="34" charset="-122"/>
                <a:cs typeface="Arial" pitchFamily="34" charset="-120"/>
              </a:rPr>
              <a:t>97,7%</a:t>
            </a:r>
            <a:endParaRPr lang="en-US" sz="3200" dirty="0"/>
          </a:p>
        </p:txBody>
      </p:sp>
      <p:sp>
        <p:nvSpPr>
          <p:cNvPr id="21" name="Text 19"/>
          <p:cNvSpPr/>
          <p:nvPr/>
        </p:nvSpPr>
        <p:spPr>
          <a:xfrm>
            <a:off x="9565640" y="1826261"/>
            <a:ext cx="168656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2937"/>
                </a:solidFill>
                <a:latin typeface="Arial" pitchFamily="34" charset="0"/>
                <a:ea typeface="Arial" pitchFamily="34" charset="-122"/>
                <a:cs typeface="Arial" pitchFamily="34" charset="-120"/>
              </a:rPr>
              <a:t>de los clientes volvió a pedir</a:t>
            </a:r>
            <a:endParaRPr lang="en-US" sz="1300" dirty="0"/>
          </a:p>
        </p:txBody>
      </p:sp>
      <p:sp>
        <p:nvSpPr>
          <p:cNvPr id="22" name="Text 20"/>
          <p:cNvSpPr/>
          <p:nvPr/>
        </p:nvSpPr>
        <p:spPr>
          <a:xfrm>
            <a:off x="9565640" y="2277111"/>
            <a:ext cx="1686560"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Dos pedidos o más</a:t>
            </a:r>
            <a:endParaRPr lang="en-US" sz="1200" dirty="0"/>
          </a:p>
        </p:txBody>
      </p:sp>
      <p:sp>
        <p:nvSpPr>
          <p:cNvPr id="23" name="Text 21"/>
          <p:cNvSpPr/>
          <p:nvPr/>
        </p:nvSpPr>
        <p:spPr>
          <a:xfrm>
            <a:off x="812800" y="3252470"/>
            <a:ext cx="669747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937"/>
                </a:solidFill>
                <a:latin typeface="Arial" pitchFamily="34" charset="0"/>
                <a:ea typeface="Arial" pitchFamily="34" charset="-122"/>
                <a:cs typeface="Arial" pitchFamily="34" charset="-120"/>
              </a:rPr>
              <a:t>Lo que encontramos</a:t>
            </a:r>
            <a:endParaRPr lang="en-US" sz="1600" dirty="0"/>
          </a:p>
        </p:txBody>
      </p:sp>
      <p:sp>
        <p:nvSpPr>
          <p:cNvPr id="24" name="Text 22"/>
          <p:cNvSpPr/>
          <p:nvPr/>
        </p:nvSpPr>
        <p:spPr>
          <a:xfrm>
            <a:off x="903732" y="3597911"/>
            <a:ext cx="6598920" cy="1384300"/>
          </a:xfrm>
          <a:prstGeom prst="rect">
            <a:avLst/>
          </a:prstGeom>
          <a:noFill/>
          <a:ln/>
        </p:spPr>
        <p:txBody>
          <a:bodyPr wrap="square" lIns="0" tIns="0" rIns="0" bIns="0" rtlCol="0" anchor="t">
            <a:normAutofit/>
          </a:bodyPr>
          <a:lstStyle/>
          <a:p>
            <a:pPr algn="l" marL="163068" indent="-163068">
              <a:lnSpc>
                <a:spcPts val="2100"/>
              </a:lnSpc>
              <a:buSzPct val="100000"/>
              <a:buChar char="•"/>
            </a:pPr>
            <a:r>
              <a:rPr lang="en-US" sz="1400" dirty="0">
                <a:solidFill>
                  <a:srgbClr val="1F2937"/>
                </a:solidFill>
                <a:latin typeface="Arial" pitchFamily="34" charset="0"/>
                <a:ea typeface="Arial" pitchFamily="34" charset="-122"/>
                <a:cs typeface="Arial" pitchFamily="34" charset="-120"/>
              </a:rPr>
              <a:t>Los clientes vuelven, pero cada vez entran menos clientes nuevos</a:t>
            </a:r>
            <a:endParaRPr lang="en-US" sz="1400" dirty="0"/>
          </a:p>
          <a:p>
            <a:pPr algn="l" marL="163068" indent="-163068">
              <a:lnSpc>
                <a:spcPts val="2100"/>
              </a:lnSpc>
              <a:buSzPct val="100000"/>
              <a:buChar char="•"/>
            </a:pPr>
            <a:r>
              <a:rPr lang="en-US" sz="1400" dirty="0">
                <a:solidFill>
                  <a:srgbClr val="1F2937"/>
                </a:solidFill>
                <a:latin typeface="Arial" pitchFamily="34" charset="0"/>
                <a:ea typeface="Arial" pitchFamily="34" charset="-122"/>
                <a:cs typeface="Arial" pitchFamily="34" charset="-120"/>
              </a:rPr>
              <a:t>Cinco restaurantes explican una cuarta parte de las cancelaciones</a:t>
            </a:r>
            <a:endParaRPr lang="en-US" sz="1400" dirty="0"/>
          </a:p>
          <a:p>
            <a:pPr algn="l" marL="163068" indent="-163068">
              <a:lnSpc>
                <a:spcPts val="2100"/>
              </a:lnSpc>
              <a:buSzPct val="100000"/>
              <a:buChar char="•"/>
            </a:pPr>
            <a:r>
              <a:rPr lang="en-US" sz="1400" dirty="0">
                <a:solidFill>
                  <a:srgbClr val="1F2937"/>
                </a:solidFill>
                <a:latin typeface="Arial" pitchFamily="34" charset="0"/>
                <a:ea typeface="Arial" pitchFamily="34" charset="-122"/>
                <a:cs typeface="Arial" pitchFamily="34" charset="-120"/>
              </a:rPr>
              <a:t>Más de la mitad de las entregas llega tarde, pero eso no baja la nota</a:t>
            </a:r>
            <a:endParaRPr lang="en-US" sz="1400" dirty="0"/>
          </a:p>
          <a:p>
            <a:pPr algn="l" marL="163068" indent="-163068">
              <a:lnSpc>
                <a:spcPts val="2100"/>
              </a:lnSpc>
              <a:buSzPct val="100000"/>
              <a:buChar char="•"/>
            </a:pPr>
            <a:r>
              <a:rPr lang="en-US" sz="1400" dirty="0">
                <a:solidFill>
                  <a:srgbClr val="1F2937"/>
                </a:solidFill>
                <a:latin typeface="Arial" pitchFamily="34" charset="0"/>
                <a:ea typeface="Arial" pitchFamily="34" charset="-122"/>
                <a:cs typeface="Arial" pitchFamily="34" charset="-120"/>
              </a:rPr>
              <a:t>Dulce Tentación vende mucho con la peor calificación</a:t>
            </a:r>
            <a:endParaRPr lang="en-US" sz="1400" dirty="0"/>
          </a:p>
          <a:p>
            <a:pPr algn="l" marL="163068" indent="-163068">
              <a:lnSpc>
                <a:spcPts val="2100"/>
              </a:lnSpc>
              <a:buSzPct val="100000"/>
              <a:buChar char="•"/>
            </a:pPr>
            <a:r>
              <a:rPr lang="en-US" sz="1400" dirty="0">
                <a:solidFill>
                  <a:srgbClr val="1F2937"/>
                </a:solidFill>
                <a:latin typeface="Arial" pitchFamily="34" charset="0"/>
                <a:ea typeface="Arial" pitchFamily="34" charset="-122"/>
                <a:cs typeface="Arial" pitchFamily="34" charset="-120"/>
              </a:rPr>
              <a:t>La Florida y Ñuñoa son las comunas con más espacio para crecer</a:t>
            </a:r>
            <a:endParaRPr lang="en-US" sz="1400" dirty="0"/>
          </a:p>
        </p:txBody>
      </p:sp>
      <p:sp>
        <p:nvSpPr>
          <p:cNvPr id="25" name="Shape 23"/>
          <p:cNvSpPr/>
          <p:nvPr/>
        </p:nvSpPr>
        <p:spPr>
          <a:xfrm>
            <a:off x="7569200" y="3252470"/>
            <a:ext cx="3810000" cy="1879600"/>
          </a:xfrm>
          <a:prstGeom prst="roundRect">
            <a:avLst>
              <a:gd name="adj" fmla="val 4054"/>
            </a:avLst>
          </a:prstGeom>
          <a:solidFill>
            <a:srgbClr val="1F2937"/>
          </a:solidFill>
          <a:ln/>
        </p:spPr>
      </p:sp>
      <p:sp>
        <p:nvSpPr>
          <p:cNvPr id="26" name="Text 24"/>
          <p:cNvSpPr/>
          <p:nvPr/>
        </p:nvSpPr>
        <p:spPr>
          <a:xfrm>
            <a:off x="7823200" y="3506470"/>
            <a:ext cx="34010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4572E"/>
                </a:solidFill>
                <a:latin typeface="Arial" pitchFamily="34" charset="0"/>
                <a:ea typeface="Arial" pitchFamily="34" charset="-122"/>
                <a:cs typeface="Arial" pitchFamily="34" charset="-120"/>
              </a:rPr>
              <a:t>MENSAJE CLAVE</a:t>
            </a:r>
            <a:endParaRPr lang="en-US" sz="1200" dirty="0"/>
          </a:p>
        </p:txBody>
      </p:sp>
      <p:sp>
        <p:nvSpPr>
          <p:cNvPr id="27" name="Text 25"/>
          <p:cNvSpPr/>
          <p:nvPr/>
        </p:nvSpPr>
        <p:spPr>
          <a:xfrm>
            <a:off x="7823200" y="3821430"/>
            <a:ext cx="3401060" cy="108204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FFFFF"/>
                </a:solidFill>
                <a:latin typeface="Arial" pitchFamily="34" charset="0"/>
                <a:ea typeface="Arial" pitchFamily="34" charset="-122"/>
                <a:cs typeface="Arial" pitchFamily="34" charset="-120"/>
              </a:rPr>
              <a:t>La base es fiel pero no crece: hay que sumar clientes nuevos y corregir las cancelaciones en cinco restaurantes.</a:t>
            </a:r>
            <a:endParaRPr lang="en-US" sz="1600" dirty="0"/>
          </a:p>
        </p:txBody>
      </p:sp>
      <p:sp>
        <p:nvSpPr>
          <p:cNvPr id="28" name="Text 26"/>
          <p:cNvSpPr/>
          <p:nvPr/>
        </p:nvSpPr>
        <p:spPr>
          <a:xfrm>
            <a:off x="812800" y="533527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Metas propuestas por el equipo; PideYa no tenía objetivos formales.</a:t>
            </a:r>
            <a:endParaRPr lang="en-US" sz="1200" dirty="0"/>
          </a:p>
        </p:txBody>
      </p:sp>
      <p:sp>
        <p:nvSpPr>
          <p:cNvPr id="29" name="Text 27"/>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30" name="Text 2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Ordenamos tres sistemas que no cuadraban entre sí</a:t>
            </a:r>
            <a:endParaRPr lang="en-US" sz="2400" dirty="0"/>
          </a:p>
        </p:txBody>
      </p:sp>
      <p:sp>
        <p:nvSpPr>
          <p:cNvPr id="3" name="Text 1"/>
          <p:cNvSpPr/>
          <p:nvPr/>
        </p:nvSpPr>
        <p:spPr>
          <a:xfrm>
            <a:off x="812800" y="1264920"/>
            <a:ext cx="2616200"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4B5563"/>
                </a:solidFill>
                <a:latin typeface="Arial" pitchFamily="34" charset="0"/>
                <a:ea typeface="Arial" pitchFamily="34" charset="-122"/>
                <a:cs typeface="Arial" pitchFamily="34" charset="-120"/>
              </a:rPr>
              <a:t>LAS TRES FUENTES</a:t>
            </a:r>
            <a:endParaRPr lang="en-US" sz="1300" dirty="0"/>
          </a:p>
        </p:txBody>
      </p:sp>
      <p:sp>
        <p:nvSpPr>
          <p:cNvPr id="4" name="Text 2"/>
          <p:cNvSpPr/>
          <p:nvPr/>
        </p:nvSpPr>
        <p:spPr>
          <a:xfrm>
            <a:off x="3962400" y="1264920"/>
            <a:ext cx="4526026"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4B5563"/>
                </a:solidFill>
                <a:latin typeface="Arial" pitchFamily="34" charset="0"/>
                <a:ea typeface="Arial" pitchFamily="34" charset="-122"/>
                <a:cs typeface="Arial" pitchFamily="34" charset="-120"/>
              </a:rPr>
              <a:t>QUÉ CORREGIMOS</a:t>
            </a:r>
            <a:endParaRPr lang="en-US" sz="1300" dirty="0"/>
          </a:p>
        </p:txBody>
      </p:sp>
      <p:sp>
        <p:nvSpPr>
          <p:cNvPr id="5" name="Text 3"/>
          <p:cNvSpPr/>
          <p:nvPr/>
        </p:nvSpPr>
        <p:spPr>
          <a:xfrm>
            <a:off x="8966200" y="1264920"/>
            <a:ext cx="2485390"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4B5563"/>
                </a:solidFill>
                <a:latin typeface="Arial" pitchFamily="34" charset="0"/>
                <a:ea typeface="Arial" pitchFamily="34" charset="-122"/>
                <a:cs typeface="Arial" pitchFamily="34" charset="-120"/>
              </a:rPr>
              <a:t>RESULTADO</a:t>
            </a:r>
            <a:endParaRPr lang="en-US" sz="1300" dirty="0"/>
          </a:p>
        </p:txBody>
      </p:sp>
      <p:sp>
        <p:nvSpPr>
          <p:cNvPr id="6" name="Shape 4"/>
          <p:cNvSpPr/>
          <p:nvPr/>
        </p:nvSpPr>
        <p:spPr>
          <a:xfrm>
            <a:off x="812800" y="1597661"/>
            <a:ext cx="2540000" cy="840740"/>
          </a:xfrm>
          <a:prstGeom prst="roundRect">
            <a:avLst>
              <a:gd name="adj" fmla="val 9063"/>
            </a:avLst>
          </a:prstGeom>
          <a:solidFill>
            <a:srgbClr val="F3F4F6"/>
          </a:solidFill>
          <a:ln/>
        </p:spPr>
      </p:sp>
      <p:sp>
        <p:nvSpPr>
          <p:cNvPr id="7" name="Text 5"/>
          <p:cNvSpPr/>
          <p:nvPr/>
        </p:nvSpPr>
        <p:spPr>
          <a:xfrm>
            <a:off x="990600" y="1750061"/>
            <a:ext cx="224993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937"/>
                </a:solidFill>
                <a:latin typeface="Arial" pitchFamily="34" charset="0"/>
                <a:ea typeface="Arial" pitchFamily="34" charset="-122"/>
                <a:cs typeface="Arial" pitchFamily="34" charset="-120"/>
              </a:rPr>
              <a:t>Usuarios</a:t>
            </a:r>
            <a:endParaRPr lang="en-US" sz="1500" dirty="0"/>
          </a:p>
        </p:txBody>
      </p:sp>
      <p:sp>
        <p:nvSpPr>
          <p:cNvPr id="8" name="Text 6"/>
          <p:cNvSpPr/>
          <p:nvPr/>
        </p:nvSpPr>
        <p:spPr>
          <a:xfrm>
            <a:off x="990600" y="2054861"/>
            <a:ext cx="22499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563"/>
                </a:solidFill>
                <a:latin typeface="Arial" pitchFamily="34" charset="0"/>
                <a:ea typeface="Arial" pitchFamily="34" charset="-122"/>
                <a:cs typeface="Arial" pitchFamily="34" charset="-120"/>
              </a:rPr>
              <a:t>308 → </a:t>
            </a:r>
            <a:r>
              <a:rPr lang="en-US" sz="1300" b="1" dirty="0">
                <a:solidFill>
                  <a:srgbClr val="4B5563"/>
                </a:solidFill>
                <a:latin typeface="Arial" pitchFamily="34" charset="0"/>
                <a:ea typeface="Arial" pitchFamily="34" charset="-122"/>
                <a:cs typeface="Arial" pitchFamily="34" charset="-120"/>
              </a:rPr>
              <a:t>300</a:t>
            </a:r>
            <a:r>
              <a:rPr lang="en-US" sz="1300" dirty="0">
                <a:solidFill>
                  <a:srgbClr val="4B5563"/>
                </a:solidFill>
                <a:latin typeface="Arial" pitchFamily="34" charset="0"/>
                <a:ea typeface="Arial" pitchFamily="34" charset="-122"/>
                <a:cs typeface="Arial" pitchFamily="34" charset="-120"/>
              </a:rPr>
              <a:t> registros</a:t>
            </a:r>
            <a:endParaRPr lang="en-US" sz="1300" dirty="0"/>
          </a:p>
        </p:txBody>
      </p:sp>
      <p:sp>
        <p:nvSpPr>
          <p:cNvPr id="9" name="Shape 7"/>
          <p:cNvSpPr/>
          <p:nvPr/>
        </p:nvSpPr>
        <p:spPr>
          <a:xfrm>
            <a:off x="812800" y="2893484"/>
            <a:ext cx="2540000" cy="840740"/>
          </a:xfrm>
          <a:prstGeom prst="roundRect">
            <a:avLst>
              <a:gd name="adj" fmla="val 9063"/>
            </a:avLst>
          </a:prstGeom>
          <a:solidFill>
            <a:srgbClr val="F3F4F6"/>
          </a:solidFill>
          <a:ln/>
        </p:spPr>
      </p:sp>
      <p:sp>
        <p:nvSpPr>
          <p:cNvPr id="10" name="Text 8"/>
          <p:cNvSpPr/>
          <p:nvPr/>
        </p:nvSpPr>
        <p:spPr>
          <a:xfrm>
            <a:off x="990600" y="3045884"/>
            <a:ext cx="224993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937"/>
                </a:solidFill>
                <a:latin typeface="Arial" pitchFamily="34" charset="0"/>
                <a:ea typeface="Arial" pitchFamily="34" charset="-122"/>
                <a:cs typeface="Arial" pitchFamily="34" charset="-120"/>
              </a:rPr>
              <a:t>Restaurantes</a:t>
            </a:r>
            <a:endParaRPr lang="en-US" sz="1500" dirty="0"/>
          </a:p>
        </p:txBody>
      </p:sp>
      <p:sp>
        <p:nvSpPr>
          <p:cNvPr id="11" name="Text 9"/>
          <p:cNvSpPr/>
          <p:nvPr/>
        </p:nvSpPr>
        <p:spPr>
          <a:xfrm>
            <a:off x="990600" y="3350684"/>
            <a:ext cx="22499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563"/>
                </a:solidFill>
                <a:latin typeface="Arial" pitchFamily="34" charset="0"/>
                <a:ea typeface="Arial" pitchFamily="34" charset="-122"/>
                <a:cs typeface="Arial" pitchFamily="34" charset="-120"/>
              </a:rPr>
              <a:t>30 → </a:t>
            </a:r>
            <a:r>
              <a:rPr lang="en-US" sz="1300" b="1" dirty="0">
                <a:solidFill>
                  <a:srgbClr val="4B5563"/>
                </a:solidFill>
                <a:latin typeface="Arial" pitchFamily="34" charset="0"/>
                <a:ea typeface="Arial" pitchFamily="34" charset="-122"/>
                <a:cs typeface="Arial" pitchFamily="34" charset="-120"/>
              </a:rPr>
              <a:t>30</a:t>
            </a:r>
            <a:r>
              <a:rPr lang="en-US" sz="1300" dirty="0">
                <a:solidFill>
                  <a:srgbClr val="4B5563"/>
                </a:solidFill>
                <a:latin typeface="Arial" pitchFamily="34" charset="0"/>
                <a:ea typeface="Arial" pitchFamily="34" charset="-122"/>
                <a:cs typeface="Arial" pitchFamily="34" charset="-120"/>
              </a:rPr>
              <a:t> registros</a:t>
            </a:r>
            <a:endParaRPr lang="en-US" sz="1300" dirty="0"/>
          </a:p>
        </p:txBody>
      </p:sp>
      <p:sp>
        <p:nvSpPr>
          <p:cNvPr id="12" name="Shape 10"/>
          <p:cNvSpPr/>
          <p:nvPr/>
        </p:nvSpPr>
        <p:spPr>
          <a:xfrm>
            <a:off x="812800" y="4189413"/>
            <a:ext cx="2540000" cy="840740"/>
          </a:xfrm>
          <a:prstGeom prst="roundRect">
            <a:avLst>
              <a:gd name="adj" fmla="val 9063"/>
            </a:avLst>
          </a:prstGeom>
          <a:solidFill>
            <a:srgbClr val="F3F4F6"/>
          </a:solidFill>
          <a:ln/>
        </p:spPr>
      </p:sp>
      <p:sp>
        <p:nvSpPr>
          <p:cNvPr id="13" name="Text 11"/>
          <p:cNvSpPr/>
          <p:nvPr/>
        </p:nvSpPr>
        <p:spPr>
          <a:xfrm>
            <a:off x="990600" y="4341813"/>
            <a:ext cx="224993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937"/>
                </a:solidFill>
                <a:latin typeface="Arial" pitchFamily="34" charset="0"/>
                <a:ea typeface="Arial" pitchFamily="34" charset="-122"/>
                <a:cs typeface="Arial" pitchFamily="34" charset="-120"/>
              </a:rPr>
              <a:t>Pedidos</a:t>
            </a:r>
            <a:endParaRPr lang="en-US" sz="1500" dirty="0"/>
          </a:p>
        </p:txBody>
      </p:sp>
      <p:sp>
        <p:nvSpPr>
          <p:cNvPr id="14" name="Text 12"/>
          <p:cNvSpPr/>
          <p:nvPr/>
        </p:nvSpPr>
        <p:spPr>
          <a:xfrm>
            <a:off x="990600" y="4646613"/>
            <a:ext cx="22499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563"/>
                </a:solidFill>
                <a:latin typeface="Arial" pitchFamily="34" charset="0"/>
                <a:ea typeface="Arial" pitchFamily="34" charset="-122"/>
                <a:cs typeface="Arial" pitchFamily="34" charset="-120"/>
              </a:rPr>
              <a:t>1.515 → </a:t>
            </a:r>
            <a:r>
              <a:rPr lang="en-US" sz="1300" b="1" dirty="0">
                <a:solidFill>
                  <a:srgbClr val="4B5563"/>
                </a:solidFill>
                <a:latin typeface="Arial" pitchFamily="34" charset="0"/>
                <a:ea typeface="Arial" pitchFamily="34" charset="-122"/>
                <a:cs typeface="Arial" pitchFamily="34" charset="-120"/>
              </a:rPr>
              <a:t>1.488</a:t>
            </a:r>
            <a:r>
              <a:rPr lang="en-US" sz="1300" dirty="0">
                <a:solidFill>
                  <a:srgbClr val="4B5563"/>
                </a:solidFill>
                <a:latin typeface="Arial" pitchFamily="34" charset="0"/>
                <a:ea typeface="Arial" pitchFamily="34" charset="-122"/>
                <a:cs typeface="Arial" pitchFamily="34" charset="-120"/>
              </a:rPr>
              <a:t> registros</a:t>
            </a:r>
            <a:endParaRPr lang="en-US" sz="1300" dirty="0"/>
          </a:p>
        </p:txBody>
      </p:sp>
      <p:pic>
        <p:nvPicPr>
          <p:cNvPr id="15" name="Image 0" descr="arrow-right">    </p:cNvPr>
          <p:cNvPicPr>
            <a:picLocks noChangeAspect="1"/>
          </p:cNvPicPr>
          <p:nvPr/>
        </p:nvPicPr>
        <p:blipFill>
          <a:blip r:embed="rId1"/>
          <a:srcRect l="0" r="0" t="0" b="0"/>
          <a:stretch/>
        </p:blipFill>
        <p:spPr>
          <a:xfrm>
            <a:off x="3479800" y="3224954"/>
            <a:ext cx="355600" cy="177800"/>
          </a:xfrm>
          <a:prstGeom prst="rect">
            <a:avLst/>
          </a:prstGeom>
        </p:spPr>
      </p:pic>
      <p:sp>
        <p:nvSpPr>
          <p:cNvPr id="16" name="Shape 13"/>
          <p:cNvSpPr/>
          <p:nvPr/>
        </p:nvSpPr>
        <p:spPr>
          <a:xfrm>
            <a:off x="3962400" y="1597661"/>
            <a:ext cx="4394200" cy="3432492"/>
          </a:xfrm>
          <a:prstGeom prst="roundRect">
            <a:avLst>
              <a:gd name="adj" fmla="val 2220"/>
            </a:avLst>
          </a:prstGeom>
          <a:solidFill>
            <a:srgbClr val="E4572E"/>
          </a:solidFill>
          <a:ln/>
        </p:spPr>
      </p:sp>
      <p:sp>
        <p:nvSpPr>
          <p:cNvPr id="17" name="Text 14"/>
          <p:cNvSpPr/>
          <p:nvPr/>
        </p:nvSpPr>
        <p:spPr>
          <a:xfrm>
            <a:off x="4216400" y="1851661"/>
            <a:ext cx="7493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Arial" pitchFamily="34" charset="0"/>
                <a:ea typeface="Arial" pitchFamily="34" charset="-122"/>
                <a:cs typeface="Arial" pitchFamily="34" charset="-120"/>
              </a:rPr>
              <a:t>743</a:t>
            </a:r>
            <a:endParaRPr lang="en-US" sz="1700" dirty="0"/>
          </a:p>
        </p:txBody>
      </p:sp>
      <p:sp>
        <p:nvSpPr>
          <p:cNvPr id="18" name="Text 15"/>
          <p:cNvSpPr/>
          <p:nvPr/>
        </p:nvSpPr>
        <p:spPr>
          <a:xfrm>
            <a:off x="5016500" y="1909127"/>
            <a:ext cx="317868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Arial" pitchFamily="34" charset="0"/>
                <a:ea typeface="Arial" pitchFamily="34" charset="-122"/>
                <a:cs typeface="Arial" pitchFamily="34" charset="-120"/>
              </a:rPr>
              <a:t>fechas escritas en tres formatos</a:t>
            </a:r>
            <a:endParaRPr lang="en-US" sz="1300" dirty="0"/>
          </a:p>
        </p:txBody>
      </p:sp>
      <p:sp>
        <p:nvSpPr>
          <p:cNvPr id="19" name="Text 16"/>
          <p:cNvSpPr/>
          <p:nvPr/>
        </p:nvSpPr>
        <p:spPr>
          <a:xfrm>
            <a:off x="4216400" y="2255520"/>
            <a:ext cx="7493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Arial" pitchFamily="34" charset="0"/>
                <a:ea typeface="Arial" pitchFamily="34" charset="-122"/>
                <a:cs typeface="Arial" pitchFamily="34" charset="-120"/>
              </a:rPr>
              <a:t>313</a:t>
            </a:r>
            <a:endParaRPr lang="en-US" sz="1700" dirty="0"/>
          </a:p>
        </p:txBody>
      </p:sp>
      <p:sp>
        <p:nvSpPr>
          <p:cNvPr id="20" name="Text 17"/>
          <p:cNvSpPr/>
          <p:nvPr/>
        </p:nvSpPr>
        <p:spPr>
          <a:xfrm>
            <a:off x="5016500" y="2312988"/>
            <a:ext cx="317868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Arial" pitchFamily="34" charset="0"/>
                <a:ea typeface="Arial" pitchFamily="34" charset="-122"/>
                <a:cs typeface="Arial" pitchFamily="34" charset="-120"/>
              </a:rPr>
              <a:t>nombres escritos de distintas formas (ÑUÑOA, Nunoa, Tajeta)</a:t>
            </a:r>
            <a:endParaRPr lang="en-US" sz="1300" dirty="0"/>
          </a:p>
        </p:txBody>
      </p:sp>
      <p:sp>
        <p:nvSpPr>
          <p:cNvPr id="21" name="Text 18"/>
          <p:cNvSpPr/>
          <p:nvPr/>
        </p:nvSpPr>
        <p:spPr>
          <a:xfrm>
            <a:off x="4216400" y="2860357"/>
            <a:ext cx="7493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Arial" pitchFamily="34" charset="0"/>
                <a:ea typeface="Arial" pitchFamily="34" charset="-122"/>
                <a:cs typeface="Arial" pitchFamily="34" charset="-120"/>
              </a:rPr>
              <a:t>149</a:t>
            </a:r>
            <a:endParaRPr lang="en-US" sz="1700" dirty="0"/>
          </a:p>
        </p:txBody>
      </p:sp>
      <p:sp>
        <p:nvSpPr>
          <p:cNvPr id="22" name="Text 19"/>
          <p:cNvSpPr/>
          <p:nvPr/>
        </p:nvSpPr>
        <p:spPr>
          <a:xfrm>
            <a:off x="5016500" y="2917825"/>
            <a:ext cx="317868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Arial" pitchFamily="34" charset="0"/>
                <a:ea typeface="Arial" pitchFamily="34" charset="-122"/>
                <a:cs typeface="Arial" pitchFamily="34" charset="-120"/>
              </a:rPr>
              <a:t>montos con texto ($11.200, 12600 CLP)</a:t>
            </a:r>
            <a:endParaRPr lang="en-US" sz="1300" dirty="0"/>
          </a:p>
        </p:txBody>
      </p:sp>
      <p:sp>
        <p:nvSpPr>
          <p:cNvPr id="23" name="Text 20"/>
          <p:cNvSpPr/>
          <p:nvPr/>
        </p:nvSpPr>
        <p:spPr>
          <a:xfrm>
            <a:off x="4216400" y="3264218"/>
            <a:ext cx="7493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Arial" pitchFamily="34" charset="0"/>
                <a:ea typeface="Arial" pitchFamily="34" charset="-122"/>
                <a:cs typeface="Arial" pitchFamily="34" charset="-120"/>
              </a:rPr>
              <a:t>23</a:t>
            </a:r>
            <a:endParaRPr lang="en-US" sz="1700" dirty="0"/>
          </a:p>
        </p:txBody>
      </p:sp>
      <p:sp>
        <p:nvSpPr>
          <p:cNvPr id="24" name="Text 21"/>
          <p:cNvSpPr/>
          <p:nvPr/>
        </p:nvSpPr>
        <p:spPr>
          <a:xfrm>
            <a:off x="5016500" y="3321686"/>
            <a:ext cx="317868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Arial" pitchFamily="34" charset="0"/>
                <a:ea typeface="Arial" pitchFamily="34" charset="-122"/>
                <a:cs typeface="Arial" pitchFamily="34" charset="-120"/>
              </a:rPr>
              <a:t>registros duplicados</a:t>
            </a:r>
            <a:endParaRPr lang="en-US" sz="1300" dirty="0"/>
          </a:p>
        </p:txBody>
      </p:sp>
      <p:sp>
        <p:nvSpPr>
          <p:cNvPr id="25" name="Text 22"/>
          <p:cNvSpPr/>
          <p:nvPr/>
        </p:nvSpPr>
        <p:spPr>
          <a:xfrm>
            <a:off x="4216400" y="3668077"/>
            <a:ext cx="7493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Arial" pitchFamily="34" charset="0"/>
                <a:ea typeface="Arial" pitchFamily="34" charset="-122"/>
                <a:cs typeface="Arial" pitchFamily="34" charset="-120"/>
              </a:rPr>
              <a:t>12</a:t>
            </a:r>
            <a:endParaRPr lang="en-US" sz="1700" dirty="0"/>
          </a:p>
        </p:txBody>
      </p:sp>
      <p:sp>
        <p:nvSpPr>
          <p:cNvPr id="26" name="Text 23"/>
          <p:cNvSpPr/>
          <p:nvPr/>
        </p:nvSpPr>
        <p:spPr>
          <a:xfrm>
            <a:off x="5016500" y="3725545"/>
            <a:ext cx="317868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Arial" pitchFamily="34" charset="0"/>
                <a:ea typeface="Arial" pitchFamily="34" charset="-122"/>
                <a:cs typeface="Arial" pitchFamily="34" charset="-120"/>
              </a:rPr>
              <a:t>pedidos de clientes o locales que no existen</a:t>
            </a:r>
            <a:endParaRPr lang="en-US" sz="1300" dirty="0"/>
          </a:p>
        </p:txBody>
      </p:sp>
      <p:sp>
        <p:nvSpPr>
          <p:cNvPr id="27" name="Text 24"/>
          <p:cNvSpPr/>
          <p:nvPr/>
        </p:nvSpPr>
        <p:spPr>
          <a:xfrm>
            <a:off x="4216400" y="4272914"/>
            <a:ext cx="7493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Arial" pitchFamily="34" charset="0"/>
                <a:ea typeface="Arial" pitchFamily="34" charset="-122"/>
                <a:cs typeface="Arial" pitchFamily="34" charset="-120"/>
              </a:rPr>
              <a:t>12</a:t>
            </a:r>
            <a:endParaRPr lang="en-US" sz="1700" dirty="0"/>
          </a:p>
        </p:txBody>
      </p:sp>
      <p:sp>
        <p:nvSpPr>
          <p:cNvPr id="28" name="Text 25"/>
          <p:cNvSpPr/>
          <p:nvPr/>
        </p:nvSpPr>
        <p:spPr>
          <a:xfrm>
            <a:off x="5016500" y="4330382"/>
            <a:ext cx="317868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FFFFF"/>
                </a:solidFill>
                <a:latin typeface="Arial" pitchFamily="34" charset="0"/>
                <a:ea typeface="Arial" pitchFamily="34" charset="-122"/>
                <a:cs typeface="Arial" pitchFamily="34" charset="-120"/>
              </a:rPr>
              <a:t>tiempos de entrega imposibles (-5, 0, 500 y 999 minutos)</a:t>
            </a:r>
            <a:endParaRPr lang="en-US" sz="1300" dirty="0"/>
          </a:p>
        </p:txBody>
      </p:sp>
      <p:pic>
        <p:nvPicPr>
          <p:cNvPr id="29" name="Image 1" descr="arrow-right">    </p:cNvPr>
          <p:cNvPicPr>
            <a:picLocks noChangeAspect="1"/>
          </p:cNvPicPr>
          <p:nvPr/>
        </p:nvPicPr>
        <p:blipFill>
          <a:blip r:embed="rId2"/>
          <a:srcRect l="0" r="0" t="0" b="0"/>
          <a:stretch/>
        </p:blipFill>
        <p:spPr>
          <a:xfrm>
            <a:off x="8483600" y="3224954"/>
            <a:ext cx="355600" cy="177800"/>
          </a:xfrm>
          <a:prstGeom prst="rect">
            <a:avLst/>
          </a:prstGeom>
        </p:spPr>
      </p:pic>
      <p:sp>
        <p:nvSpPr>
          <p:cNvPr id="30" name="Shape 26"/>
          <p:cNvSpPr/>
          <p:nvPr/>
        </p:nvSpPr>
        <p:spPr>
          <a:xfrm>
            <a:off x="8966200" y="1597661"/>
            <a:ext cx="2413000" cy="3432492"/>
          </a:xfrm>
          <a:prstGeom prst="roundRect">
            <a:avLst>
              <a:gd name="adj" fmla="val 3158"/>
            </a:avLst>
          </a:prstGeom>
          <a:solidFill>
            <a:srgbClr val="F3F4F6"/>
          </a:solidFill>
          <a:ln/>
        </p:spPr>
      </p:sp>
      <p:pic>
        <p:nvPicPr>
          <p:cNvPr id="31" name="Image 2" descr="CheckCircle">    </p:cNvPr>
          <p:cNvPicPr>
            <a:picLocks noChangeAspect="1"/>
          </p:cNvPicPr>
          <p:nvPr/>
        </p:nvPicPr>
        <p:blipFill>
          <a:blip r:embed="rId3"/>
          <a:srcRect l="0" r="0" t="0" b="0"/>
          <a:stretch/>
        </p:blipFill>
        <p:spPr>
          <a:xfrm>
            <a:off x="9169400" y="1826261"/>
            <a:ext cx="228600" cy="228600"/>
          </a:xfrm>
          <a:prstGeom prst="rect">
            <a:avLst/>
          </a:prstGeom>
        </p:spPr>
      </p:pic>
      <p:sp>
        <p:nvSpPr>
          <p:cNvPr id="32" name="Text 27"/>
          <p:cNvSpPr/>
          <p:nvPr/>
        </p:nvSpPr>
        <p:spPr>
          <a:xfrm>
            <a:off x="9499600" y="1826261"/>
            <a:ext cx="172720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Una sola fuente de datos</a:t>
            </a:r>
            <a:endParaRPr lang="en-US" sz="1300" dirty="0"/>
          </a:p>
        </p:txBody>
      </p:sp>
      <p:pic>
        <p:nvPicPr>
          <p:cNvPr id="33" name="Image 3" descr="CheckCircle">    </p:cNvPr>
          <p:cNvPicPr>
            <a:picLocks noChangeAspect="1"/>
          </p:cNvPicPr>
          <p:nvPr/>
        </p:nvPicPr>
        <p:blipFill>
          <a:blip r:embed="rId4"/>
          <a:srcRect l="0" r="0" t="0" b="0"/>
          <a:stretch/>
        </p:blipFill>
        <p:spPr>
          <a:xfrm>
            <a:off x="9169400" y="2449830"/>
            <a:ext cx="228600" cy="228600"/>
          </a:xfrm>
          <a:prstGeom prst="rect">
            <a:avLst/>
          </a:prstGeom>
        </p:spPr>
      </p:pic>
      <p:sp>
        <p:nvSpPr>
          <p:cNvPr id="34" name="Text 28"/>
          <p:cNvSpPr/>
          <p:nvPr/>
        </p:nvSpPr>
        <p:spPr>
          <a:xfrm>
            <a:off x="9499600" y="2449830"/>
            <a:ext cx="172720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Cada corrección queda registrada</a:t>
            </a:r>
            <a:endParaRPr lang="en-US" sz="1300" dirty="0"/>
          </a:p>
        </p:txBody>
      </p:sp>
      <p:pic>
        <p:nvPicPr>
          <p:cNvPr id="35" name="Image 4" descr="CheckCircle">    </p:cNvPr>
          <p:cNvPicPr>
            <a:picLocks noChangeAspect="1"/>
          </p:cNvPicPr>
          <p:nvPr/>
        </p:nvPicPr>
        <p:blipFill>
          <a:blip r:embed="rId5"/>
          <a:srcRect l="0" r="0" t="0" b="0"/>
          <a:stretch/>
        </p:blipFill>
        <p:spPr>
          <a:xfrm>
            <a:off x="9169400" y="3073400"/>
            <a:ext cx="228600" cy="228600"/>
          </a:xfrm>
          <a:prstGeom prst="rect">
            <a:avLst/>
          </a:prstGeom>
        </p:spPr>
      </p:pic>
      <p:sp>
        <p:nvSpPr>
          <p:cNvPr id="36" name="Text 29"/>
          <p:cNvSpPr/>
          <p:nvPr/>
        </p:nvSpPr>
        <p:spPr>
          <a:xfrm>
            <a:off x="9499600" y="3073400"/>
            <a:ext cx="1727200" cy="9169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Las cifras del dashboard se verificaron con un cálculo independiente</a:t>
            </a:r>
            <a:endParaRPr lang="en-US" sz="1300" dirty="0"/>
          </a:p>
        </p:txBody>
      </p:sp>
      <p:sp>
        <p:nvSpPr>
          <p:cNvPr id="37" name="Text 30"/>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38" name="Text 31"/>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Las ventas son estables: entre $2,5 y $2,8 millones al mes</a:t>
            </a:r>
            <a:endParaRPr lang="en-US" sz="2400" dirty="0"/>
          </a:p>
        </p:txBody>
      </p:sp>
      <p:sp>
        <p:nvSpPr>
          <p:cNvPr id="3" name="Text 1"/>
          <p:cNvSpPr/>
          <p:nvPr/>
        </p:nvSpPr>
        <p:spPr>
          <a:xfrm>
            <a:off x="812800" y="1214121"/>
            <a:ext cx="690676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Ventas mensuales de pedidos entregados (millones de pesos)</a:t>
            </a:r>
            <a:endParaRPr lang="en-US" sz="1300" dirty="0"/>
          </a:p>
        </p:txBody>
      </p:sp>
      <p:sp>
        <p:nvSpPr>
          <p:cNvPr id="4" name="Shape 2"/>
          <p:cNvSpPr/>
          <p:nvPr/>
        </p:nvSpPr>
        <p:spPr>
          <a:xfrm>
            <a:off x="812800" y="4334511"/>
            <a:ext cx="6705600" cy="0"/>
          </a:xfrm>
          <a:prstGeom prst="line">
            <a:avLst/>
          </a:prstGeom>
          <a:noFill/>
          <a:ln w="12700">
            <a:solidFill>
              <a:srgbClr val="9CA3AF"/>
            </a:solidFill>
            <a:prstDash val="solid"/>
          </a:ln>
        </p:spPr>
      </p:sp>
      <p:sp>
        <p:nvSpPr>
          <p:cNvPr id="5" name="Text 3"/>
          <p:cNvSpPr/>
          <p:nvPr/>
        </p:nvSpPr>
        <p:spPr>
          <a:xfrm>
            <a:off x="939800" y="15087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$2,82 M</a:t>
            </a:r>
            <a:endParaRPr lang="en-US" sz="1300" dirty="0"/>
          </a:p>
        </p:txBody>
      </p:sp>
      <p:sp>
        <p:nvSpPr>
          <p:cNvPr id="6" name="Shape 4"/>
          <p:cNvSpPr/>
          <p:nvPr/>
        </p:nvSpPr>
        <p:spPr>
          <a:xfrm>
            <a:off x="965200" y="1790700"/>
            <a:ext cx="876300" cy="2540000"/>
          </a:xfrm>
          <a:custGeom>
            <a:avLst/>
            <a:gdLst/>
            <a:ahLst/>
            <a:cxnLst/>
            <a:rect l="l" t="t" r="r" b="b"/>
            <a:pathLst>
              <a:path w="876300" h="2540000">
                <a:moveTo>
                  <a:pt x="38100" y="0"/>
                </a:moveTo>
                <a:lnTo>
                  <a:pt x="838200" y="0"/>
                </a:lnTo>
                <a:arcTo hR="38100" wR="38100" stAng="16200000" swAng="5400000"/>
                <a:lnTo>
                  <a:pt x="876300" y="2540000"/>
                </a:lnTo>
                <a:lnTo>
                  <a:pt x="0" y="2540000"/>
                </a:lnTo>
                <a:lnTo>
                  <a:pt x="0" y="38100"/>
                </a:lnTo>
                <a:arcTo hR="38100" wR="38100" stAng="10800000" swAng="5400000"/>
                <a:close/>
              </a:path>
            </a:pathLst>
          </a:custGeom>
          <a:solidFill>
            <a:srgbClr val="E4572E"/>
          </a:solidFill>
          <a:ln/>
        </p:spPr>
      </p:sp>
      <p:sp>
        <p:nvSpPr>
          <p:cNvPr id="7" name="Text 5"/>
          <p:cNvSpPr/>
          <p:nvPr/>
        </p:nvSpPr>
        <p:spPr>
          <a:xfrm>
            <a:off x="2044700" y="17500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$2,55 M</a:t>
            </a:r>
            <a:endParaRPr lang="en-US" sz="1300" dirty="0"/>
          </a:p>
        </p:txBody>
      </p:sp>
      <p:sp>
        <p:nvSpPr>
          <p:cNvPr id="8" name="Shape 6"/>
          <p:cNvSpPr/>
          <p:nvPr/>
        </p:nvSpPr>
        <p:spPr>
          <a:xfrm>
            <a:off x="2070100" y="2032000"/>
            <a:ext cx="876300" cy="2298700"/>
          </a:xfrm>
          <a:custGeom>
            <a:avLst/>
            <a:gdLst/>
            <a:ahLst/>
            <a:cxnLst/>
            <a:rect l="l" t="t" r="r" b="b"/>
            <a:pathLst>
              <a:path w="876300" h="2298700">
                <a:moveTo>
                  <a:pt x="38100" y="0"/>
                </a:moveTo>
                <a:lnTo>
                  <a:pt x="838200" y="0"/>
                </a:lnTo>
                <a:arcTo hR="38100" wR="38100" stAng="16200000" swAng="5400000"/>
                <a:lnTo>
                  <a:pt x="876300" y="2298700"/>
                </a:lnTo>
                <a:lnTo>
                  <a:pt x="0" y="2298700"/>
                </a:lnTo>
                <a:lnTo>
                  <a:pt x="0" y="38100"/>
                </a:lnTo>
                <a:arcTo hR="38100" wR="38100" stAng="10800000" swAng="5400000"/>
                <a:close/>
              </a:path>
            </a:pathLst>
          </a:custGeom>
          <a:solidFill>
            <a:srgbClr val="E4572E"/>
          </a:solidFill>
          <a:ln/>
        </p:spPr>
      </p:sp>
      <p:sp>
        <p:nvSpPr>
          <p:cNvPr id="9" name="Text 7"/>
          <p:cNvSpPr/>
          <p:nvPr/>
        </p:nvSpPr>
        <p:spPr>
          <a:xfrm>
            <a:off x="3149600" y="15976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$2,72 M</a:t>
            </a:r>
            <a:endParaRPr lang="en-US" sz="1300" dirty="0"/>
          </a:p>
        </p:txBody>
      </p:sp>
      <p:sp>
        <p:nvSpPr>
          <p:cNvPr id="10" name="Shape 8"/>
          <p:cNvSpPr/>
          <p:nvPr/>
        </p:nvSpPr>
        <p:spPr>
          <a:xfrm>
            <a:off x="3175000" y="1879600"/>
            <a:ext cx="876300" cy="2451100"/>
          </a:xfrm>
          <a:custGeom>
            <a:avLst/>
            <a:gdLst/>
            <a:ahLst/>
            <a:cxnLst/>
            <a:rect l="l" t="t" r="r" b="b"/>
            <a:pathLst>
              <a:path w="876300" h="2451100">
                <a:moveTo>
                  <a:pt x="38100" y="0"/>
                </a:moveTo>
                <a:lnTo>
                  <a:pt x="838200" y="0"/>
                </a:lnTo>
                <a:arcTo hR="38100" wR="38100" stAng="16200000" swAng="5400000"/>
                <a:lnTo>
                  <a:pt x="876300" y="2451100"/>
                </a:lnTo>
                <a:lnTo>
                  <a:pt x="0" y="2451100"/>
                </a:lnTo>
                <a:lnTo>
                  <a:pt x="0" y="38100"/>
                </a:lnTo>
                <a:arcTo hR="38100" wR="38100" stAng="10800000" swAng="5400000"/>
                <a:close/>
              </a:path>
            </a:pathLst>
          </a:custGeom>
          <a:solidFill>
            <a:srgbClr val="E4572E"/>
          </a:solidFill>
          <a:ln/>
        </p:spPr>
      </p:sp>
      <p:sp>
        <p:nvSpPr>
          <p:cNvPr id="11" name="Text 9"/>
          <p:cNvSpPr/>
          <p:nvPr/>
        </p:nvSpPr>
        <p:spPr>
          <a:xfrm>
            <a:off x="4254500" y="179451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$2,50 M</a:t>
            </a:r>
            <a:endParaRPr lang="en-US" sz="1300" dirty="0"/>
          </a:p>
        </p:txBody>
      </p:sp>
      <p:sp>
        <p:nvSpPr>
          <p:cNvPr id="12" name="Shape 10"/>
          <p:cNvSpPr/>
          <p:nvPr/>
        </p:nvSpPr>
        <p:spPr>
          <a:xfrm>
            <a:off x="4279900" y="2076450"/>
            <a:ext cx="876300" cy="2254250"/>
          </a:xfrm>
          <a:custGeom>
            <a:avLst/>
            <a:gdLst/>
            <a:ahLst/>
            <a:cxnLst/>
            <a:rect l="l" t="t" r="r" b="b"/>
            <a:pathLst>
              <a:path w="876300" h="2254250">
                <a:moveTo>
                  <a:pt x="38100" y="0"/>
                </a:moveTo>
                <a:lnTo>
                  <a:pt x="838200" y="0"/>
                </a:lnTo>
                <a:arcTo hR="38100" wR="38100" stAng="16200000" swAng="5400000"/>
                <a:lnTo>
                  <a:pt x="876300" y="2254250"/>
                </a:lnTo>
                <a:lnTo>
                  <a:pt x="0" y="2254250"/>
                </a:lnTo>
                <a:lnTo>
                  <a:pt x="0" y="38100"/>
                </a:lnTo>
                <a:arcTo hR="38100" wR="38100" stAng="10800000" swAng="5400000"/>
                <a:close/>
              </a:path>
            </a:pathLst>
          </a:custGeom>
          <a:solidFill>
            <a:srgbClr val="E4572E"/>
          </a:solidFill>
          <a:ln/>
        </p:spPr>
      </p:sp>
      <p:sp>
        <p:nvSpPr>
          <p:cNvPr id="13" name="Text 11"/>
          <p:cNvSpPr/>
          <p:nvPr/>
        </p:nvSpPr>
        <p:spPr>
          <a:xfrm>
            <a:off x="5359400" y="16357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$2,68 M</a:t>
            </a:r>
            <a:endParaRPr lang="en-US" sz="1300" dirty="0"/>
          </a:p>
        </p:txBody>
      </p:sp>
      <p:sp>
        <p:nvSpPr>
          <p:cNvPr id="14" name="Shape 12"/>
          <p:cNvSpPr/>
          <p:nvPr/>
        </p:nvSpPr>
        <p:spPr>
          <a:xfrm>
            <a:off x="5384800" y="1917700"/>
            <a:ext cx="876300" cy="2413000"/>
          </a:xfrm>
          <a:custGeom>
            <a:avLst/>
            <a:gdLst/>
            <a:ahLst/>
            <a:cxnLst/>
            <a:rect l="l" t="t" r="r" b="b"/>
            <a:pathLst>
              <a:path w="876300" h="2413000">
                <a:moveTo>
                  <a:pt x="38100" y="0"/>
                </a:moveTo>
                <a:lnTo>
                  <a:pt x="838200" y="0"/>
                </a:lnTo>
                <a:arcTo hR="38100" wR="38100" stAng="16200000" swAng="5400000"/>
                <a:lnTo>
                  <a:pt x="876300" y="2413000"/>
                </a:lnTo>
                <a:lnTo>
                  <a:pt x="0" y="2413000"/>
                </a:lnTo>
                <a:lnTo>
                  <a:pt x="0" y="38100"/>
                </a:lnTo>
                <a:arcTo hR="38100" wR="38100" stAng="10800000" swAng="5400000"/>
                <a:close/>
              </a:path>
            </a:pathLst>
          </a:custGeom>
          <a:solidFill>
            <a:srgbClr val="E4572E"/>
          </a:solidFill>
          <a:ln/>
        </p:spPr>
      </p:sp>
      <p:sp>
        <p:nvSpPr>
          <p:cNvPr id="15" name="Text 13"/>
          <p:cNvSpPr/>
          <p:nvPr/>
        </p:nvSpPr>
        <p:spPr>
          <a:xfrm>
            <a:off x="6464300" y="26517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$1,55 M</a:t>
            </a:r>
            <a:endParaRPr lang="en-US" sz="1300" dirty="0"/>
          </a:p>
        </p:txBody>
      </p:sp>
      <p:sp>
        <p:nvSpPr>
          <p:cNvPr id="16" name="Shape 14"/>
          <p:cNvSpPr/>
          <p:nvPr/>
        </p:nvSpPr>
        <p:spPr>
          <a:xfrm>
            <a:off x="6489700" y="2933700"/>
            <a:ext cx="876300" cy="1397000"/>
          </a:xfrm>
          <a:custGeom>
            <a:avLst/>
            <a:gdLst/>
            <a:ahLst/>
            <a:cxnLst/>
            <a:rect l="l" t="t" r="r" b="b"/>
            <a:pathLst>
              <a:path w="876300" h="1397000">
                <a:moveTo>
                  <a:pt x="38100" y="0"/>
                </a:moveTo>
                <a:lnTo>
                  <a:pt x="838200" y="0"/>
                </a:lnTo>
                <a:arcTo hR="38100" wR="38100" stAng="16200000" swAng="5400000"/>
                <a:lnTo>
                  <a:pt x="876300" y="1397000"/>
                </a:lnTo>
                <a:lnTo>
                  <a:pt x="0" y="1397000"/>
                </a:lnTo>
                <a:lnTo>
                  <a:pt x="0" y="38100"/>
                </a:lnTo>
                <a:arcTo hR="38100" wR="38100" stAng="10800000" swAng="5400000"/>
                <a:close/>
              </a:path>
            </a:pathLst>
          </a:custGeom>
          <a:solidFill>
            <a:srgbClr val="9CA3AF"/>
          </a:solidFill>
          <a:ln/>
        </p:spPr>
      </p:sp>
      <p:sp>
        <p:nvSpPr>
          <p:cNvPr id="17" name="Text 15"/>
          <p:cNvSpPr/>
          <p:nvPr/>
        </p:nvSpPr>
        <p:spPr>
          <a:xfrm>
            <a:off x="939800" y="44424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B5563"/>
                </a:solidFill>
                <a:latin typeface="Arial" pitchFamily="34" charset="0"/>
                <a:ea typeface="Arial" pitchFamily="34" charset="-122"/>
                <a:cs typeface="Arial" pitchFamily="34" charset="-120"/>
              </a:rPr>
              <a:t>May</a:t>
            </a:r>
            <a:endParaRPr lang="en-US" sz="1300" dirty="0"/>
          </a:p>
        </p:txBody>
      </p:sp>
      <p:sp>
        <p:nvSpPr>
          <p:cNvPr id="18" name="Text 16"/>
          <p:cNvSpPr/>
          <p:nvPr/>
        </p:nvSpPr>
        <p:spPr>
          <a:xfrm>
            <a:off x="2044700" y="44424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B5563"/>
                </a:solidFill>
                <a:latin typeface="Arial" pitchFamily="34" charset="0"/>
                <a:ea typeface="Arial" pitchFamily="34" charset="-122"/>
                <a:cs typeface="Arial" pitchFamily="34" charset="-120"/>
              </a:rPr>
              <a:t>Jun</a:t>
            </a:r>
            <a:endParaRPr lang="en-US" sz="1300" dirty="0"/>
          </a:p>
        </p:txBody>
      </p:sp>
      <p:sp>
        <p:nvSpPr>
          <p:cNvPr id="19" name="Text 17"/>
          <p:cNvSpPr/>
          <p:nvPr/>
        </p:nvSpPr>
        <p:spPr>
          <a:xfrm>
            <a:off x="3149600" y="44424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B5563"/>
                </a:solidFill>
                <a:latin typeface="Arial" pitchFamily="34" charset="0"/>
                <a:ea typeface="Arial" pitchFamily="34" charset="-122"/>
                <a:cs typeface="Arial" pitchFamily="34" charset="-120"/>
              </a:rPr>
              <a:t>Jul</a:t>
            </a:r>
            <a:endParaRPr lang="en-US" sz="1300" dirty="0"/>
          </a:p>
        </p:txBody>
      </p:sp>
      <p:sp>
        <p:nvSpPr>
          <p:cNvPr id="20" name="Text 18"/>
          <p:cNvSpPr/>
          <p:nvPr/>
        </p:nvSpPr>
        <p:spPr>
          <a:xfrm>
            <a:off x="4254500" y="44424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B5563"/>
                </a:solidFill>
                <a:latin typeface="Arial" pitchFamily="34" charset="0"/>
                <a:ea typeface="Arial" pitchFamily="34" charset="-122"/>
                <a:cs typeface="Arial" pitchFamily="34" charset="-120"/>
              </a:rPr>
              <a:t>Ago</a:t>
            </a:r>
            <a:endParaRPr lang="en-US" sz="1300" dirty="0"/>
          </a:p>
        </p:txBody>
      </p:sp>
      <p:sp>
        <p:nvSpPr>
          <p:cNvPr id="21" name="Text 19"/>
          <p:cNvSpPr/>
          <p:nvPr/>
        </p:nvSpPr>
        <p:spPr>
          <a:xfrm>
            <a:off x="5359400" y="44424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B5563"/>
                </a:solidFill>
                <a:latin typeface="Arial" pitchFamily="34" charset="0"/>
                <a:ea typeface="Arial" pitchFamily="34" charset="-122"/>
                <a:cs typeface="Arial" pitchFamily="34" charset="-120"/>
              </a:rPr>
              <a:t>Sep</a:t>
            </a:r>
            <a:endParaRPr lang="en-US" sz="1300" dirty="0"/>
          </a:p>
        </p:txBody>
      </p:sp>
      <p:sp>
        <p:nvSpPr>
          <p:cNvPr id="22" name="Text 20"/>
          <p:cNvSpPr/>
          <p:nvPr/>
        </p:nvSpPr>
        <p:spPr>
          <a:xfrm>
            <a:off x="6464300" y="4442461"/>
            <a:ext cx="927100"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4B5563"/>
                </a:solidFill>
                <a:latin typeface="Arial" pitchFamily="34" charset="0"/>
                <a:ea typeface="Arial" pitchFamily="34" charset="-122"/>
                <a:cs typeface="Arial" pitchFamily="34" charset="-120"/>
              </a:rPr>
              <a:t>Oct*</a:t>
            </a:r>
            <a:endParaRPr lang="en-US" sz="1300" dirty="0"/>
          </a:p>
        </p:txBody>
      </p:sp>
      <p:sp>
        <p:nvSpPr>
          <p:cNvPr id="23" name="Text 21"/>
          <p:cNvSpPr/>
          <p:nvPr/>
        </p:nvSpPr>
        <p:spPr>
          <a:xfrm>
            <a:off x="812800" y="4775200"/>
            <a:ext cx="69067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*Octubre con datos solo hasta el día 19</a:t>
            </a:r>
            <a:endParaRPr lang="en-US" sz="1200" dirty="0"/>
          </a:p>
        </p:txBody>
      </p:sp>
      <p:sp>
        <p:nvSpPr>
          <p:cNvPr id="24" name="Shape 22"/>
          <p:cNvSpPr/>
          <p:nvPr/>
        </p:nvSpPr>
        <p:spPr>
          <a:xfrm>
            <a:off x="7823200" y="1214121"/>
            <a:ext cx="3556000" cy="3896995"/>
          </a:xfrm>
          <a:prstGeom prst="roundRect">
            <a:avLst>
              <a:gd name="adj" fmla="val 2143"/>
            </a:avLst>
          </a:prstGeom>
          <a:solidFill>
            <a:srgbClr val="F3F4F6"/>
          </a:solidFill>
          <a:ln/>
        </p:spPr>
      </p:sp>
      <p:sp>
        <p:nvSpPr>
          <p:cNvPr id="25" name="Text 23"/>
          <p:cNvSpPr/>
          <p:nvPr/>
        </p:nvSpPr>
        <p:spPr>
          <a:xfrm>
            <a:off x="8077200" y="1468121"/>
            <a:ext cx="31394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937"/>
                </a:solidFill>
                <a:latin typeface="Arial" pitchFamily="34" charset="0"/>
                <a:ea typeface="Arial" pitchFamily="34" charset="-122"/>
                <a:cs typeface="Arial" pitchFamily="34" charset="-120"/>
              </a:rPr>
              <a:t>Qué vende PideYa</a:t>
            </a:r>
            <a:endParaRPr lang="en-US" sz="1500" dirty="0"/>
          </a:p>
        </p:txBody>
      </p:sp>
      <p:sp>
        <p:nvSpPr>
          <p:cNvPr id="26" name="Text 24"/>
          <p:cNvSpPr/>
          <p:nvPr/>
        </p:nvSpPr>
        <p:spPr>
          <a:xfrm>
            <a:off x="8175244" y="1823721"/>
            <a:ext cx="3033776" cy="2085340"/>
          </a:xfrm>
          <a:prstGeom prst="rect">
            <a:avLst/>
          </a:prstGeom>
          <a:noFill/>
          <a:ln/>
        </p:spPr>
        <p:txBody>
          <a:bodyPr wrap="square" lIns="0" tIns="0" rIns="0" bIns="0" rtlCol="0" anchor="t">
            <a:normAutofit/>
          </a:bodyPr>
          <a:lstStyle/>
          <a:p>
            <a:pPr algn="l" marL="155956" indent="-155956">
              <a:lnSpc>
                <a:spcPts val="2015"/>
              </a:lnSpc>
              <a:buSzPct val="100000"/>
              <a:buChar char="•"/>
            </a:pPr>
            <a:r>
              <a:rPr lang="en-US" sz="1300" b="1" dirty="0">
                <a:solidFill>
                  <a:srgbClr val="1F2937"/>
                </a:solidFill>
                <a:latin typeface="Arial" pitchFamily="34" charset="0"/>
                <a:ea typeface="Arial" pitchFamily="34" charset="-122"/>
                <a:cs typeface="Arial" pitchFamily="34" charset="-120"/>
              </a:rPr>
              <a:t>Saludable</a:t>
            </a:r>
            <a:r>
              <a:rPr lang="en-US" sz="1300" dirty="0">
                <a:solidFill>
                  <a:srgbClr val="1F2937"/>
                </a:solidFill>
                <a:latin typeface="Arial" pitchFamily="34" charset="0"/>
                <a:ea typeface="Arial" pitchFamily="34" charset="-122"/>
                <a:cs typeface="Arial" pitchFamily="34" charset="-120"/>
              </a:rPr>
              <a:t> lidera con el 35% de las ventas</a:t>
            </a:r>
            <a:endParaRPr lang="en-US" sz="1300" dirty="0"/>
          </a:p>
          <a:p>
            <a:pPr algn="l" marL="155956" indent="-155956">
              <a:lnSpc>
                <a:spcPts val="2015"/>
              </a:lnSpc>
              <a:buSzPct val="100000"/>
              <a:buChar char="•"/>
            </a:pPr>
            <a:r>
              <a:rPr lang="en-US" sz="1300" b="1" dirty="0">
                <a:solidFill>
                  <a:srgbClr val="1F2937"/>
                </a:solidFill>
                <a:latin typeface="Arial" pitchFamily="34" charset="0"/>
                <a:ea typeface="Arial" pitchFamily="34" charset="-122"/>
                <a:cs typeface="Arial" pitchFamily="34" charset="-120"/>
              </a:rPr>
              <a:t>Santiago</a:t>
            </a:r>
            <a:r>
              <a:rPr lang="en-US" sz="1300" dirty="0">
                <a:solidFill>
                  <a:srgbClr val="1F2937"/>
                </a:solidFill>
                <a:latin typeface="Arial" pitchFamily="34" charset="0"/>
                <a:ea typeface="Arial" pitchFamily="34" charset="-122"/>
                <a:cs typeface="Arial" pitchFamily="34" charset="-120"/>
              </a:rPr>
              <a:t> concentra el 31% de las ventas</a:t>
            </a:r>
            <a:endParaRPr lang="en-US" sz="1300" dirty="0"/>
          </a:p>
          <a:p>
            <a:pPr algn="l" marL="155956" indent="-155956">
              <a:lnSpc>
                <a:spcPts val="2015"/>
              </a:lnSpc>
              <a:buSzPct val="100000"/>
              <a:buChar char="•"/>
            </a:pPr>
            <a:r>
              <a:rPr lang="en-US" sz="1300" b="1" dirty="0">
                <a:solidFill>
                  <a:srgbClr val="1F2937"/>
                </a:solidFill>
                <a:latin typeface="Arial" pitchFamily="34" charset="0"/>
                <a:ea typeface="Arial" pitchFamily="34" charset="-122"/>
                <a:cs typeface="Arial" pitchFamily="34" charset="-120"/>
              </a:rPr>
              <a:t>58%</a:t>
            </a:r>
            <a:r>
              <a:rPr lang="en-US" sz="1300" dirty="0">
                <a:solidFill>
                  <a:srgbClr val="1F2937"/>
                </a:solidFill>
                <a:latin typeface="Arial" pitchFamily="34" charset="0"/>
                <a:ea typeface="Arial" pitchFamily="34" charset="-122"/>
                <a:cs typeface="Arial" pitchFamily="34" charset="-120"/>
              </a:rPr>
              <a:t> de los pedidos se paga con tarjeta</a:t>
            </a:r>
            <a:endParaRPr lang="en-US" sz="1300" dirty="0"/>
          </a:p>
          <a:p>
            <a:pPr algn="l" marL="155956" indent="-155956">
              <a:lnSpc>
                <a:spcPts val="2015"/>
              </a:lnSpc>
              <a:buSzPct val="100000"/>
              <a:buChar char="•"/>
            </a:pPr>
            <a:r>
              <a:rPr lang="en-US" sz="1300" dirty="0">
                <a:solidFill>
                  <a:srgbClr val="1F2937"/>
                </a:solidFill>
                <a:latin typeface="Arial" pitchFamily="34" charset="0"/>
                <a:ea typeface="Arial" pitchFamily="34" charset="-122"/>
                <a:cs typeface="Arial" pitchFamily="34" charset="-120"/>
              </a:rPr>
              <a:t>Ticket promedio estable: </a:t>
            </a:r>
            <a:r>
              <a:rPr lang="en-US" sz="1300" b="1" dirty="0">
                <a:solidFill>
                  <a:srgbClr val="1F2937"/>
                </a:solidFill>
                <a:latin typeface="Arial" pitchFamily="34" charset="0"/>
                <a:ea typeface="Arial" pitchFamily="34" charset="-122"/>
                <a:cs typeface="Arial" pitchFamily="34" charset="-120"/>
              </a:rPr>
              <a:t>$11.160</a:t>
            </a:r>
            <a:endParaRPr lang="en-US" sz="1300" dirty="0"/>
          </a:p>
          <a:p>
            <a:pPr algn="l" marL="155956" indent="-155956">
              <a:lnSpc>
                <a:spcPts val="2015"/>
              </a:lnSpc>
              <a:buSzPct val="100000"/>
              <a:buChar char="•"/>
            </a:pPr>
            <a:r>
              <a:rPr lang="en-US" sz="1300" b="1" dirty="0">
                <a:solidFill>
                  <a:srgbClr val="1F2937"/>
                </a:solidFill>
                <a:latin typeface="Arial" pitchFamily="34" charset="0"/>
                <a:ea typeface="Arial" pitchFamily="34" charset="-122"/>
                <a:cs typeface="Arial" pitchFamily="34" charset="-120"/>
              </a:rPr>
              <a:t>Sábado</a:t>
            </a:r>
            <a:r>
              <a:rPr lang="en-US" sz="1300" dirty="0">
                <a:solidFill>
                  <a:srgbClr val="1F2937"/>
                </a:solidFill>
                <a:latin typeface="Arial" pitchFamily="34" charset="0"/>
                <a:ea typeface="Arial" pitchFamily="34" charset="-122"/>
                <a:cs typeface="Arial" pitchFamily="34" charset="-120"/>
              </a:rPr>
              <a:t> es el día con más pedidos</a:t>
            </a:r>
            <a:endParaRPr lang="en-US" sz="1300" dirty="0"/>
          </a:p>
        </p:txBody>
      </p:sp>
      <p:sp>
        <p:nvSpPr>
          <p:cNvPr id="27" name="Shape 25"/>
          <p:cNvSpPr/>
          <p:nvPr/>
        </p:nvSpPr>
        <p:spPr>
          <a:xfrm>
            <a:off x="8096250" y="4137661"/>
            <a:ext cx="0" cy="719455"/>
          </a:xfrm>
          <a:prstGeom prst="line">
            <a:avLst/>
          </a:prstGeom>
          <a:noFill/>
          <a:ln w="38100">
            <a:solidFill>
              <a:srgbClr val="E4572E"/>
            </a:solidFill>
            <a:prstDash val="solid"/>
          </a:ln>
        </p:spPr>
      </p:sp>
      <p:sp>
        <p:nvSpPr>
          <p:cNvPr id="28" name="Text 26"/>
          <p:cNvSpPr/>
          <p:nvPr/>
        </p:nvSpPr>
        <p:spPr>
          <a:xfrm>
            <a:off x="8239760" y="4163061"/>
            <a:ext cx="2972003" cy="69405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F2937"/>
                </a:solidFill>
                <a:latin typeface="Arial" pitchFamily="34" charset="0"/>
                <a:ea typeface="Arial" pitchFamily="34" charset="-122"/>
                <a:cs typeface="Arial" pitchFamily="34" charset="-120"/>
              </a:rPr>
              <a:t>Ventas planas con casi toda la base ya comprando: para crecer hay que sumar clientes</a:t>
            </a:r>
            <a:endParaRPr lang="en-US" sz="1300" dirty="0"/>
          </a:p>
        </p:txBody>
      </p:sp>
      <p:sp>
        <p:nvSpPr>
          <p:cNvPr id="29" name="Text 27"/>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30" name="Text 2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2851"/>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Los clientes vuelven, pero cada vez entran menos clientes nuevos</a:t>
            </a:r>
            <a:endParaRPr lang="en-US" sz="2400" dirty="0"/>
          </a:p>
        </p:txBody>
      </p:sp>
      <p:sp>
        <p:nvSpPr>
          <p:cNvPr id="3" name="Text 1"/>
          <p:cNvSpPr/>
          <p:nvPr/>
        </p:nvSpPr>
        <p:spPr>
          <a:xfrm>
            <a:off x="812800" y="1160252"/>
            <a:ext cx="52324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Clientes según cantidad de pedidos (may a oct 2026)</a:t>
            </a:r>
            <a:endParaRPr lang="en-US" sz="1300" dirty="0"/>
          </a:p>
        </p:txBody>
      </p:sp>
      <p:sp>
        <p:nvSpPr>
          <p:cNvPr id="4" name="Shape 2"/>
          <p:cNvSpPr/>
          <p:nvPr/>
        </p:nvSpPr>
        <p:spPr>
          <a:xfrm>
            <a:off x="812800" y="3366241"/>
            <a:ext cx="5080000" cy="0"/>
          </a:xfrm>
          <a:prstGeom prst="line">
            <a:avLst/>
          </a:prstGeom>
          <a:noFill/>
          <a:ln w="12700">
            <a:solidFill>
              <a:srgbClr val="9CA3AF"/>
            </a:solidFill>
            <a:prstDash val="solid"/>
          </a:ln>
        </p:spPr>
      </p:sp>
      <p:sp>
        <p:nvSpPr>
          <p:cNvPr id="5" name="Text 3"/>
          <p:cNvSpPr/>
          <p:nvPr/>
        </p:nvSpPr>
        <p:spPr>
          <a:xfrm>
            <a:off x="838200" y="290142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7</a:t>
            </a:r>
            <a:endParaRPr lang="en-US" sz="1200" dirty="0"/>
          </a:p>
        </p:txBody>
      </p:sp>
      <p:sp>
        <p:nvSpPr>
          <p:cNvPr id="6" name="Shape 4"/>
          <p:cNvSpPr/>
          <p:nvPr/>
        </p:nvSpPr>
        <p:spPr>
          <a:xfrm>
            <a:off x="863600" y="3152880"/>
            <a:ext cx="333375" cy="209550"/>
          </a:xfrm>
          <a:custGeom>
            <a:avLst/>
            <a:gdLst/>
            <a:ahLst/>
            <a:cxnLst/>
            <a:rect l="l" t="t" r="r" b="b"/>
            <a:pathLst>
              <a:path w="333375" h="209550">
                <a:moveTo>
                  <a:pt x="25400" y="0"/>
                </a:moveTo>
                <a:lnTo>
                  <a:pt x="307975" y="0"/>
                </a:lnTo>
                <a:arcTo hR="25400" wR="25400" stAng="16200000" swAng="5400000"/>
                <a:lnTo>
                  <a:pt x="333375" y="209550"/>
                </a:lnTo>
                <a:lnTo>
                  <a:pt x="0" y="209550"/>
                </a:lnTo>
                <a:lnTo>
                  <a:pt x="0" y="25400"/>
                </a:lnTo>
                <a:arcTo hR="25400" wR="25400" stAng="10800000" swAng="5400000"/>
                <a:close/>
              </a:path>
            </a:pathLst>
          </a:custGeom>
          <a:solidFill>
            <a:srgbClr val="9CA3AF"/>
          </a:solidFill>
          <a:ln/>
        </p:spPr>
      </p:sp>
      <p:sp>
        <p:nvSpPr>
          <p:cNvPr id="7" name="Text 5"/>
          <p:cNvSpPr/>
          <p:nvPr/>
        </p:nvSpPr>
        <p:spPr>
          <a:xfrm>
            <a:off x="1260475" y="231087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27</a:t>
            </a:r>
            <a:endParaRPr lang="en-US" sz="1200" dirty="0"/>
          </a:p>
        </p:txBody>
      </p:sp>
      <p:sp>
        <p:nvSpPr>
          <p:cNvPr id="8" name="Shape 6"/>
          <p:cNvSpPr/>
          <p:nvPr/>
        </p:nvSpPr>
        <p:spPr>
          <a:xfrm>
            <a:off x="1285875" y="2562330"/>
            <a:ext cx="333375" cy="800100"/>
          </a:xfrm>
          <a:custGeom>
            <a:avLst/>
            <a:gdLst/>
            <a:ahLst/>
            <a:cxnLst/>
            <a:rect l="l" t="t" r="r" b="b"/>
            <a:pathLst>
              <a:path w="333375" h="800100">
                <a:moveTo>
                  <a:pt x="25400" y="0"/>
                </a:moveTo>
                <a:lnTo>
                  <a:pt x="307975" y="0"/>
                </a:lnTo>
                <a:arcTo hR="25400" wR="25400" stAng="16200000" swAng="5400000"/>
                <a:lnTo>
                  <a:pt x="333375" y="800100"/>
                </a:lnTo>
                <a:lnTo>
                  <a:pt x="0" y="800100"/>
                </a:lnTo>
                <a:lnTo>
                  <a:pt x="0" y="25400"/>
                </a:lnTo>
                <a:arcTo hR="25400" wR="25400" stAng="10800000" swAng="5400000"/>
                <a:close/>
              </a:path>
            </a:pathLst>
          </a:custGeom>
          <a:solidFill>
            <a:srgbClr val="E4572E"/>
          </a:solidFill>
          <a:ln/>
        </p:spPr>
      </p:sp>
      <p:sp>
        <p:nvSpPr>
          <p:cNvPr id="9" name="Text 7"/>
          <p:cNvSpPr/>
          <p:nvPr/>
        </p:nvSpPr>
        <p:spPr>
          <a:xfrm>
            <a:off x="1682750" y="187272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42</a:t>
            </a:r>
            <a:endParaRPr lang="en-US" sz="1200" dirty="0"/>
          </a:p>
        </p:txBody>
      </p:sp>
      <p:sp>
        <p:nvSpPr>
          <p:cNvPr id="10" name="Shape 8"/>
          <p:cNvSpPr/>
          <p:nvPr/>
        </p:nvSpPr>
        <p:spPr>
          <a:xfrm>
            <a:off x="1708150" y="2124180"/>
            <a:ext cx="333375" cy="1238250"/>
          </a:xfrm>
          <a:custGeom>
            <a:avLst/>
            <a:gdLst/>
            <a:ahLst/>
            <a:cxnLst/>
            <a:rect l="l" t="t" r="r" b="b"/>
            <a:pathLst>
              <a:path w="333375" h="1238250">
                <a:moveTo>
                  <a:pt x="25400" y="0"/>
                </a:moveTo>
                <a:lnTo>
                  <a:pt x="307975" y="0"/>
                </a:lnTo>
                <a:arcTo hR="25400" wR="25400" stAng="16200000" swAng="5400000"/>
                <a:lnTo>
                  <a:pt x="333375" y="1238250"/>
                </a:lnTo>
                <a:lnTo>
                  <a:pt x="0" y="1238250"/>
                </a:lnTo>
                <a:lnTo>
                  <a:pt x="0" y="25400"/>
                </a:lnTo>
                <a:arcTo hR="25400" wR="25400" stAng="10800000" swAng="5400000"/>
                <a:close/>
              </a:path>
            </a:pathLst>
          </a:custGeom>
          <a:solidFill>
            <a:srgbClr val="E4572E"/>
          </a:solidFill>
          <a:ln/>
        </p:spPr>
      </p:sp>
      <p:sp>
        <p:nvSpPr>
          <p:cNvPr id="11" name="Text 9"/>
          <p:cNvSpPr/>
          <p:nvPr/>
        </p:nvSpPr>
        <p:spPr>
          <a:xfrm>
            <a:off x="2105025" y="148537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55</a:t>
            </a:r>
            <a:endParaRPr lang="en-US" sz="1200" dirty="0"/>
          </a:p>
        </p:txBody>
      </p:sp>
      <p:sp>
        <p:nvSpPr>
          <p:cNvPr id="12" name="Shape 10"/>
          <p:cNvSpPr/>
          <p:nvPr/>
        </p:nvSpPr>
        <p:spPr>
          <a:xfrm>
            <a:off x="2130425" y="1736830"/>
            <a:ext cx="333375" cy="1625600"/>
          </a:xfrm>
          <a:custGeom>
            <a:avLst/>
            <a:gdLst/>
            <a:ahLst/>
            <a:cxnLst/>
            <a:rect l="l" t="t" r="r" b="b"/>
            <a:pathLst>
              <a:path w="333375" h="1625600">
                <a:moveTo>
                  <a:pt x="25400" y="0"/>
                </a:moveTo>
                <a:lnTo>
                  <a:pt x="307975" y="0"/>
                </a:lnTo>
                <a:arcTo hR="25400" wR="25400" stAng="16200000" swAng="5400000"/>
                <a:lnTo>
                  <a:pt x="333375" y="1625600"/>
                </a:lnTo>
                <a:lnTo>
                  <a:pt x="0" y="1625600"/>
                </a:lnTo>
                <a:lnTo>
                  <a:pt x="0" y="25400"/>
                </a:lnTo>
                <a:arcTo hR="25400" wR="25400" stAng="10800000" swAng="5400000"/>
                <a:close/>
              </a:path>
            </a:pathLst>
          </a:custGeom>
          <a:solidFill>
            <a:srgbClr val="E4572E"/>
          </a:solidFill>
          <a:ln/>
        </p:spPr>
      </p:sp>
      <p:sp>
        <p:nvSpPr>
          <p:cNvPr id="13" name="Text 11"/>
          <p:cNvSpPr/>
          <p:nvPr/>
        </p:nvSpPr>
        <p:spPr>
          <a:xfrm>
            <a:off x="2527300" y="142822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57</a:t>
            </a:r>
            <a:endParaRPr lang="en-US" sz="1200" dirty="0"/>
          </a:p>
        </p:txBody>
      </p:sp>
      <p:sp>
        <p:nvSpPr>
          <p:cNvPr id="14" name="Shape 12"/>
          <p:cNvSpPr/>
          <p:nvPr/>
        </p:nvSpPr>
        <p:spPr>
          <a:xfrm>
            <a:off x="2552700" y="1679680"/>
            <a:ext cx="333375" cy="1682750"/>
          </a:xfrm>
          <a:custGeom>
            <a:avLst/>
            <a:gdLst/>
            <a:ahLst/>
            <a:cxnLst/>
            <a:rect l="l" t="t" r="r" b="b"/>
            <a:pathLst>
              <a:path w="333375" h="1682750">
                <a:moveTo>
                  <a:pt x="25400" y="0"/>
                </a:moveTo>
                <a:lnTo>
                  <a:pt x="307975" y="0"/>
                </a:lnTo>
                <a:arcTo hR="25400" wR="25400" stAng="16200000" swAng="5400000"/>
                <a:lnTo>
                  <a:pt x="333375" y="1682750"/>
                </a:lnTo>
                <a:lnTo>
                  <a:pt x="0" y="1682750"/>
                </a:lnTo>
                <a:lnTo>
                  <a:pt x="0" y="25400"/>
                </a:lnTo>
                <a:arcTo hR="25400" wR="25400" stAng="10800000" swAng="5400000"/>
                <a:close/>
              </a:path>
            </a:pathLst>
          </a:custGeom>
          <a:solidFill>
            <a:srgbClr val="E4572E"/>
          </a:solidFill>
          <a:ln/>
        </p:spPr>
      </p:sp>
      <p:sp>
        <p:nvSpPr>
          <p:cNvPr id="15" name="Text 13"/>
          <p:cNvSpPr/>
          <p:nvPr/>
        </p:nvSpPr>
        <p:spPr>
          <a:xfrm>
            <a:off x="2949575" y="184097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43</a:t>
            </a:r>
            <a:endParaRPr lang="en-US" sz="1200" dirty="0"/>
          </a:p>
        </p:txBody>
      </p:sp>
      <p:sp>
        <p:nvSpPr>
          <p:cNvPr id="16" name="Shape 14"/>
          <p:cNvSpPr/>
          <p:nvPr/>
        </p:nvSpPr>
        <p:spPr>
          <a:xfrm>
            <a:off x="2974975" y="2092430"/>
            <a:ext cx="333375" cy="1270000"/>
          </a:xfrm>
          <a:custGeom>
            <a:avLst/>
            <a:gdLst/>
            <a:ahLst/>
            <a:cxnLst/>
            <a:rect l="l" t="t" r="r" b="b"/>
            <a:pathLst>
              <a:path w="333375" h="1270000">
                <a:moveTo>
                  <a:pt x="25400" y="0"/>
                </a:moveTo>
                <a:lnTo>
                  <a:pt x="307975" y="0"/>
                </a:lnTo>
                <a:arcTo hR="25400" wR="25400" stAng="16200000" swAng="5400000"/>
                <a:lnTo>
                  <a:pt x="333375" y="1270000"/>
                </a:lnTo>
                <a:lnTo>
                  <a:pt x="0" y="1270000"/>
                </a:lnTo>
                <a:lnTo>
                  <a:pt x="0" y="25400"/>
                </a:lnTo>
                <a:arcTo hR="25400" wR="25400" stAng="10800000" swAng="5400000"/>
                <a:close/>
              </a:path>
            </a:pathLst>
          </a:custGeom>
          <a:solidFill>
            <a:srgbClr val="E4572E"/>
          </a:solidFill>
          <a:ln/>
        </p:spPr>
      </p:sp>
      <p:sp>
        <p:nvSpPr>
          <p:cNvPr id="17" name="Text 15"/>
          <p:cNvSpPr/>
          <p:nvPr/>
        </p:nvSpPr>
        <p:spPr>
          <a:xfrm>
            <a:off x="3371850" y="222197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30</a:t>
            </a:r>
            <a:endParaRPr lang="en-US" sz="1200" dirty="0"/>
          </a:p>
        </p:txBody>
      </p:sp>
      <p:sp>
        <p:nvSpPr>
          <p:cNvPr id="18" name="Shape 16"/>
          <p:cNvSpPr/>
          <p:nvPr/>
        </p:nvSpPr>
        <p:spPr>
          <a:xfrm>
            <a:off x="3397250" y="2473430"/>
            <a:ext cx="333375" cy="889000"/>
          </a:xfrm>
          <a:custGeom>
            <a:avLst/>
            <a:gdLst/>
            <a:ahLst/>
            <a:cxnLst/>
            <a:rect l="l" t="t" r="r" b="b"/>
            <a:pathLst>
              <a:path w="333375" h="889000">
                <a:moveTo>
                  <a:pt x="25400" y="0"/>
                </a:moveTo>
                <a:lnTo>
                  <a:pt x="307975" y="0"/>
                </a:lnTo>
                <a:arcTo hR="25400" wR="25400" stAng="16200000" swAng="5400000"/>
                <a:lnTo>
                  <a:pt x="333375" y="889000"/>
                </a:lnTo>
                <a:lnTo>
                  <a:pt x="0" y="889000"/>
                </a:lnTo>
                <a:lnTo>
                  <a:pt x="0" y="25400"/>
                </a:lnTo>
                <a:arcTo hR="25400" wR="25400" stAng="10800000" swAng="5400000"/>
                <a:close/>
              </a:path>
            </a:pathLst>
          </a:custGeom>
          <a:solidFill>
            <a:srgbClr val="E4572E"/>
          </a:solidFill>
          <a:ln/>
        </p:spPr>
      </p:sp>
      <p:sp>
        <p:nvSpPr>
          <p:cNvPr id="19" name="Text 17"/>
          <p:cNvSpPr/>
          <p:nvPr/>
        </p:nvSpPr>
        <p:spPr>
          <a:xfrm>
            <a:off x="3794125" y="246327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22</a:t>
            </a:r>
            <a:endParaRPr lang="en-US" sz="1200" dirty="0"/>
          </a:p>
        </p:txBody>
      </p:sp>
      <p:sp>
        <p:nvSpPr>
          <p:cNvPr id="20" name="Shape 18"/>
          <p:cNvSpPr/>
          <p:nvPr/>
        </p:nvSpPr>
        <p:spPr>
          <a:xfrm>
            <a:off x="3819525" y="2714730"/>
            <a:ext cx="333375" cy="647700"/>
          </a:xfrm>
          <a:custGeom>
            <a:avLst/>
            <a:gdLst/>
            <a:ahLst/>
            <a:cxnLst/>
            <a:rect l="l" t="t" r="r" b="b"/>
            <a:pathLst>
              <a:path w="333375" h="647700">
                <a:moveTo>
                  <a:pt x="25400" y="0"/>
                </a:moveTo>
                <a:lnTo>
                  <a:pt x="307975" y="0"/>
                </a:lnTo>
                <a:arcTo hR="25400" wR="25400" stAng="16200000" swAng="5400000"/>
                <a:lnTo>
                  <a:pt x="333375" y="647700"/>
                </a:lnTo>
                <a:lnTo>
                  <a:pt x="0" y="647700"/>
                </a:lnTo>
                <a:lnTo>
                  <a:pt x="0" y="25400"/>
                </a:lnTo>
                <a:arcTo hR="25400" wR="25400" stAng="10800000" swAng="5400000"/>
                <a:close/>
              </a:path>
            </a:pathLst>
          </a:custGeom>
          <a:solidFill>
            <a:srgbClr val="E4572E"/>
          </a:solidFill>
          <a:ln/>
        </p:spPr>
      </p:sp>
      <p:sp>
        <p:nvSpPr>
          <p:cNvPr id="21" name="Text 19"/>
          <p:cNvSpPr/>
          <p:nvPr/>
        </p:nvSpPr>
        <p:spPr>
          <a:xfrm>
            <a:off x="4216400" y="293317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6</a:t>
            </a:r>
            <a:endParaRPr lang="en-US" sz="1200" dirty="0"/>
          </a:p>
        </p:txBody>
      </p:sp>
      <p:sp>
        <p:nvSpPr>
          <p:cNvPr id="22" name="Shape 20"/>
          <p:cNvSpPr/>
          <p:nvPr/>
        </p:nvSpPr>
        <p:spPr>
          <a:xfrm>
            <a:off x="4241800" y="3184630"/>
            <a:ext cx="333375" cy="177800"/>
          </a:xfrm>
          <a:custGeom>
            <a:avLst/>
            <a:gdLst/>
            <a:ahLst/>
            <a:cxnLst/>
            <a:rect l="l" t="t" r="r" b="b"/>
            <a:pathLst>
              <a:path w="333375" h="177800">
                <a:moveTo>
                  <a:pt x="25400" y="0"/>
                </a:moveTo>
                <a:lnTo>
                  <a:pt x="307975" y="0"/>
                </a:lnTo>
                <a:arcTo hR="25400" wR="25400" stAng="16200000" swAng="5400000"/>
                <a:lnTo>
                  <a:pt x="333375" y="177800"/>
                </a:lnTo>
                <a:lnTo>
                  <a:pt x="0" y="177800"/>
                </a:lnTo>
                <a:lnTo>
                  <a:pt x="0" y="25400"/>
                </a:lnTo>
                <a:arcTo hR="25400" wR="25400" stAng="10800000" swAng="5400000"/>
                <a:close/>
              </a:path>
            </a:pathLst>
          </a:custGeom>
          <a:solidFill>
            <a:srgbClr val="E4572E"/>
          </a:solidFill>
          <a:ln/>
        </p:spPr>
      </p:sp>
      <p:sp>
        <p:nvSpPr>
          <p:cNvPr id="23" name="Text 21"/>
          <p:cNvSpPr/>
          <p:nvPr/>
        </p:nvSpPr>
        <p:spPr>
          <a:xfrm>
            <a:off x="4638675" y="299032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4</a:t>
            </a:r>
            <a:endParaRPr lang="en-US" sz="1200" dirty="0"/>
          </a:p>
        </p:txBody>
      </p:sp>
      <p:sp>
        <p:nvSpPr>
          <p:cNvPr id="24" name="Shape 22"/>
          <p:cNvSpPr/>
          <p:nvPr/>
        </p:nvSpPr>
        <p:spPr>
          <a:xfrm>
            <a:off x="4664075" y="3241780"/>
            <a:ext cx="333375" cy="120650"/>
          </a:xfrm>
          <a:custGeom>
            <a:avLst/>
            <a:gdLst/>
            <a:ahLst/>
            <a:cxnLst/>
            <a:rect l="l" t="t" r="r" b="b"/>
            <a:pathLst>
              <a:path w="333375" h="120650">
                <a:moveTo>
                  <a:pt x="25400" y="0"/>
                </a:moveTo>
                <a:lnTo>
                  <a:pt x="307975" y="0"/>
                </a:lnTo>
                <a:arcTo hR="25400" wR="25400" stAng="16200000" swAng="5400000"/>
                <a:lnTo>
                  <a:pt x="333375" y="120650"/>
                </a:lnTo>
                <a:lnTo>
                  <a:pt x="0" y="120650"/>
                </a:lnTo>
                <a:lnTo>
                  <a:pt x="0" y="25400"/>
                </a:lnTo>
                <a:arcTo hR="25400" wR="25400" stAng="10800000" swAng="5400000"/>
                <a:close/>
              </a:path>
            </a:pathLst>
          </a:custGeom>
          <a:solidFill>
            <a:srgbClr val="E4572E"/>
          </a:solidFill>
          <a:ln/>
        </p:spPr>
      </p:sp>
      <p:sp>
        <p:nvSpPr>
          <p:cNvPr id="25" name="Text 23"/>
          <p:cNvSpPr/>
          <p:nvPr/>
        </p:nvSpPr>
        <p:spPr>
          <a:xfrm>
            <a:off x="5060950" y="305382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2</a:t>
            </a:r>
            <a:endParaRPr lang="en-US" sz="1200" dirty="0"/>
          </a:p>
        </p:txBody>
      </p:sp>
      <p:sp>
        <p:nvSpPr>
          <p:cNvPr id="26" name="Shape 24"/>
          <p:cNvSpPr/>
          <p:nvPr/>
        </p:nvSpPr>
        <p:spPr>
          <a:xfrm>
            <a:off x="5086350" y="3305280"/>
            <a:ext cx="333375" cy="57150"/>
          </a:xfrm>
          <a:custGeom>
            <a:avLst/>
            <a:gdLst/>
            <a:ahLst/>
            <a:cxnLst/>
            <a:rect l="l" t="t" r="r" b="b"/>
            <a:pathLst>
              <a:path w="333375" h="57150">
                <a:moveTo>
                  <a:pt x="12700" y="0"/>
                </a:moveTo>
                <a:lnTo>
                  <a:pt x="320675" y="0"/>
                </a:lnTo>
                <a:arcTo hR="12700" wR="12700" stAng="16200000" swAng="5400000"/>
                <a:lnTo>
                  <a:pt x="333375" y="57150"/>
                </a:lnTo>
                <a:lnTo>
                  <a:pt x="0" y="57150"/>
                </a:lnTo>
                <a:lnTo>
                  <a:pt x="0" y="12700"/>
                </a:lnTo>
                <a:arcTo hR="12700" wR="12700" stAng="10800000" swAng="5400000"/>
                <a:close/>
              </a:path>
            </a:pathLst>
          </a:custGeom>
          <a:solidFill>
            <a:srgbClr val="E4572E"/>
          </a:solidFill>
          <a:ln/>
        </p:spPr>
      </p:sp>
      <p:sp>
        <p:nvSpPr>
          <p:cNvPr id="27" name="Text 25"/>
          <p:cNvSpPr/>
          <p:nvPr/>
        </p:nvSpPr>
        <p:spPr>
          <a:xfrm>
            <a:off x="5483225" y="3022070"/>
            <a:ext cx="38417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3</a:t>
            </a:r>
            <a:endParaRPr lang="en-US" sz="1200" dirty="0"/>
          </a:p>
        </p:txBody>
      </p:sp>
      <p:sp>
        <p:nvSpPr>
          <p:cNvPr id="28" name="Shape 26"/>
          <p:cNvSpPr/>
          <p:nvPr/>
        </p:nvSpPr>
        <p:spPr>
          <a:xfrm>
            <a:off x="5508625" y="3273530"/>
            <a:ext cx="333375" cy="88900"/>
          </a:xfrm>
          <a:custGeom>
            <a:avLst/>
            <a:gdLst/>
            <a:ahLst/>
            <a:cxnLst/>
            <a:rect l="l" t="t" r="r" b="b"/>
            <a:pathLst>
              <a:path w="333375" h="88900">
                <a:moveTo>
                  <a:pt x="12700" y="0"/>
                </a:moveTo>
                <a:lnTo>
                  <a:pt x="320675" y="0"/>
                </a:lnTo>
                <a:arcTo hR="12700" wR="12700" stAng="16200000" swAng="5400000"/>
                <a:lnTo>
                  <a:pt x="333375" y="88900"/>
                </a:lnTo>
                <a:lnTo>
                  <a:pt x="0" y="88900"/>
                </a:lnTo>
                <a:lnTo>
                  <a:pt x="0" y="12700"/>
                </a:lnTo>
                <a:arcTo hR="12700" wR="12700" stAng="10800000" swAng="5400000"/>
                <a:close/>
              </a:path>
            </a:pathLst>
          </a:custGeom>
          <a:solidFill>
            <a:srgbClr val="E4572E"/>
          </a:solidFill>
          <a:ln/>
        </p:spPr>
      </p:sp>
      <p:sp>
        <p:nvSpPr>
          <p:cNvPr id="29" name="Text 27"/>
          <p:cNvSpPr/>
          <p:nvPr/>
        </p:nvSpPr>
        <p:spPr>
          <a:xfrm>
            <a:off x="838200"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1</a:t>
            </a:r>
            <a:endParaRPr lang="en-US" sz="1200" dirty="0"/>
          </a:p>
        </p:txBody>
      </p:sp>
      <p:sp>
        <p:nvSpPr>
          <p:cNvPr id="30" name="Text 28"/>
          <p:cNvSpPr/>
          <p:nvPr/>
        </p:nvSpPr>
        <p:spPr>
          <a:xfrm>
            <a:off x="1260475"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2</a:t>
            </a:r>
            <a:endParaRPr lang="en-US" sz="1200" dirty="0"/>
          </a:p>
        </p:txBody>
      </p:sp>
      <p:sp>
        <p:nvSpPr>
          <p:cNvPr id="31" name="Text 29"/>
          <p:cNvSpPr/>
          <p:nvPr/>
        </p:nvSpPr>
        <p:spPr>
          <a:xfrm>
            <a:off x="1682750"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3</a:t>
            </a:r>
            <a:endParaRPr lang="en-US" sz="1200" dirty="0"/>
          </a:p>
        </p:txBody>
      </p:sp>
      <p:sp>
        <p:nvSpPr>
          <p:cNvPr id="32" name="Text 30"/>
          <p:cNvSpPr/>
          <p:nvPr/>
        </p:nvSpPr>
        <p:spPr>
          <a:xfrm>
            <a:off x="2105025"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4</a:t>
            </a:r>
            <a:endParaRPr lang="en-US" sz="1200" dirty="0"/>
          </a:p>
        </p:txBody>
      </p:sp>
      <p:sp>
        <p:nvSpPr>
          <p:cNvPr id="33" name="Text 31"/>
          <p:cNvSpPr/>
          <p:nvPr/>
        </p:nvSpPr>
        <p:spPr>
          <a:xfrm>
            <a:off x="2527300"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5</a:t>
            </a:r>
            <a:endParaRPr lang="en-US" sz="1200" dirty="0"/>
          </a:p>
        </p:txBody>
      </p:sp>
      <p:sp>
        <p:nvSpPr>
          <p:cNvPr id="34" name="Text 32"/>
          <p:cNvSpPr/>
          <p:nvPr/>
        </p:nvSpPr>
        <p:spPr>
          <a:xfrm>
            <a:off x="2949575"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6</a:t>
            </a:r>
            <a:endParaRPr lang="en-US" sz="1200" dirty="0"/>
          </a:p>
        </p:txBody>
      </p:sp>
      <p:sp>
        <p:nvSpPr>
          <p:cNvPr id="35" name="Text 33"/>
          <p:cNvSpPr/>
          <p:nvPr/>
        </p:nvSpPr>
        <p:spPr>
          <a:xfrm>
            <a:off x="3371850"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7</a:t>
            </a:r>
            <a:endParaRPr lang="en-US" sz="1200" dirty="0"/>
          </a:p>
        </p:txBody>
      </p:sp>
      <p:sp>
        <p:nvSpPr>
          <p:cNvPr id="36" name="Text 34"/>
          <p:cNvSpPr/>
          <p:nvPr/>
        </p:nvSpPr>
        <p:spPr>
          <a:xfrm>
            <a:off x="3794125"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8</a:t>
            </a:r>
            <a:endParaRPr lang="en-US" sz="1200" dirty="0"/>
          </a:p>
        </p:txBody>
      </p:sp>
      <p:sp>
        <p:nvSpPr>
          <p:cNvPr id="37" name="Text 35"/>
          <p:cNvSpPr/>
          <p:nvPr/>
        </p:nvSpPr>
        <p:spPr>
          <a:xfrm>
            <a:off x="4216400"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9</a:t>
            </a:r>
            <a:endParaRPr lang="en-US" sz="1200" dirty="0"/>
          </a:p>
        </p:txBody>
      </p:sp>
      <p:sp>
        <p:nvSpPr>
          <p:cNvPr id="38" name="Text 36"/>
          <p:cNvSpPr/>
          <p:nvPr/>
        </p:nvSpPr>
        <p:spPr>
          <a:xfrm>
            <a:off x="4638675"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10</a:t>
            </a:r>
            <a:endParaRPr lang="en-US" sz="1200" dirty="0"/>
          </a:p>
        </p:txBody>
      </p:sp>
      <p:sp>
        <p:nvSpPr>
          <p:cNvPr id="39" name="Text 37"/>
          <p:cNvSpPr/>
          <p:nvPr/>
        </p:nvSpPr>
        <p:spPr>
          <a:xfrm>
            <a:off x="5060950"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11</a:t>
            </a:r>
            <a:endParaRPr lang="en-US" sz="1200" dirty="0"/>
          </a:p>
        </p:txBody>
      </p:sp>
      <p:sp>
        <p:nvSpPr>
          <p:cNvPr id="40" name="Text 38"/>
          <p:cNvSpPr/>
          <p:nvPr/>
        </p:nvSpPr>
        <p:spPr>
          <a:xfrm>
            <a:off x="5483225" y="3448791"/>
            <a:ext cx="38417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12</a:t>
            </a:r>
            <a:endParaRPr lang="en-US" sz="1200" dirty="0"/>
          </a:p>
        </p:txBody>
      </p:sp>
      <p:sp>
        <p:nvSpPr>
          <p:cNvPr id="41" name="Text 39"/>
          <p:cNvSpPr/>
          <p:nvPr/>
        </p:nvSpPr>
        <p:spPr>
          <a:xfrm>
            <a:off x="812800" y="373835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Pedidos por cliente (en gris, los que pidieron una sola vez)</a:t>
            </a:r>
            <a:endParaRPr lang="en-US" sz="1200" dirty="0"/>
          </a:p>
        </p:txBody>
      </p:sp>
      <p:sp>
        <p:nvSpPr>
          <p:cNvPr id="42" name="Text 40"/>
          <p:cNvSpPr/>
          <p:nvPr/>
        </p:nvSpPr>
        <p:spPr>
          <a:xfrm>
            <a:off x="6299200" y="1160252"/>
            <a:ext cx="5232400" cy="249555"/>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1F2937"/>
                </a:solidFill>
                <a:latin typeface="Arial" pitchFamily="34" charset="0"/>
                <a:ea typeface="Arial" pitchFamily="34" charset="-122"/>
                <a:cs typeface="Arial" pitchFamily="34" charset="-120"/>
              </a:rPr>
              <a:t>Usuarios nuevos por mes, 2026</a:t>
            </a:r>
            <a:endParaRPr lang="en-US" sz="1268" dirty="0"/>
          </a:p>
        </p:txBody>
      </p:sp>
      <p:sp>
        <p:nvSpPr>
          <p:cNvPr id="43" name="Shape 41"/>
          <p:cNvSpPr/>
          <p:nvPr/>
        </p:nvSpPr>
        <p:spPr>
          <a:xfrm>
            <a:off x="6299200" y="3359255"/>
            <a:ext cx="5080000" cy="0"/>
          </a:xfrm>
          <a:prstGeom prst="line">
            <a:avLst/>
          </a:prstGeom>
          <a:noFill/>
          <a:ln w="12700">
            <a:solidFill>
              <a:srgbClr val="9CA3AF"/>
            </a:solidFill>
            <a:prstDash val="solid"/>
          </a:ln>
        </p:spPr>
      </p:sp>
      <p:sp>
        <p:nvSpPr>
          <p:cNvPr id="44" name="Text 42"/>
          <p:cNvSpPr/>
          <p:nvPr/>
        </p:nvSpPr>
        <p:spPr>
          <a:xfrm>
            <a:off x="6324600" y="1738737"/>
            <a:ext cx="50228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13</a:t>
            </a:r>
            <a:endParaRPr lang="en-US" sz="1200" dirty="0"/>
          </a:p>
        </p:txBody>
      </p:sp>
      <p:sp>
        <p:nvSpPr>
          <p:cNvPr id="45" name="Shape 43"/>
          <p:cNvSpPr/>
          <p:nvPr/>
        </p:nvSpPr>
        <p:spPr>
          <a:xfrm>
            <a:off x="6350000" y="1990195"/>
            <a:ext cx="451485" cy="1365250"/>
          </a:xfrm>
          <a:custGeom>
            <a:avLst/>
            <a:gdLst/>
            <a:ahLst/>
            <a:cxnLst/>
            <a:rect l="l" t="t" r="r" b="b"/>
            <a:pathLst>
              <a:path w="451485" h="1365250">
                <a:moveTo>
                  <a:pt x="25400" y="0"/>
                </a:moveTo>
                <a:lnTo>
                  <a:pt x="426085" y="0"/>
                </a:lnTo>
                <a:arcTo hR="25400" wR="25400" stAng="16200000" swAng="5400000"/>
                <a:lnTo>
                  <a:pt x="451485" y="1365250"/>
                </a:lnTo>
                <a:lnTo>
                  <a:pt x="0" y="1365250"/>
                </a:lnTo>
                <a:lnTo>
                  <a:pt x="0" y="25400"/>
                </a:lnTo>
                <a:arcTo hR="25400" wR="25400" stAng="10800000" swAng="5400000"/>
                <a:close/>
              </a:path>
            </a:pathLst>
          </a:custGeom>
          <a:solidFill>
            <a:srgbClr val="9CA3AF"/>
          </a:solidFill>
          <a:ln/>
        </p:spPr>
      </p:sp>
      <p:sp>
        <p:nvSpPr>
          <p:cNvPr id="46" name="Text 44"/>
          <p:cNvSpPr/>
          <p:nvPr/>
        </p:nvSpPr>
        <p:spPr>
          <a:xfrm>
            <a:off x="6890385" y="2049887"/>
            <a:ext cx="502391"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10</a:t>
            </a:r>
            <a:endParaRPr lang="en-US" sz="1200" dirty="0"/>
          </a:p>
        </p:txBody>
      </p:sp>
      <p:sp>
        <p:nvSpPr>
          <p:cNvPr id="47" name="Shape 45"/>
          <p:cNvSpPr/>
          <p:nvPr/>
        </p:nvSpPr>
        <p:spPr>
          <a:xfrm>
            <a:off x="6915785" y="2301345"/>
            <a:ext cx="451591" cy="1054100"/>
          </a:xfrm>
          <a:custGeom>
            <a:avLst/>
            <a:gdLst/>
            <a:ahLst/>
            <a:cxnLst/>
            <a:rect l="l" t="t" r="r" b="b"/>
            <a:pathLst>
              <a:path w="451591" h="1054100">
                <a:moveTo>
                  <a:pt x="25400" y="0"/>
                </a:moveTo>
                <a:lnTo>
                  <a:pt x="426191" y="0"/>
                </a:lnTo>
                <a:arcTo hR="25400" wR="25400" stAng="16200000" swAng="5400000"/>
                <a:lnTo>
                  <a:pt x="451591" y="1054100"/>
                </a:lnTo>
                <a:lnTo>
                  <a:pt x="0" y="1054100"/>
                </a:lnTo>
                <a:lnTo>
                  <a:pt x="0" y="25400"/>
                </a:lnTo>
                <a:arcTo hR="25400" wR="25400" stAng="10800000" swAng="5400000"/>
                <a:close/>
              </a:path>
            </a:pathLst>
          </a:custGeom>
          <a:solidFill>
            <a:srgbClr val="9CA3AF"/>
          </a:solidFill>
          <a:ln/>
        </p:spPr>
      </p:sp>
      <p:sp>
        <p:nvSpPr>
          <p:cNvPr id="48" name="Text 46"/>
          <p:cNvSpPr/>
          <p:nvPr/>
        </p:nvSpPr>
        <p:spPr>
          <a:xfrm>
            <a:off x="7456276" y="1529187"/>
            <a:ext cx="50228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15</a:t>
            </a:r>
            <a:endParaRPr lang="en-US" sz="1200" dirty="0"/>
          </a:p>
        </p:txBody>
      </p:sp>
      <p:sp>
        <p:nvSpPr>
          <p:cNvPr id="49" name="Shape 47"/>
          <p:cNvSpPr/>
          <p:nvPr/>
        </p:nvSpPr>
        <p:spPr>
          <a:xfrm>
            <a:off x="7481676" y="1780645"/>
            <a:ext cx="451485" cy="1574800"/>
          </a:xfrm>
          <a:custGeom>
            <a:avLst/>
            <a:gdLst/>
            <a:ahLst/>
            <a:cxnLst/>
            <a:rect l="l" t="t" r="r" b="b"/>
            <a:pathLst>
              <a:path w="451485" h="1574800">
                <a:moveTo>
                  <a:pt x="25400" y="0"/>
                </a:moveTo>
                <a:lnTo>
                  <a:pt x="426085" y="0"/>
                </a:lnTo>
                <a:arcTo hR="25400" wR="25400" stAng="16200000" swAng="5400000"/>
                <a:lnTo>
                  <a:pt x="451485" y="1574800"/>
                </a:lnTo>
                <a:lnTo>
                  <a:pt x="0" y="1574800"/>
                </a:lnTo>
                <a:lnTo>
                  <a:pt x="0" y="25400"/>
                </a:lnTo>
                <a:arcTo hR="25400" wR="25400" stAng="10800000" swAng="5400000"/>
                <a:close/>
              </a:path>
            </a:pathLst>
          </a:custGeom>
          <a:solidFill>
            <a:srgbClr val="9CA3AF"/>
          </a:solidFill>
          <a:ln/>
        </p:spPr>
      </p:sp>
      <p:sp>
        <p:nvSpPr>
          <p:cNvPr id="50" name="Text 48"/>
          <p:cNvSpPr/>
          <p:nvPr/>
        </p:nvSpPr>
        <p:spPr>
          <a:xfrm>
            <a:off x="8022061" y="1421237"/>
            <a:ext cx="502391"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16</a:t>
            </a:r>
            <a:endParaRPr lang="en-US" sz="1200" dirty="0"/>
          </a:p>
        </p:txBody>
      </p:sp>
      <p:sp>
        <p:nvSpPr>
          <p:cNvPr id="51" name="Shape 49"/>
          <p:cNvSpPr/>
          <p:nvPr/>
        </p:nvSpPr>
        <p:spPr>
          <a:xfrm>
            <a:off x="8047461" y="1672695"/>
            <a:ext cx="451591" cy="1682750"/>
          </a:xfrm>
          <a:custGeom>
            <a:avLst/>
            <a:gdLst/>
            <a:ahLst/>
            <a:cxnLst/>
            <a:rect l="l" t="t" r="r" b="b"/>
            <a:pathLst>
              <a:path w="451591" h="1682750">
                <a:moveTo>
                  <a:pt x="25400" y="0"/>
                </a:moveTo>
                <a:lnTo>
                  <a:pt x="426191" y="0"/>
                </a:lnTo>
                <a:arcTo hR="25400" wR="25400" stAng="16200000" swAng="5400000"/>
                <a:lnTo>
                  <a:pt x="451591" y="1682750"/>
                </a:lnTo>
                <a:lnTo>
                  <a:pt x="0" y="1682750"/>
                </a:lnTo>
                <a:lnTo>
                  <a:pt x="0" y="25400"/>
                </a:lnTo>
                <a:arcTo hR="25400" wR="25400" stAng="10800000" swAng="5400000"/>
                <a:close/>
              </a:path>
            </a:pathLst>
          </a:custGeom>
          <a:solidFill>
            <a:srgbClr val="9CA3AF"/>
          </a:solidFill>
          <a:ln/>
        </p:spPr>
      </p:sp>
      <p:sp>
        <p:nvSpPr>
          <p:cNvPr id="52" name="Text 50"/>
          <p:cNvSpPr/>
          <p:nvPr/>
        </p:nvSpPr>
        <p:spPr>
          <a:xfrm>
            <a:off x="8587952" y="1529187"/>
            <a:ext cx="50228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2937"/>
                </a:solidFill>
                <a:latin typeface="Arial" pitchFamily="34" charset="0"/>
                <a:ea typeface="Arial" pitchFamily="34" charset="-122"/>
                <a:cs typeface="Arial" pitchFamily="34" charset="-120"/>
              </a:rPr>
              <a:t>15</a:t>
            </a:r>
            <a:endParaRPr lang="en-US" sz="1200" dirty="0"/>
          </a:p>
        </p:txBody>
      </p:sp>
      <p:sp>
        <p:nvSpPr>
          <p:cNvPr id="53" name="Shape 51"/>
          <p:cNvSpPr/>
          <p:nvPr/>
        </p:nvSpPr>
        <p:spPr>
          <a:xfrm>
            <a:off x="8613352" y="1780645"/>
            <a:ext cx="451485" cy="1574800"/>
          </a:xfrm>
          <a:custGeom>
            <a:avLst/>
            <a:gdLst/>
            <a:ahLst/>
            <a:cxnLst/>
            <a:rect l="l" t="t" r="r" b="b"/>
            <a:pathLst>
              <a:path w="451485" h="1574800">
                <a:moveTo>
                  <a:pt x="25400" y="0"/>
                </a:moveTo>
                <a:lnTo>
                  <a:pt x="426085" y="0"/>
                </a:lnTo>
                <a:arcTo hR="25400" wR="25400" stAng="16200000" swAng="5400000"/>
                <a:lnTo>
                  <a:pt x="451485" y="1574800"/>
                </a:lnTo>
                <a:lnTo>
                  <a:pt x="0" y="1574800"/>
                </a:lnTo>
                <a:lnTo>
                  <a:pt x="0" y="25400"/>
                </a:lnTo>
                <a:arcTo hR="25400" wR="25400" stAng="10800000" swAng="5400000"/>
                <a:close/>
              </a:path>
            </a:pathLst>
          </a:custGeom>
          <a:solidFill>
            <a:srgbClr val="9CA3AF"/>
          </a:solidFill>
          <a:ln/>
        </p:spPr>
      </p:sp>
      <p:sp>
        <p:nvSpPr>
          <p:cNvPr id="54" name="Text 52"/>
          <p:cNvSpPr/>
          <p:nvPr/>
        </p:nvSpPr>
        <p:spPr>
          <a:xfrm>
            <a:off x="9153737" y="1948287"/>
            <a:ext cx="502391"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2410C"/>
                </a:solidFill>
                <a:latin typeface="Arial" pitchFamily="34" charset="0"/>
                <a:ea typeface="Arial" pitchFamily="34" charset="-122"/>
                <a:cs typeface="Arial" pitchFamily="34" charset="-120"/>
              </a:rPr>
              <a:t>11</a:t>
            </a:r>
            <a:endParaRPr lang="en-US" sz="1200" dirty="0"/>
          </a:p>
        </p:txBody>
      </p:sp>
      <p:sp>
        <p:nvSpPr>
          <p:cNvPr id="55" name="Shape 53"/>
          <p:cNvSpPr/>
          <p:nvPr/>
        </p:nvSpPr>
        <p:spPr>
          <a:xfrm>
            <a:off x="9179137" y="2199745"/>
            <a:ext cx="451591" cy="1155700"/>
          </a:xfrm>
          <a:custGeom>
            <a:avLst/>
            <a:gdLst/>
            <a:ahLst/>
            <a:cxnLst/>
            <a:rect l="l" t="t" r="r" b="b"/>
            <a:pathLst>
              <a:path w="451591" h="1155700">
                <a:moveTo>
                  <a:pt x="25400" y="0"/>
                </a:moveTo>
                <a:lnTo>
                  <a:pt x="426191" y="0"/>
                </a:lnTo>
                <a:arcTo hR="25400" wR="25400" stAng="16200000" swAng="5400000"/>
                <a:lnTo>
                  <a:pt x="451591" y="1155700"/>
                </a:lnTo>
                <a:lnTo>
                  <a:pt x="0" y="1155700"/>
                </a:lnTo>
                <a:lnTo>
                  <a:pt x="0" y="25400"/>
                </a:lnTo>
                <a:arcTo hR="25400" wR="25400" stAng="10800000" swAng="5400000"/>
                <a:close/>
              </a:path>
            </a:pathLst>
          </a:custGeom>
          <a:solidFill>
            <a:srgbClr val="C2410C"/>
          </a:solidFill>
          <a:ln/>
        </p:spPr>
      </p:sp>
      <p:sp>
        <p:nvSpPr>
          <p:cNvPr id="56" name="Text 54"/>
          <p:cNvSpPr/>
          <p:nvPr/>
        </p:nvSpPr>
        <p:spPr>
          <a:xfrm>
            <a:off x="9719628" y="2265787"/>
            <a:ext cx="502391"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2410C"/>
                </a:solidFill>
                <a:latin typeface="Arial" pitchFamily="34" charset="0"/>
                <a:ea typeface="Arial" pitchFamily="34" charset="-122"/>
                <a:cs typeface="Arial" pitchFamily="34" charset="-120"/>
              </a:rPr>
              <a:t>8</a:t>
            </a:r>
            <a:endParaRPr lang="en-US" sz="1200" dirty="0"/>
          </a:p>
        </p:txBody>
      </p:sp>
      <p:sp>
        <p:nvSpPr>
          <p:cNvPr id="57" name="Shape 55"/>
          <p:cNvSpPr/>
          <p:nvPr/>
        </p:nvSpPr>
        <p:spPr>
          <a:xfrm>
            <a:off x="9745028" y="2517245"/>
            <a:ext cx="451591" cy="838200"/>
          </a:xfrm>
          <a:custGeom>
            <a:avLst/>
            <a:gdLst/>
            <a:ahLst/>
            <a:cxnLst/>
            <a:rect l="l" t="t" r="r" b="b"/>
            <a:pathLst>
              <a:path w="451591" h="838200">
                <a:moveTo>
                  <a:pt x="25400" y="0"/>
                </a:moveTo>
                <a:lnTo>
                  <a:pt x="426191" y="0"/>
                </a:lnTo>
                <a:arcTo hR="25400" wR="25400" stAng="16200000" swAng="5400000"/>
                <a:lnTo>
                  <a:pt x="451591" y="838200"/>
                </a:lnTo>
                <a:lnTo>
                  <a:pt x="0" y="838200"/>
                </a:lnTo>
                <a:lnTo>
                  <a:pt x="0" y="25400"/>
                </a:lnTo>
                <a:arcTo hR="25400" wR="25400" stAng="10800000" swAng="5400000"/>
                <a:close/>
              </a:path>
            </a:pathLst>
          </a:custGeom>
          <a:solidFill>
            <a:srgbClr val="C2410C"/>
          </a:solidFill>
          <a:ln/>
        </p:spPr>
      </p:sp>
      <p:sp>
        <p:nvSpPr>
          <p:cNvPr id="58" name="Text 56"/>
          <p:cNvSpPr/>
          <p:nvPr/>
        </p:nvSpPr>
        <p:spPr>
          <a:xfrm>
            <a:off x="10285518" y="2475337"/>
            <a:ext cx="502391"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2410C"/>
                </a:solidFill>
                <a:latin typeface="Arial" pitchFamily="34" charset="0"/>
                <a:ea typeface="Arial" pitchFamily="34" charset="-122"/>
                <a:cs typeface="Arial" pitchFamily="34" charset="-120"/>
              </a:rPr>
              <a:t>6</a:t>
            </a:r>
            <a:endParaRPr lang="en-US" sz="1200" dirty="0"/>
          </a:p>
        </p:txBody>
      </p:sp>
      <p:sp>
        <p:nvSpPr>
          <p:cNvPr id="59" name="Shape 57"/>
          <p:cNvSpPr/>
          <p:nvPr/>
        </p:nvSpPr>
        <p:spPr>
          <a:xfrm>
            <a:off x="10310918" y="2726795"/>
            <a:ext cx="451591" cy="628650"/>
          </a:xfrm>
          <a:custGeom>
            <a:avLst/>
            <a:gdLst/>
            <a:ahLst/>
            <a:cxnLst/>
            <a:rect l="l" t="t" r="r" b="b"/>
            <a:pathLst>
              <a:path w="451591" h="628650">
                <a:moveTo>
                  <a:pt x="25400" y="0"/>
                </a:moveTo>
                <a:lnTo>
                  <a:pt x="426191" y="0"/>
                </a:lnTo>
                <a:arcTo hR="25400" wR="25400" stAng="16200000" swAng="5400000"/>
                <a:lnTo>
                  <a:pt x="451591" y="628650"/>
                </a:lnTo>
                <a:lnTo>
                  <a:pt x="0" y="628650"/>
                </a:lnTo>
                <a:lnTo>
                  <a:pt x="0" y="25400"/>
                </a:lnTo>
                <a:arcTo hR="25400" wR="25400" stAng="10800000" swAng="5400000"/>
                <a:close/>
              </a:path>
            </a:pathLst>
          </a:custGeom>
          <a:solidFill>
            <a:srgbClr val="C2410C"/>
          </a:solidFill>
          <a:ln/>
        </p:spPr>
      </p:sp>
      <p:sp>
        <p:nvSpPr>
          <p:cNvPr id="60" name="Text 58"/>
          <p:cNvSpPr/>
          <p:nvPr/>
        </p:nvSpPr>
        <p:spPr>
          <a:xfrm>
            <a:off x="10851409" y="2049887"/>
            <a:ext cx="502391"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C2410C"/>
                </a:solidFill>
                <a:latin typeface="Arial" pitchFamily="34" charset="0"/>
                <a:ea typeface="Arial" pitchFamily="34" charset="-122"/>
                <a:cs typeface="Arial" pitchFamily="34" charset="-120"/>
              </a:rPr>
              <a:t>10</a:t>
            </a:r>
            <a:endParaRPr lang="en-US" sz="1200" dirty="0"/>
          </a:p>
        </p:txBody>
      </p:sp>
      <p:sp>
        <p:nvSpPr>
          <p:cNvPr id="61" name="Shape 59"/>
          <p:cNvSpPr/>
          <p:nvPr/>
        </p:nvSpPr>
        <p:spPr>
          <a:xfrm>
            <a:off x="10876809" y="2301345"/>
            <a:ext cx="451591" cy="1054100"/>
          </a:xfrm>
          <a:custGeom>
            <a:avLst/>
            <a:gdLst/>
            <a:ahLst/>
            <a:cxnLst/>
            <a:rect l="l" t="t" r="r" b="b"/>
            <a:pathLst>
              <a:path w="451591" h="1054100">
                <a:moveTo>
                  <a:pt x="25400" y="0"/>
                </a:moveTo>
                <a:lnTo>
                  <a:pt x="426191" y="0"/>
                </a:lnTo>
                <a:arcTo hR="25400" wR="25400" stAng="16200000" swAng="5400000"/>
                <a:lnTo>
                  <a:pt x="451591" y="1054100"/>
                </a:lnTo>
                <a:lnTo>
                  <a:pt x="0" y="1054100"/>
                </a:lnTo>
                <a:lnTo>
                  <a:pt x="0" y="25400"/>
                </a:lnTo>
                <a:arcTo hR="25400" wR="25400" stAng="10800000" swAng="5400000"/>
                <a:close/>
              </a:path>
            </a:pathLst>
          </a:custGeom>
          <a:solidFill>
            <a:srgbClr val="C2410C"/>
          </a:solidFill>
          <a:ln/>
        </p:spPr>
      </p:sp>
      <p:sp>
        <p:nvSpPr>
          <p:cNvPr id="62" name="Text 60"/>
          <p:cNvSpPr/>
          <p:nvPr/>
        </p:nvSpPr>
        <p:spPr>
          <a:xfrm>
            <a:off x="6324600" y="3441805"/>
            <a:ext cx="502285"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Ene</a:t>
            </a:r>
            <a:endParaRPr lang="en-US" sz="1200" dirty="0"/>
          </a:p>
        </p:txBody>
      </p:sp>
      <p:sp>
        <p:nvSpPr>
          <p:cNvPr id="63" name="Text 61"/>
          <p:cNvSpPr/>
          <p:nvPr/>
        </p:nvSpPr>
        <p:spPr>
          <a:xfrm>
            <a:off x="6890385" y="3441805"/>
            <a:ext cx="502391"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Feb</a:t>
            </a:r>
            <a:endParaRPr lang="en-US" sz="1200" dirty="0"/>
          </a:p>
        </p:txBody>
      </p:sp>
      <p:sp>
        <p:nvSpPr>
          <p:cNvPr id="64" name="Text 62"/>
          <p:cNvSpPr/>
          <p:nvPr/>
        </p:nvSpPr>
        <p:spPr>
          <a:xfrm>
            <a:off x="7456276" y="3441805"/>
            <a:ext cx="502285"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Mar</a:t>
            </a:r>
            <a:endParaRPr lang="en-US" sz="1200" dirty="0"/>
          </a:p>
        </p:txBody>
      </p:sp>
      <p:sp>
        <p:nvSpPr>
          <p:cNvPr id="65" name="Text 63"/>
          <p:cNvSpPr/>
          <p:nvPr/>
        </p:nvSpPr>
        <p:spPr>
          <a:xfrm>
            <a:off x="8022061" y="3441805"/>
            <a:ext cx="502391"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Abr</a:t>
            </a:r>
            <a:endParaRPr lang="en-US" sz="1200" dirty="0"/>
          </a:p>
        </p:txBody>
      </p:sp>
      <p:sp>
        <p:nvSpPr>
          <p:cNvPr id="66" name="Text 64"/>
          <p:cNvSpPr/>
          <p:nvPr/>
        </p:nvSpPr>
        <p:spPr>
          <a:xfrm>
            <a:off x="8587952" y="3441805"/>
            <a:ext cx="502285"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May</a:t>
            </a:r>
            <a:endParaRPr lang="en-US" sz="1200" dirty="0"/>
          </a:p>
        </p:txBody>
      </p:sp>
      <p:sp>
        <p:nvSpPr>
          <p:cNvPr id="67" name="Text 65"/>
          <p:cNvSpPr/>
          <p:nvPr/>
        </p:nvSpPr>
        <p:spPr>
          <a:xfrm>
            <a:off x="9153737" y="3441805"/>
            <a:ext cx="502391"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Jun</a:t>
            </a:r>
            <a:endParaRPr lang="en-US" sz="1200" dirty="0"/>
          </a:p>
        </p:txBody>
      </p:sp>
      <p:sp>
        <p:nvSpPr>
          <p:cNvPr id="68" name="Text 66"/>
          <p:cNvSpPr/>
          <p:nvPr/>
        </p:nvSpPr>
        <p:spPr>
          <a:xfrm>
            <a:off x="9719628" y="3441805"/>
            <a:ext cx="502391"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Jul</a:t>
            </a:r>
            <a:endParaRPr lang="en-US" sz="1200" dirty="0"/>
          </a:p>
        </p:txBody>
      </p:sp>
      <p:sp>
        <p:nvSpPr>
          <p:cNvPr id="69" name="Text 67"/>
          <p:cNvSpPr/>
          <p:nvPr/>
        </p:nvSpPr>
        <p:spPr>
          <a:xfrm>
            <a:off x="10285518" y="3441805"/>
            <a:ext cx="502391"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Ago</a:t>
            </a:r>
            <a:endParaRPr lang="en-US" sz="1200" dirty="0"/>
          </a:p>
        </p:txBody>
      </p:sp>
      <p:sp>
        <p:nvSpPr>
          <p:cNvPr id="70" name="Text 68"/>
          <p:cNvSpPr/>
          <p:nvPr/>
        </p:nvSpPr>
        <p:spPr>
          <a:xfrm>
            <a:off x="10851409" y="3441805"/>
            <a:ext cx="502391" cy="23241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B5563"/>
                </a:solidFill>
                <a:latin typeface="Arial" pitchFamily="34" charset="0"/>
                <a:ea typeface="Arial" pitchFamily="34" charset="-122"/>
                <a:cs typeface="Arial" pitchFamily="34" charset="-120"/>
              </a:rPr>
              <a:t>Sep</a:t>
            </a:r>
            <a:endParaRPr lang="en-US" sz="1200" dirty="0"/>
          </a:p>
        </p:txBody>
      </p:sp>
      <p:sp>
        <p:nvSpPr>
          <p:cNvPr id="71" name="Shape 69"/>
          <p:cNvSpPr/>
          <p:nvPr/>
        </p:nvSpPr>
        <p:spPr>
          <a:xfrm>
            <a:off x="6299200" y="3862071"/>
            <a:ext cx="139700" cy="139700"/>
          </a:xfrm>
          <a:prstGeom prst="roundRect">
            <a:avLst>
              <a:gd name="adj" fmla="val 18182"/>
            </a:avLst>
          </a:prstGeom>
          <a:solidFill>
            <a:srgbClr val="9CA3AF"/>
          </a:solidFill>
          <a:ln/>
        </p:spPr>
      </p:sp>
      <p:sp>
        <p:nvSpPr>
          <p:cNvPr id="72" name="Text 70"/>
          <p:cNvSpPr/>
          <p:nvPr/>
        </p:nvSpPr>
        <p:spPr>
          <a:xfrm>
            <a:off x="6616700" y="3718666"/>
            <a:ext cx="149013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Ene a may: 13,8 al mes</a:t>
            </a:r>
            <a:endParaRPr lang="en-US" sz="1200" dirty="0"/>
          </a:p>
        </p:txBody>
      </p:sp>
      <p:sp>
        <p:nvSpPr>
          <p:cNvPr id="73" name="Shape 71"/>
          <p:cNvSpPr/>
          <p:nvPr/>
        </p:nvSpPr>
        <p:spPr>
          <a:xfrm>
            <a:off x="8233833" y="3862071"/>
            <a:ext cx="139700" cy="139700"/>
          </a:xfrm>
          <a:prstGeom prst="roundRect">
            <a:avLst>
              <a:gd name="adj" fmla="val 18182"/>
            </a:avLst>
          </a:prstGeom>
          <a:solidFill>
            <a:srgbClr val="C2410C"/>
          </a:solidFill>
          <a:ln/>
        </p:spPr>
      </p:sp>
      <p:sp>
        <p:nvSpPr>
          <p:cNvPr id="74" name="Text 72"/>
          <p:cNvSpPr/>
          <p:nvPr/>
        </p:nvSpPr>
        <p:spPr>
          <a:xfrm>
            <a:off x="8551333" y="3718666"/>
            <a:ext cx="13530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Jun a sep: 8,8 al mes</a:t>
            </a:r>
            <a:endParaRPr lang="en-US" sz="1200" dirty="0"/>
          </a:p>
        </p:txBody>
      </p:sp>
      <p:sp>
        <p:nvSpPr>
          <p:cNvPr id="75" name="Text 73"/>
          <p:cNvSpPr/>
          <p:nvPr/>
        </p:nvSpPr>
        <p:spPr>
          <a:xfrm>
            <a:off x="10031413" y="3718666"/>
            <a:ext cx="139858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 Octubre sin registros</a:t>
            </a:r>
            <a:endParaRPr lang="en-US" sz="1200" dirty="0"/>
          </a:p>
        </p:txBody>
      </p:sp>
      <p:sp>
        <p:nvSpPr>
          <p:cNvPr id="76" name="Shape 74"/>
          <p:cNvSpPr/>
          <p:nvPr/>
        </p:nvSpPr>
        <p:spPr>
          <a:xfrm>
            <a:off x="812800" y="4342129"/>
            <a:ext cx="2527300" cy="1092729"/>
          </a:xfrm>
          <a:prstGeom prst="roundRect">
            <a:avLst>
              <a:gd name="adj" fmla="val 6973"/>
            </a:avLst>
          </a:prstGeom>
          <a:solidFill>
            <a:srgbClr val="F3F4F6"/>
          </a:solidFill>
          <a:ln/>
        </p:spPr>
      </p:sp>
      <p:sp>
        <p:nvSpPr>
          <p:cNvPr id="77" name="Text 75"/>
          <p:cNvSpPr/>
          <p:nvPr/>
        </p:nvSpPr>
        <p:spPr>
          <a:xfrm>
            <a:off x="990600" y="4494529"/>
            <a:ext cx="2236851"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F2937"/>
                </a:solidFill>
                <a:latin typeface="Arial" pitchFamily="34" charset="0"/>
                <a:ea typeface="Arial" pitchFamily="34" charset="-122"/>
                <a:cs typeface="Arial" pitchFamily="34" charset="-120"/>
              </a:rPr>
              <a:t>97,7%</a:t>
            </a:r>
            <a:endParaRPr lang="en-US" sz="2600" dirty="0"/>
          </a:p>
        </p:txBody>
      </p:sp>
      <p:sp>
        <p:nvSpPr>
          <p:cNvPr id="78" name="Text 76"/>
          <p:cNvSpPr/>
          <p:nvPr/>
        </p:nvSpPr>
        <p:spPr>
          <a:xfrm>
            <a:off x="990600" y="4895850"/>
            <a:ext cx="2236851"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de los clientes volvió a pedir</a:t>
            </a:r>
            <a:endParaRPr lang="en-US" sz="1200" dirty="0"/>
          </a:p>
        </p:txBody>
      </p:sp>
      <p:sp>
        <p:nvSpPr>
          <p:cNvPr id="79" name="Shape 77"/>
          <p:cNvSpPr/>
          <p:nvPr/>
        </p:nvSpPr>
        <p:spPr>
          <a:xfrm>
            <a:off x="3492500" y="4342129"/>
            <a:ext cx="2527300" cy="1092729"/>
          </a:xfrm>
          <a:prstGeom prst="roundRect">
            <a:avLst>
              <a:gd name="adj" fmla="val 6973"/>
            </a:avLst>
          </a:prstGeom>
          <a:solidFill>
            <a:srgbClr val="F3F4F6"/>
          </a:solidFill>
          <a:ln/>
        </p:spPr>
      </p:sp>
      <p:sp>
        <p:nvSpPr>
          <p:cNvPr id="80" name="Text 78"/>
          <p:cNvSpPr/>
          <p:nvPr/>
        </p:nvSpPr>
        <p:spPr>
          <a:xfrm>
            <a:off x="3670300" y="4494529"/>
            <a:ext cx="2236851" cy="383963"/>
          </a:xfrm>
          <a:prstGeom prst="rect">
            <a:avLst/>
          </a:prstGeom>
          <a:noFill/>
          <a:ln/>
        </p:spPr>
        <p:txBody>
          <a:bodyPr wrap="square" lIns="0" tIns="0" rIns="0" bIns="0" rtlCol="0" anchor="t">
            <a:normAutofit/>
          </a:bodyPr>
          <a:lstStyle/>
          <a:p>
            <a:pPr algn="l" indent="0" marL="0">
              <a:lnSpc>
                <a:spcPts val="2824"/>
              </a:lnSpc>
              <a:buNone/>
            </a:pPr>
            <a:r>
              <a:rPr lang="en-US" sz="2568" b="1" dirty="0">
                <a:solidFill>
                  <a:srgbClr val="1F2937"/>
                </a:solidFill>
                <a:latin typeface="Arial" pitchFamily="34" charset="0"/>
                <a:ea typeface="Arial" pitchFamily="34" charset="-122"/>
                <a:cs typeface="Arial" pitchFamily="34" charset="-120"/>
              </a:rPr>
              <a:t>5 pedidos</a:t>
            </a:r>
            <a:endParaRPr lang="en-US" sz="2568" dirty="0"/>
          </a:p>
        </p:txBody>
      </p:sp>
      <p:sp>
        <p:nvSpPr>
          <p:cNvPr id="81" name="Text 79"/>
          <p:cNvSpPr/>
          <p:nvPr/>
        </p:nvSpPr>
        <p:spPr>
          <a:xfrm>
            <a:off x="3670300" y="4891193"/>
            <a:ext cx="2236851" cy="416666"/>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mediana por cliente, uno cada 19 días</a:t>
            </a:r>
            <a:endParaRPr lang="en-US" sz="1200" dirty="0"/>
          </a:p>
        </p:txBody>
      </p:sp>
      <p:sp>
        <p:nvSpPr>
          <p:cNvPr id="82" name="Shape 80"/>
          <p:cNvSpPr/>
          <p:nvPr/>
        </p:nvSpPr>
        <p:spPr>
          <a:xfrm>
            <a:off x="6172200" y="4342129"/>
            <a:ext cx="2527300" cy="1092729"/>
          </a:xfrm>
          <a:prstGeom prst="roundRect">
            <a:avLst>
              <a:gd name="adj" fmla="val 6973"/>
            </a:avLst>
          </a:prstGeom>
          <a:solidFill>
            <a:srgbClr val="F3F4F6"/>
          </a:solidFill>
          <a:ln/>
        </p:spPr>
      </p:sp>
      <p:sp>
        <p:nvSpPr>
          <p:cNvPr id="83" name="Text 81"/>
          <p:cNvSpPr/>
          <p:nvPr/>
        </p:nvSpPr>
        <p:spPr>
          <a:xfrm>
            <a:off x="6350000" y="4494529"/>
            <a:ext cx="2236851" cy="383963"/>
          </a:xfrm>
          <a:prstGeom prst="rect">
            <a:avLst/>
          </a:prstGeom>
          <a:noFill/>
          <a:ln/>
        </p:spPr>
        <p:txBody>
          <a:bodyPr wrap="square" lIns="0" tIns="0" rIns="0" bIns="0" rtlCol="0" anchor="t">
            <a:normAutofit/>
          </a:bodyPr>
          <a:lstStyle/>
          <a:p>
            <a:pPr algn="l" indent="0" marL="0">
              <a:lnSpc>
                <a:spcPts val="2824"/>
              </a:lnSpc>
              <a:buNone/>
            </a:pPr>
            <a:r>
              <a:rPr lang="en-US" sz="2568" b="1" dirty="0">
                <a:solidFill>
                  <a:srgbClr val="C2410C"/>
                </a:solidFill>
                <a:latin typeface="Arial" pitchFamily="34" charset="0"/>
                <a:ea typeface="Arial" pitchFamily="34" charset="-122"/>
                <a:cs typeface="Arial" pitchFamily="34" charset="-120"/>
              </a:rPr>
              <a:t>13,8 → 8,8</a:t>
            </a:r>
            <a:endParaRPr lang="en-US" sz="2568" dirty="0"/>
          </a:p>
        </p:txBody>
      </p:sp>
      <p:sp>
        <p:nvSpPr>
          <p:cNvPr id="84" name="Text 82"/>
          <p:cNvSpPr/>
          <p:nvPr/>
        </p:nvSpPr>
        <p:spPr>
          <a:xfrm>
            <a:off x="6350000" y="4891193"/>
            <a:ext cx="2236851" cy="416666"/>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registros nuevos por mes, antes y después de junio</a:t>
            </a:r>
            <a:endParaRPr lang="en-US" sz="1200" dirty="0"/>
          </a:p>
        </p:txBody>
      </p:sp>
      <p:sp>
        <p:nvSpPr>
          <p:cNvPr id="85" name="Shape 83"/>
          <p:cNvSpPr/>
          <p:nvPr/>
        </p:nvSpPr>
        <p:spPr>
          <a:xfrm>
            <a:off x="8851900" y="4342129"/>
            <a:ext cx="2527300" cy="1092729"/>
          </a:xfrm>
          <a:prstGeom prst="roundRect">
            <a:avLst>
              <a:gd name="adj" fmla="val 6973"/>
            </a:avLst>
          </a:prstGeom>
          <a:solidFill>
            <a:srgbClr val="F3F4F6"/>
          </a:solidFill>
          <a:ln/>
        </p:spPr>
      </p:sp>
      <p:sp>
        <p:nvSpPr>
          <p:cNvPr id="86" name="Text 84"/>
          <p:cNvSpPr/>
          <p:nvPr/>
        </p:nvSpPr>
        <p:spPr>
          <a:xfrm>
            <a:off x="9029700" y="4494529"/>
            <a:ext cx="2236851" cy="383963"/>
          </a:xfrm>
          <a:prstGeom prst="rect">
            <a:avLst/>
          </a:prstGeom>
          <a:noFill/>
          <a:ln/>
        </p:spPr>
        <p:txBody>
          <a:bodyPr wrap="square" lIns="0" tIns="0" rIns="0" bIns="0" rtlCol="0" anchor="t">
            <a:normAutofit/>
          </a:bodyPr>
          <a:lstStyle/>
          <a:p>
            <a:pPr algn="l" indent="0" marL="0">
              <a:lnSpc>
                <a:spcPts val="2824"/>
              </a:lnSpc>
              <a:buNone/>
            </a:pPr>
            <a:r>
              <a:rPr lang="en-US" sz="2568" b="1" dirty="0">
                <a:solidFill>
                  <a:srgbClr val="1F2937"/>
                </a:solidFill>
                <a:latin typeface="Arial" pitchFamily="34" charset="0"/>
                <a:ea typeface="Arial" pitchFamily="34" charset="-122"/>
                <a:cs typeface="Arial" pitchFamily="34" charset="-120"/>
              </a:rPr>
              <a:t>73</a:t>
            </a:r>
            <a:endParaRPr lang="en-US" sz="2568" dirty="0"/>
          </a:p>
        </p:txBody>
      </p:sp>
      <p:sp>
        <p:nvSpPr>
          <p:cNvPr id="87" name="Text 85"/>
          <p:cNvSpPr/>
          <p:nvPr/>
        </p:nvSpPr>
        <p:spPr>
          <a:xfrm>
            <a:off x="9029700" y="4891193"/>
            <a:ext cx="2236851" cy="416666"/>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clientes (24,5%) llevan más de 45 días sin pedir</a:t>
            </a:r>
            <a:endParaRPr lang="en-US" sz="1200" dirty="0"/>
          </a:p>
        </p:txBody>
      </p:sp>
      <p:sp>
        <p:nvSpPr>
          <p:cNvPr id="88" name="Text 86"/>
          <p:cNvSpPr/>
          <p:nvPr/>
        </p:nvSpPr>
        <p:spPr>
          <a:xfrm>
            <a:off x="812800" y="5638059"/>
            <a:ext cx="10883392" cy="229341"/>
          </a:xfrm>
          <a:prstGeom prst="rect">
            <a:avLst/>
          </a:prstGeom>
          <a:noFill/>
          <a:ln/>
        </p:spPr>
        <p:txBody>
          <a:bodyPr wrap="square" lIns="0" tIns="0" rIns="0" bIns="0" rtlCol="0" anchor="t">
            <a:normAutofit/>
          </a:bodyPr>
          <a:lstStyle/>
          <a:p>
            <a:pPr algn="l" indent="0" marL="0">
              <a:lnSpc>
                <a:spcPts val="1620"/>
              </a:lnSpc>
              <a:buNone/>
            </a:pPr>
            <a:r>
              <a:rPr lang="en-US" sz="1200" i="1" dirty="0">
                <a:solidFill>
                  <a:srgbClr val="4B5563"/>
                </a:solidFill>
                <a:latin typeface="Arial" pitchFamily="34" charset="0"/>
                <a:ea typeface="Arial" pitchFamily="34" charset="-122"/>
                <a:cs typeface="Arial" pitchFamily="34" charset="-120"/>
              </a:rPr>
              <a:t>La cuenta Premium no cambia el comportamiento: mismos pedidos por cliente (4,94 contra 4,98) y mismo ticket ($11.081 contra $11.173).</a:t>
            </a:r>
            <a:endParaRPr lang="en-US" sz="1200" dirty="0"/>
          </a:p>
        </p:txBody>
      </p:sp>
      <p:sp>
        <p:nvSpPr>
          <p:cNvPr id="89" name="Text 87"/>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90" name="Text 8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Cinco restaurantes explican una cuarta parte de las cancelaciones</a:t>
            </a:r>
            <a:endParaRPr lang="en-US" sz="2400" dirty="0"/>
          </a:p>
        </p:txBody>
      </p:sp>
      <p:sp>
        <p:nvSpPr>
          <p:cNvPr id="3" name="Text 1"/>
          <p:cNvSpPr/>
          <p:nvPr/>
        </p:nvSpPr>
        <p:spPr>
          <a:xfrm>
            <a:off x="812800" y="1214121"/>
            <a:ext cx="664514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Tasa de cancelación de los cinco restaurantes que más cancelan</a:t>
            </a:r>
            <a:endParaRPr lang="en-US" sz="1300" dirty="0"/>
          </a:p>
        </p:txBody>
      </p:sp>
      <p:sp>
        <p:nvSpPr>
          <p:cNvPr id="4" name="Text 2"/>
          <p:cNvSpPr/>
          <p:nvPr/>
        </p:nvSpPr>
        <p:spPr>
          <a:xfrm>
            <a:off x="812800" y="1924050"/>
            <a:ext cx="2289175"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Sushi Mar (Las Condes)</a:t>
            </a:r>
            <a:endParaRPr lang="en-US" sz="1300" dirty="0"/>
          </a:p>
        </p:txBody>
      </p:sp>
      <p:sp>
        <p:nvSpPr>
          <p:cNvPr id="5" name="Shape 3"/>
          <p:cNvSpPr/>
          <p:nvPr/>
        </p:nvSpPr>
        <p:spPr>
          <a:xfrm>
            <a:off x="3136900" y="1838961"/>
            <a:ext cx="3098800" cy="368300"/>
          </a:xfrm>
          <a:custGeom>
            <a:avLst/>
            <a:gdLst/>
            <a:ahLst/>
            <a:cxnLst/>
            <a:rect l="l" t="t" r="r" b="b"/>
            <a:pathLst>
              <a:path w="3098800" h="368300">
                <a:moveTo>
                  <a:pt x="0" y="0"/>
                </a:moveTo>
                <a:lnTo>
                  <a:pt x="3060700" y="0"/>
                </a:lnTo>
                <a:arcTo hR="38100" wR="38100" stAng="16200000" swAng="5400000"/>
                <a:lnTo>
                  <a:pt x="3098800" y="330200"/>
                </a:lnTo>
                <a:arcTo hR="38100" wR="38100" stAng="0" swAng="5400000"/>
                <a:lnTo>
                  <a:pt x="0" y="368300"/>
                </a:lnTo>
                <a:lnTo>
                  <a:pt x="0" y="0"/>
                </a:lnTo>
                <a:close/>
              </a:path>
            </a:pathLst>
          </a:custGeom>
          <a:solidFill>
            <a:srgbClr val="C2410C"/>
          </a:solidFill>
          <a:ln/>
        </p:spPr>
      </p:sp>
      <p:sp>
        <p:nvSpPr>
          <p:cNvPr id="6" name="Text 4"/>
          <p:cNvSpPr/>
          <p:nvPr/>
        </p:nvSpPr>
        <p:spPr>
          <a:xfrm>
            <a:off x="6337300" y="1898650"/>
            <a:ext cx="6049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2410C"/>
                </a:solidFill>
                <a:latin typeface="Arial" pitchFamily="34" charset="0"/>
                <a:ea typeface="Arial" pitchFamily="34" charset="-122"/>
                <a:cs typeface="Arial" pitchFamily="34" charset="-120"/>
              </a:rPr>
              <a:t>22,7%</a:t>
            </a:r>
            <a:endParaRPr lang="en-US" sz="1400" dirty="0"/>
          </a:p>
        </p:txBody>
      </p:sp>
      <p:sp>
        <p:nvSpPr>
          <p:cNvPr id="7" name="Text 5"/>
          <p:cNvSpPr/>
          <p:nvPr/>
        </p:nvSpPr>
        <p:spPr>
          <a:xfrm>
            <a:off x="812800" y="2432050"/>
            <a:ext cx="2289175"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Trattoria Roma (Maipú)</a:t>
            </a:r>
            <a:endParaRPr lang="en-US" sz="1300" dirty="0"/>
          </a:p>
        </p:txBody>
      </p:sp>
      <p:sp>
        <p:nvSpPr>
          <p:cNvPr id="8" name="Shape 6"/>
          <p:cNvSpPr/>
          <p:nvPr/>
        </p:nvSpPr>
        <p:spPr>
          <a:xfrm>
            <a:off x="3136900" y="2346961"/>
            <a:ext cx="2540000" cy="368300"/>
          </a:xfrm>
          <a:custGeom>
            <a:avLst/>
            <a:gdLst/>
            <a:ahLst/>
            <a:cxnLst/>
            <a:rect l="l" t="t" r="r" b="b"/>
            <a:pathLst>
              <a:path w="2540000" h="368300">
                <a:moveTo>
                  <a:pt x="0" y="0"/>
                </a:moveTo>
                <a:lnTo>
                  <a:pt x="2501900" y="0"/>
                </a:lnTo>
                <a:arcTo hR="38100" wR="38100" stAng="16200000" swAng="5400000"/>
                <a:lnTo>
                  <a:pt x="2540000" y="330200"/>
                </a:lnTo>
                <a:arcTo hR="38100" wR="38100" stAng="0" swAng="5400000"/>
                <a:lnTo>
                  <a:pt x="0" y="368300"/>
                </a:lnTo>
                <a:lnTo>
                  <a:pt x="0" y="0"/>
                </a:lnTo>
                <a:close/>
              </a:path>
            </a:pathLst>
          </a:custGeom>
          <a:solidFill>
            <a:srgbClr val="C2410C"/>
          </a:solidFill>
          <a:ln/>
        </p:spPr>
      </p:sp>
      <p:sp>
        <p:nvSpPr>
          <p:cNvPr id="9" name="Text 7"/>
          <p:cNvSpPr/>
          <p:nvPr/>
        </p:nvSpPr>
        <p:spPr>
          <a:xfrm>
            <a:off x="5778500" y="2406650"/>
            <a:ext cx="6049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2410C"/>
                </a:solidFill>
                <a:latin typeface="Arial" pitchFamily="34" charset="0"/>
                <a:ea typeface="Arial" pitchFamily="34" charset="-122"/>
                <a:cs typeface="Arial" pitchFamily="34" charset="-120"/>
              </a:rPr>
              <a:t>18,6%</a:t>
            </a:r>
            <a:endParaRPr lang="en-US" sz="1400" dirty="0"/>
          </a:p>
        </p:txBody>
      </p:sp>
      <p:sp>
        <p:nvSpPr>
          <p:cNvPr id="10" name="Text 8"/>
          <p:cNvSpPr/>
          <p:nvPr/>
        </p:nvSpPr>
        <p:spPr>
          <a:xfrm>
            <a:off x="812800" y="2940050"/>
            <a:ext cx="2289175"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Mar y Tierra (Ñuñoa)</a:t>
            </a:r>
            <a:endParaRPr lang="en-US" sz="1300" dirty="0"/>
          </a:p>
        </p:txBody>
      </p:sp>
      <p:sp>
        <p:nvSpPr>
          <p:cNvPr id="11" name="Shape 9"/>
          <p:cNvSpPr/>
          <p:nvPr/>
        </p:nvSpPr>
        <p:spPr>
          <a:xfrm>
            <a:off x="3136900" y="2854961"/>
            <a:ext cx="2336800" cy="368300"/>
          </a:xfrm>
          <a:custGeom>
            <a:avLst/>
            <a:gdLst/>
            <a:ahLst/>
            <a:cxnLst/>
            <a:rect l="l" t="t" r="r" b="b"/>
            <a:pathLst>
              <a:path w="2336800" h="368300">
                <a:moveTo>
                  <a:pt x="0" y="0"/>
                </a:moveTo>
                <a:lnTo>
                  <a:pt x="2298700" y="0"/>
                </a:lnTo>
                <a:arcTo hR="38100" wR="38100" stAng="16200000" swAng="5400000"/>
                <a:lnTo>
                  <a:pt x="2336800" y="330200"/>
                </a:lnTo>
                <a:arcTo hR="38100" wR="38100" stAng="0" swAng="5400000"/>
                <a:lnTo>
                  <a:pt x="0" y="368300"/>
                </a:lnTo>
                <a:lnTo>
                  <a:pt x="0" y="0"/>
                </a:lnTo>
                <a:close/>
              </a:path>
            </a:pathLst>
          </a:custGeom>
          <a:solidFill>
            <a:srgbClr val="C2410C"/>
          </a:solidFill>
          <a:ln/>
        </p:spPr>
      </p:sp>
      <p:sp>
        <p:nvSpPr>
          <p:cNvPr id="12" name="Text 10"/>
          <p:cNvSpPr/>
          <p:nvPr/>
        </p:nvSpPr>
        <p:spPr>
          <a:xfrm>
            <a:off x="5575300" y="2914650"/>
            <a:ext cx="6049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2410C"/>
                </a:solidFill>
                <a:latin typeface="Arial" pitchFamily="34" charset="0"/>
                <a:ea typeface="Arial" pitchFamily="34" charset="-122"/>
                <a:cs typeface="Arial" pitchFamily="34" charset="-120"/>
              </a:rPr>
              <a:t>17,1%</a:t>
            </a:r>
            <a:endParaRPr lang="en-US" sz="1400" dirty="0"/>
          </a:p>
        </p:txBody>
      </p:sp>
      <p:sp>
        <p:nvSpPr>
          <p:cNvPr id="13" name="Text 11"/>
          <p:cNvSpPr/>
          <p:nvPr/>
        </p:nvSpPr>
        <p:spPr>
          <a:xfrm>
            <a:off x="812800" y="3448050"/>
            <a:ext cx="2289175"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La Esquina Criolla (Santiago)</a:t>
            </a:r>
            <a:endParaRPr lang="en-US" sz="1300" dirty="0"/>
          </a:p>
        </p:txBody>
      </p:sp>
      <p:sp>
        <p:nvSpPr>
          <p:cNvPr id="14" name="Shape 12"/>
          <p:cNvSpPr/>
          <p:nvPr/>
        </p:nvSpPr>
        <p:spPr>
          <a:xfrm>
            <a:off x="3136900" y="3362961"/>
            <a:ext cx="2279650" cy="368300"/>
          </a:xfrm>
          <a:custGeom>
            <a:avLst/>
            <a:gdLst/>
            <a:ahLst/>
            <a:cxnLst/>
            <a:rect l="l" t="t" r="r" b="b"/>
            <a:pathLst>
              <a:path w="2279650" h="368300">
                <a:moveTo>
                  <a:pt x="0" y="0"/>
                </a:moveTo>
                <a:lnTo>
                  <a:pt x="2241550" y="0"/>
                </a:lnTo>
                <a:arcTo hR="38100" wR="38100" stAng="16200000" swAng="5400000"/>
                <a:lnTo>
                  <a:pt x="2279650" y="330200"/>
                </a:lnTo>
                <a:arcTo hR="38100" wR="38100" stAng="0" swAng="5400000"/>
                <a:lnTo>
                  <a:pt x="0" y="368300"/>
                </a:lnTo>
                <a:lnTo>
                  <a:pt x="0" y="0"/>
                </a:lnTo>
                <a:close/>
              </a:path>
            </a:pathLst>
          </a:custGeom>
          <a:solidFill>
            <a:srgbClr val="C2410C"/>
          </a:solidFill>
          <a:ln/>
        </p:spPr>
      </p:sp>
      <p:sp>
        <p:nvSpPr>
          <p:cNvPr id="15" name="Text 13"/>
          <p:cNvSpPr/>
          <p:nvPr/>
        </p:nvSpPr>
        <p:spPr>
          <a:xfrm>
            <a:off x="5518150" y="3422650"/>
            <a:ext cx="6049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2410C"/>
                </a:solidFill>
                <a:latin typeface="Arial" pitchFamily="34" charset="0"/>
                <a:ea typeface="Arial" pitchFamily="34" charset="-122"/>
                <a:cs typeface="Arial" pitchFamily="34" charset="-120"/>
              </a:rPr>
              <a:t>16,7%</a:t>
            </a:r>
            <a:endParaRPr lang="en-US" sz="1400" dirty="0"/>
          </a:p>
        </p:txBody>
      </p:sp>
      <p:sp>
        <p:nvSpPr>
          <p:cNvPr id="16" name="Text 14"/>
          <p:cNvSpPr/>
          <p:nvPr/>
        </p:nvSpPr>
        <p:spPr>
          <a:xfrm>
            <a:off x="812800" y="3956050"/>
            <a:ext cx="2289175"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Ramen Ya (Maipú)</a:t>
            </a:r>
            <a:endParaRPr lang="en-US" sz="1300" dirty="0"/>
          </a:p>
        </p:txBody>
      </p:sp>
      <p:sp>
        <p:nvSpPr>
          <p:cNvPr id="17" name="Shape 15"/>
          <p:cNvSpPr/>
          <p:nvPr/>
        </p:nvSpPr>
        <p:spPr>
          <a:xfrm>
            <a:off x="3136900" y="3870961"/>
            <a:ext cx="2241550" cy="368300"/>
          </a:xfrm>
          <a:custGeom>
            <a:avLst/>
            <a:gdLst/>
            <a:ahLst/>
            <a:cxnLst/>
            <a:rect l="l" t="t" r="r" b="b"/>
            <a:pathLst>
              <a:path w="2241550" h="368300">
                <a:moveTo>
                  <a:pt x="0" y="0"/>
                </a:moveTo>
                <a:lnTo>
                  <a:pt x="2203450" y="0"/>
                </a:lnTo>
                <a:arcTo hR="38100" wR="38100" stAng="16200000" swAng="5400000"/>
                <a:lnTo>
                  <a:pt x="2241550" y="330200"/>
                </a:lnTo>
                <a:arcTo hR="38100" wR="38100" stAng="0" swAng="5400000"/>
                <a:lnTo>
                  <a:pt x="0" y="368300"/>
                </a:lnTo>
                <a:lnTo>
                  <a:pt x="0" y="0"/>
                </a:lnTo>
                <a:close/>
              </a:path>
            </a:pathLst>
          </a:custGeom>
          <a:solidFill>
            <a:srgbClr val="C2410C"/>
          </a:solidFill>
          <a:ln/>
        </p:spPr>
      </p:sp>
      <p:sp>
        <p:nvSpPr>
          <p:cNvPr id="18" name="Text 16"/>
          <p:cNvSpPr/>
          <p:nvPr/>
        </p:nvSpPr>
        <p:spPr>
          <a:xfrm>
            <a:off x="5480050" y="3930650"/>
            <a:ext cx="6049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2410C"/>
                </a:solidFill>
                <a:latin typeface="Arial" pitchFamily="34" charset="0"/>
                <a:ea typeface="Arial" pitchFamily="34" charset="-122"/>
                <a:cs typeface="Arial" pitchFamily="34" charset="-120"/>
              </a:rPr>
              <a:t>16,4%</a:t>
            </a:r>
            <a:endParaRPr lang="en-US" sz="1400" dirty="0"/>
          </a:p>
        </p:txBody>
      </p:sp>
      <p:pic>
        <p:nvPicPr>
          <p:cNvPr id="19" name="Image 0" descr="connector">    </p:cNvPr>
          <p:cNvPicPr>
            <a:picLocks noChangeAspect="1"/>
          </p:cNvPicPr>
          <p:nvPr/>
        </p:nvPicPr>
        <p:blipFill>
          <a:blip r:embed="rId1"/>
          <a:srcRect l="0" r="0" t="0" b="0"/>
          <a:stretch/>
        </p:blipFill>
        <p:spPr>
          <a:xfrm>
            <a:off x="4178300" y="1737361"/>
            <a:ext cx="101600" cy="2603500"/>
          </a:xfrm>
          <a:prstGeom prst="rect">
            <a:avLst/>
          </a:prstGeom>
        </p:spPr>
      </p:pic>
      <p:pic>
        <p:nvPicPr>
          <p:cNvPr id="20" name="Image 1" descr="connector">    </p:cNvPr>
          <p:cNvPicPr>
            <a:picLocks noChangeAspect="1"/>
          </p:cNvPicPr>
          <p:nvPr/>
        </p:nvPicPr>
        <p:blipFill>
          <a:blip r:embed="rId2"/>
          <a:srcRect l="0" r="0" t="0" b="0"/>
          <a:stretch/>
        </p:blipFill>
        <p:spPr>
          <a:xfrm>
            <a:off x="4559300" y="1737361"/>
            <a:ext cx="101600" cy="2603500"/>
          </a:xfrm>
          <a:prstGeom prst="rect">
            <a:avLst/>
          </a:prstGeom>
        </p:spPr>
      </p:pic>
      <p:sp>
        <p:nvSpPr>
          <p:cNvPr id="21" name="Text 17"/>
          <p:cNvSpPr/>
          <p:nvPr/>
        </p:nvSpPr>
        <p:spPr>
          <a:xfrm>
            <a:off x="2346960" y="1546861"/>
            <a:ext cx="183134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2937"/>
                </a:solidFill>
                <a:latin typeface="Arial" pitchFamily="34" charset="0"/>
                <a:ea typeface="Arial" pitchFamily="34" charset="-122"/>
                <a:cs typeface="Arial" pitchFamily="34" charset="-120"/>
              </a:rPr>
              <a:t>Meta propuesta 8%</a:t>
            </a:r>
            <a:endParaRPr lang="en-US" sz="1200" dirty="0"/>
          </a:p>
        </p:txBody>
      </p:sp>
      <p:sp>
        <p:nvSpPr>
          <p:cNvPr id="22" name="Text 18"/>
          <p:cNvSpPr/>
          <p:nvPr/>
        </p:nvSpPr>
        <p:spPr>
          <a:xfrm>
            <a:off x="4673600" y="4328161"/>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Promedio 10,8%</a:t>
            </a:r>
            <a:endParaRPr lang="en-US" sz="1200" dirty="0"/>
          </a:p>
        </p:txBody>
      </p:sp>
      <p:sp>
        <p:nvSpPr>
          <p:cNvPr id="23" name="Shape 19"/>
          <p:cNvSpPr/>
          <p:nvPr/>
        </p:nvSpPr>
        <p:spPr>
          <a:xfrm>
            <a:off x="7569200" y="1214121"/>
            <a:ext cx="3810000" cy="1033780"/>
          </a:xfrm>
          <a:prstGeom prst="roundRect">
            <a:avLst>
              <a:gd name="adj" fmla="val 7371"/>
            </a:avLst>
          </a:prstGeom>
          <a:solidFill>
            <a:srgbClr val="F3F4F6"/>
          </a:solidFill>
          <a:ln/>
        </p:spPr>
      </p:sp>
      <p:sp>
        <p:nvSpPr>
          <p:cNvPr id="24" name="Text 20"/>
          <p:cNvSpPr/>
          <p:nvPr/>
        </p:nvSpPr>
        <p:spPr>
          <a:xfrm>
            <a:off x="7747000" y="1366521"/>
            <a:ext cx="3558032"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C2410C"/>
                </a:solidFill>
                <a:latin typeface="Arial" pitchFamily="34" charset="0"/>
                <a:ea typeface="Arial" pitchFamily="34" charset="-122"/>
                <a:cs typeface="Arial" pitchFamily="34" charset="-120"/>
              </a:rPr>
              <a:t>42 de 161</a:t>
            </a:r>
            <a:endParaRPr lang="en-US" sz="2200" dirty="0"/>
          </a:p>
        </p:txBody>
      </p:sp>
      <p:sp>
        <p:nvSpPr>
          <p:cNvPr id="25" name="Text 21"/>
          <p:cNvSpPr/>
          <p:nvPr/>
        </p:nvSpPr>
        <p:spPr>
          <a:xfrm>
            <a:off x="7747000" y="1699261"/>
            <a:ext cx="355803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F2937"/>
                </a:solidFill>
                <a:latin typeface="Arial" pitchFamily="34" charset="0"/>
                <a:ea typeface="Arial" pitchFamily="34" charset="-122"/>
                <a:cs typeface="Arial" pitchFamily="34" charset="-120"/>
              </a:rPr>
              <a:t>cancelaciones (26%) con solo el 15,5% de los pedidos</a:t>
            </a:r>
            <a:endParaRPr lang="en-US" sz="1200" dirty="0"/>
          </a:p>
        </p:txBody>
      </p:sp>
      <p:sp>
        <p:nvSpPr>
          <p:cNvPr id="26" name="Shape 22"/>
          <p:cNvSpPr/>
          <p:nvPr/>
        </p:nvSpPr>
        <p:spPr>
          <a:xfrm>
            <a:off x="7569200" y="2349500"/>
            <a:ext cx="3810000" cy="835660"/>
          </a:xfrm>
          <a:prstGeom prst="roundRect">
            <a:avLst>
              <a:gd name="adj" fmla="val 9119"/>
            </a:avLst>
          </a:prstGeom>
          <a:solidFill>
            <a:srgbClr val="F3F4F6"/>
          </a:solidFill>
          <a:ln/>
        </p:spPr>
      </p:sp>
      <p:sp>
        <p:nvSpPr>
          <p:cNvPr id="27" name="Text 23"/>
          <p:cNvSpPr/>
          <p:nvPr/>
        </p:nvSpPr>
        <p:spPr>
          <a:xfrm>
            <a:off x="7747000" y="2501900"/>
            <a:ext cx="3558032"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F2937"/>
                </a:solidFill>
                <a:latin typeface="Arial" pitchFamily="34" charset="0"/>
                <a:ea typeface="Arial" pitchFamily="34" charset="-122"/>
                <a:cs typeface="Arial" pitchFamily="34" charset="-120"/>
              </a:rPr>
              <a:t>10,8% → 9,2%</a:t>
            </a:r>
            <a:endParaRPr lang="en-US" sz="2200" dirty="0"/>
          </a:p>
        </p:txBody>
      </p:sp>
      <p:sp>
        <p:nvSpPr>
          <p:cNvPr id="28" name="Text 24"/>
          <p:cNvSpPr/>
          <p:nvPr/>
        </p:nvSpPr>
        <p:spPr>
          <a:xfrm>
            <a:off x="7747000" y="2834639"/>
            <a:ext cx="3558032"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F2937"/>
                </a:solidFill>
                <a:latin typeface="Arial" pitchFamily="34" charset="0"/>
                <a:ea typeface="Arial" pitchFamily="34" charset="-122"/>
                <a:cs typeface="Arial" pitchFamily="34" charset="-120"/>
              </a:rPr>
              <a:t>tasa total si estos cinco cancelaran al 8%</a:t>
            </a:r>
            <a:endParaRPr lang="en-US" sz="1200" dirty="0"/>
          </a:p>
        </p:txBody>
      </p:sp>
      <p:sp>
        <p:nvSpPr>
          <p:cNvPr id="29" name="Text 25"/>
          <p:cNvSpPr/>
          <p:nvPr/>
        </p:nvSpPr>
        <p:spPr>
          <a:xfrm>
            <a:off x="7569200" y="3286761"/>
            <a:ext cx="3810000" cy="922020"/>
          </a:xfrm>
          <a:prstGeom prst="roundRect">
            <a:avLst>
              <a:gd name="adj" fmla="val 8264"/>
            </a:avLst>
          </a:prstGeom>
          <a:solidFill>
            <a:srgbClr val="F3F4F6"/>
          </a:solidFill>
          <a:ln/>
        </p:spPr>
        <p:txBody>
          <a:bodyPr wrap="square" lIns="155482" tIns="130082" rIns="51850" bIns="104682" rtlCol="0" anchor="t">
            <a:normAutofit/>
          </a:bodyPr>
          <a:lstStyle/>
          <a:p>
            <a:pPr algn="l" indent="0" marL="0">
              <a:lnSpc>
                <a:spcPts val="1620"/>
              </a:lnSpc>
              <a:buNone/>
            </a:pPr>
            <a:r>
              <a:rPr lang="en-US" sz="1200" b="1" dirty="0">
                <a:solidFill>
                  <a:srgbClr val="1F2937"/>
                </a:solidFill>
                <a:latin typeface="Arial" pitchFamily="34" charset="0"/>
                <a:ea typeface="Arial" pitchFamily="34" charset="-122"/>
                <a:cs typeface="Arial" pitchFamily="34" charset="-120"/>
              </a:rPr>
              <a:t>Maipú (17,3%):</a:t>
            </a:r>
            <a:r>
              <a:rPr lang="en-US" sz="1200" dirty="0">
                <a:solidFill>
                  <a:srgbClr val="1F2937"/>
                </a:solidFill>
                <a:latin typeface="Arial" pitchFamily="34" charset="0"/>
                <a:ea typeface="Arial" pitchFamily="34" charset="-122"/>
                <a:cs typeface="Arial" pitchFamily="34" charset="-120"/>
              </a:rPr>
              <a:t> sus dos únicos locales están en esta lista. </a:t>
            </a:r>
            <a:r>
              <a:rPr lang="en-US" sz="1200" b="1" dirty="0">
                <a:solidFill>
                  <a:srgbClr val="1F2937"/>
                </a:solidFill>
                <a:latin typeface="Arial" pitchFamily="34" charset="0"/>
                <a:ea typeface="Arial" pitchFamily="34" charset="-122"/>
                <a:cs typeface="Arial" pitchFamily="34" charset="-120"/>
              </a:rPr>
              <a:t>Las Condes (13,8%)</a:t>
            </a:r>
            <a:r>
              <a:rPr lang="en-US" sz="1200" dirty="0">
                <a:solidFill>
                  <a:srgbClr val="1F2937"/>
                </a:solidFill>
                <a:latin typeface="Arial" pitchFamily="34" charset="0"/>
                <a:ea typeface="Arial" pitchFamily="34" charset="-122"/>
                <a:cs typeface="Arial" pitchFamily="34" charset="-120"/>
              </a:rPr>
              <a:t> sube sobre todo por Sushi Mar.</a:t>
            </a:r>
            <a:endParaRPr lang="en-US" sz="1200" dirty="0"/>
          </a:p>
        </p:txBody>
      </p:sp>
      <p:sp>
        <p:nvSpPr>
          <p:cNvPr id="30" name="Text 26"/>
          <p:cNvSpPr/>
          <p:nvPr/>
        </p:nvSpPr>
        <p:spPr>
          <a:xfrm>
            <a:off x="7569200" y="4310379"/>
            <a:ext cx="3810000" cy="767080"/>
          </a:xfrm>
          <a:prstGeom prst="roundRect">
            <a:avLst>
              <a:gd name="adj" fmla="val 9934"/>
            </a:avLst>
          </a:prstGeom>
          <a:solidFill>
            <a:srgbClr val="15803D"/>
          </a:solidFill>
          <a:ln/>
        </p:spPr>
        <p:txBody>
          <a:bodyPr wrap="square" lIns="155482" tIns="130082" rIns="51850" bIns="104682" rtlCol="0" anchor="t">
            <a:normAutofit/>
          </a:bodyPr>
          <a:lstStyle/>
          <a:p>
            <a:pPr algn="l" indent="0" marL="0">
              <a:lnSpc>
                <a:spcPts val="1820"/>
              </a:lnSpc>
              <a:buNone/>
            </a:pPr>
            <a:r>
              <a:rPr lang="en-US" sz="1400" b="1" dirty="0">
                <a:solidFill>
                  <a:srgbClr val="FFFFFF"/>
                </a:solidFill>
                <a:latin typeface="Arial" pitchFamily="34" charset="0"/>
                <a:ea typeface="Arial" pitchFamily="34" charset="-122"/>
                <a:cs typeface="Arial" pitchFamily="34" charset="-120"/>
              </a:rPr>
              <a:t>Agosto bajó a 7,0%: la meta es alcanzable</a:t>
            </a:r>
            <a:endParaRPr lang="en-US" sz="1400" dirty="0"/>
          </a:p>
        </p:txBody>
      </p:sp>
      <p:sp>
        <p:nvSpPr>
          <p:cNvPr id="31" name="Text 27"/>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32" name="Text 2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El 55% de las entregas llega tarde, pero eso no baja la nota</a:t>
            </a:r>
            <a:endParaRPr lang="en-US" sz="2400" dirty="0"/>
          </a:p>
        </p:txBody>
      </p:sp>
      <p:sp>
        <p:nvSpPr>
          <p:cNvPr id="3" name="Shape 1"/>
          <p:cNvSpPr/>
          <p:nvPr/>
        </p:nvSpPr>
        <p:spPr>
          <a:xfrm>
            <a:off x="812800" y="1163321"/>
            <a:ext cx="3175000" cy="1405255"/>
          </a:xfrm>
          <a:prstGeom prst="roundRect">
            <a:avLst>
              <a:gd name="adj" fmla="val 5423"/>
            </a:avLst>
          </a:prstGeom>
          <a:solidFill>
            <a:srgbClr val="F3F4F6"/>
          </a:solidFill>
          <a:ln/>
        </p:spPr>
      </p:sp>
      <p:sp>
        <p:nvSpPr>
          <p:cNvPr id="4" name="Text 2"/>
          <p:cNvSpPr/>
          <p:nvPr/>
        </p:nvSpPr>
        <p:spPr>
          <a:xfrm>
            <a:off x="990600" y="1315721"/>
            <a:ext cx="290398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C2410C"/>
                </a:solidFill>
                <a:latin typeface="Arial" pitchFamily="34" charset="0"/>
                <a:ea typeface="Arial" pitchFamily="34" charset="-122"/>
                <a:cs typeface="Arial" pitchFamily="34" charset="-120"/>
              </a:rPr>
              <a:t>55%</a:t>
            </a:r>
            <a:endParaRPr lang="en-US" sz="3200" dirty="0"/>
          </a:p>
        </p:txBody>
      </p:sp>
      <p:sp>
        <p:nvSpPr>
          <p:cNvPr id="5" name="Text 3"/>
          <p:cNvSpPr/>
          <p:nvPr/>
        </p:nvSpPr>
        <p:spPr>
          <a:xfrm>
            <a:off x="990600" y="1788161"/>
            <a:ext cx="2903982"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2937"/>
                </a:solidFill>
                <a:latin typeface="Arial" pitchFamily="34" charset="0"/>
                <a:ea typeface="Arial" pitchFamily="34" charset="-122"/>
                <a:cs typeface="Arial" pitchFamily="34" charset="-120"/>
              </a:rPr>
              <a:t>Entregas sobre 30 minutos</a:t>
            </a:r>
            <a:endParaRPr lang="en-US" sz="1300" dirty="0"/>
          </a:p>
        </p:txBody>
      </p:sp>
      <p:sp>
        <p:nvSpPr>
          <p:cNvPr id="6" name="Text 4"/>
          <p:cNvSpPr/>
          <p:nvPr/>
        </p:nvSpPr>
        <p:spPr>
          <a:xfrm>
            <a:off x="990600" y="2019936"/>
            <a:ext cx="290398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Meta propuesta: 30 min. Promedio: 31,5 min</a:t>
            </a:r>
            <a:endParaRPr lang="en-US" sz="1200" dirty="0"/>
          </a:p>
        </p:txBody>
      </p:sp>
      <p:sp>
        <p:nvSpPr>
          <p:cNvPr id="7" name="Shape 5"/>
          <p:cNvSpPr/>
          <p:nvPr/>
        </p:nvSpPr>
        <p:spPr>
          <a:xfrm>
            <a:off x="812800" y="2670175"/>
            <a:ext cx="3175000" cy="1134110"/>
          </a:xfrm>
          <a:prstGeom prst="roundRect">
            <a:avLst>
              <a:gd name="adj" fmla="val 6719"/>
            </a:avLst>
          </a:prstGeom>
          <a:solidFill>
            <a:srgbClr val="F3F4F6"/>
          </a:solidFill>
          <a:ln/>
        </p:spPr>
      </p:sp>
      <p:sp>
        <p:nvSpPr>
          <p:cNvPr id="8" name="Text 6"/>
          <p:cNvSpPr/>
          <p:nvPr/>
        </p:nvSpPr>
        <p:spPr>
          <a:xfrm>
            <a:off x="990600" y="2822575"/>
            <a:ext cx="290398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F2937"/>
                </a:solidFill>
                <a:latin typeface="Arial" pitchFamily="34" charset="0"/>
                <a:ea typeface="Arial" pitchFamily="34" charset="-122"/>
                <a:cs typeface="Arial" pitchFamily="34" charset="-120"/>
              </a:rPr>
              <a:t>4,12 a 4,22</a:t>
            </a:r>
            <a:endParaRPr lang="en-US" sz="2800" dirty="0"/>
          </a:p>
        </p:txBody>
      </p:sp>
      <p:sp>
        <p:nvSpPr>
          <p:cNvPr id="9" name="Text 7"/>
          <p:cNvSpPr/>
          <p:nvPr/>
        </p:nvSpPr>
        <p:spPr>
          <a:xfrm>
            <a:off x="990600" y="3239136"/>
            <a:ext cx="2903982"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2937"/>
                </a:solidFill>
                <a:latin typeface="Arial" pitchFamily="34" charset="0"/>
                <a:ea typeface="Arial" pitchFamily="34" charset="-122"/>
                <a:cs typeface="Arial" pitchFamily="34" charset="-120"/>
              </a:rPr>
              <a:t>La nota es casi igual en todos los tiempos</a:t>
            </a:r>
            <a:endParaRPr lang="en-US" sz="1300" dirty="0"/>
          </a:p>
        </p:txBody>
      </p:sp>
      <p:sp>
        <p:nvSpPr>
          <p:cNvPr id="10" name="Text 8"/>
          <p:cNvSpPr/>
          <p:nvPr/>
        </p:nvSpPr>
        <p:spPr>
          <a:xfrm>
            <a:off x="812800" y="3905886"/>
            <a:ext cx="3175000" cy="767080"/>
          </a:xfrm>
          <a:prstGeom prst="roundRect">
            <a:avLst>
              <a:gd name="adj" fmla="val 9934"/>
            </a:avLst>
          </a:prstGeom>
          <a:solidFill>
            <a:srgbClr val="1F2937"/>
          </a:solidFill>
          <a:ln/>
        </p:spPr>
        <p:txBody>
          <a:bodyPr wrap="square" lIns="155482" tIns="117382" rIns="70900" bIns="117382" rtlCol="0" anchor="ctr">
            <a:normAutofit/>
          </a:bodyPr>
          <a:lstStyle/>
          <a:p>
            <a:pPr algn="l" indent="0" marL="0">
              <a:lnSpc>
                <a:spcPts val="1820"/>
              </a:lnSpc>
              <a:buNone/>
            </a:pPr>
            <a:r>
              <a:rPr lang="en-US" sz="1400" b="1" dirty="0">
                <a:solidFill>
                  <a:srgbClr val="FFFFFF"/>
                </a:solidFill>
                <a:latin typeface="Arial" pitchFamily="34" charset="0"/>
                <a:ea typeface="Arial" pitchFamily="34" charset="-122"/>
                <a:cs typeface="Arial" pitchFamily="34" charset="-120"/>
              </a:rPr>
              <a:t>La satisfacción depende del restaurante, no del reparto</a:t>
            </a:r>
            <a:endParaRPr lang="en-US" sz="1400" dirty="0"/>
          </a:p>
        </p:txBody>
      </p:sp>
      <p:sp>
        <p:nvSpPr>
          <p:cNvPr id="11" name="Text 9"/>
          <p:cNvSpPr/>
          <p:nvPr/>
        </p:nvSpPr>
        <p:spPr>
          <a:xfrm>
            <a:off x="4292600" y="1163321"/>
            <a:ext cx="729919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Calificación promedio (1 a 5) según tiempo de entrega</a:t>
            </a:r>
            <a:endParaRPr lang="en-US" sz="1300" dirty="0"/>
          </a:p>
        </p:txBody>
      </p:sp>
      <p:sp>
        <p:nvSpPr>
          <p:cNvPr id="12" name="Text 10"/>
          <p:cNvSpPr/>
          <p:nvPr/>
        </p:nvSpPr>
        <p:spPr>
          <a:xfrm>
            <a:off x="4241800" y="3667761"/>
            <a:ext cx="304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6B7280"/>
                </a:solidFill>
                <a:latin typeface="Arial" pitchFamily="34" charset="0"/>
                <a:ea typeface="Arial" pitchFamily="34" charset="-122"/>
                <a:cs typeface="Arial" pitchFamily="34" charset="-120"/>
              </a:rPr>
              <a:t>0</a:t>
            </a:r>
            <a:endParaRPr lang="en-US" sz="1200" dirty="0"/>
          </a:p>
        </p:txBody>
      </p:sp>
      <p:sp>
        <p:nvSpPr>
          <p:cNvPr id="13" name="Text 11"/>
          <p:cNvSpPr/>
          <p:nvPr/>
        </p:nvSpPr>
        <p:spPr>
          <a:xfrm>
            <a:off x="4241800" y="3261361"/>
            <a:ext cx="304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6B7280"/>
                </a:solidFill>
                <a:latin typeface="Arial" pitchFamily="34" charset="0"/>
                <a:ea typeface="Arial" pitchFamily="34" charset="-122"/>
                <a:cs typeface="Arial" pitchFamily="34" charset="-120"/>
              </a:rPr>
              <a:t>1</a:t>
            </a:r>
            <a:endParaRPr lang="en-US" sz="1200" dirty="0"/>
          </a:p>
        </p:txBody>
      </p:sp>
      <p:sp>
        <p:nvSpPr>
          <p:cNvPr id="14" name="Text 12"/>
          <p:cNvSpPr/>
          <p:nvPr/>
        </p:nvSpPr>
        <p:spPr>
          <a:xfrm>
            <a:off x="4241800" y="2854961"/>
            <a:ext cx="304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6B7280"/>
                </a:solidFill>
                <a:latin typeface="Arial" pitchFamily="34" charset="0"/>
                <a:ea typeface="Arial" pitchFamily="34" charset="-122"/>
                <a:cs typeface="Arial" pitchFamily="34" charset="-120"/>
              </a:rPr>
              <a:t>2</a:t>
            </a:r>
            <a:endParaRPr lang="en-US" sz="1200" dirty="0"/>
          </a:p>
        </p:txBody>
      </p:sp>
      <p:sp>
        <p:nvSpPr>
          <p:cNvPr id="15" name="Text 13"/>
          <p:cNvSpPr/>
          <p:nvPr/>
        </p:nvSpPr>
        <p:spPr>
          <a:xfrm>
            <a:off x="4241800" y="2448561"/>
            <a:ext cx="304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6B7280"/>
                </a:solidFill>
                <a:latin typeface="Arial" pitchFamily="34" charset="0"/>
                <a:ea typeface="Arial" pitchFamily="34" charset="-122"/>
                <a:cs typeface="Arial" pitchFamily="34" charset="-120"/>
              </a:rPr>
              <a:t>3</a:t>
            </a:r>
            <a:endParaRPr lang="en-US" sz="1200" dirty="0"/>
          </a:p>
        </p:txBody>
      </p:sp>
      <p:sp>
        <p:nvSpPr>
          <p:cNvPr id="16" name="Text 14"/>
          <p:cNvSpPr/>
          <p:nvPr/>
        </p:nvSpPr>
        <p:spPr>
          <a:xfrm>
            <a:off x="4241800" y="2042161"/>
            <a:ext cx="304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6B7280"/>
                </a:solidFill>
                <a:latin typeface="Arial" pitchFamily="34" charset="0"/>
                <a:ea typeface="Arial" pitchFamily="34" charset="-122"/>
                <a:cs typeface="Arial" pitchFamily="34" charset="-120"/>
              </a:rPr>
              <a:t>4</a:t>
            </a:r>
            <a:endParaRPr lang="en-US" sz="1200" dirty="0"/>
          </a:p>
        </p:txBody>
      </p:sp>
      <p:sp>
        <p:nvSpPr>
          <p:cNvPr id="17" name="Text 15"/>
          <p:cNvSpPr/>
          <p:nvPr/>
        </p:nvSpPr>
        <p:spPr>
          <a:xfrm>
            <a:off x="4241800" y="1635761"/>
            <a:ext cx="304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6B7280"/>
                </a:solidFill>
                <a:latin typeface="Arial" pitchFamily="34" charset="0"/>
                <a:ea typeface="Arial" pitchFamily="34" charset="-122"/>
                <a:cs typeface="Arial" pitchFamily="34" charset="-120"/>
              </a:rPr>
              <a:t>5</a:t>
            </a:r>
            <a:endParaRPr lang="en-US" sz="1200" dirty="0"/>
          </a:p>
        </p:txBody>
      </p:sp>
      <p:sp>
        <p:nvSpPr>
          <p:cNvPr id="18" name="Shape 16"/>
          <p:cNvSpPr/>
          <p:nvPr/>
        </p:nvSpPr>
        <p:spPr>
          <a:xfrm>
            <a:off x="4648200" y="3750311"/>
            <a:ext cx="6731000" cy="0"/>
          </a:xfrm>
          <a:prstGeom prst="line">
            <a:avLst/>
          </a:prstGeom>
          <a:noFill/>
          <a:ln w="12700">
            <a:solidFill>
              <a:srgbClr val="9CA3AF"/>
            </a:solidFill>
            <a:prstDash val="solid"/>
          </a:ln>
        </p:spPr>
      </p:sp>
      <p:sp>
        <p:nvSpPr>
          <p:cNvPr id="19" name="Shape 17"/>
          <p:cNvSpPr/>
          <p:nvPr/>
        </p:nvSpPr>
        <p:spPr>
          <a:xfrm>
            <a:off x="4654550" y="1470661"/>
            <a:ext cx="0" cy="2286000"/>
          </a:xfrm>
          <a:prstGeom prst="line">
            <a:avLst/>
          </a:prstGeom>
          <a:noFill/>
          <a:ln w="12700">
            <a:solidFill>
              <a:srgbClr val="9CA3AF"/>
            </a:solidFill>
            <a:prstDash val="solid"/>
          </a:ln>
        </p:spPr>
      </p:sp>
      <p:sp>
        <p:nvSpPr>
          <p:cNvPr id="20" name="Text 18"/>
          <p:cNvSpPr/>
          <p:nvPr/>
        </p:nvSpPr>
        <p:spPr>
          <a:xfrm>
            <a:off x="4785360" y="1762761"/>
            <a:ext cx="1130723"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4,19</a:t>
            </a:r>
            <a:endParaRPr lang="en-US" sz="1300" dirty="0"/>
          </a:p>
        </p:txBody>
      </p:sp>
      <p:sp>
        <p:nvSpPr>
          <p:cNvPr id="21" name="Shape 19"/>
          <p:cNvSpPr/>
          <p:nvPr/>
        </p:nvSpPr>
        <p:spPr>
          <a:xfrm>
            <a:off x="4810760" y="2044700"/>
            <a:ext cx="1079923" cy="1701800"/>
          </a:xfrm>
          <a:custGeom>
            <a:avLst/>
            <a:gdLst/>
            <a:ahLst/>
            <a:cxnLst/>
            <a:rect l="l" t="t" r="r" b="b"/>
            <a:pathLst>
              <a:path w="1079923" h="1701800">
                <a:moveTo>
                  <a:pt x="38100" y="0"/>
                </a:moveTo>
                <a:lnTo>
                  <a:pt x="1041823" y="0"/>
                </a:lnTo>
                <a:arcTo hR="38100" wR="38100" stAng="16200000" swAng="5400000"/>
                <a:lnTo>
                  <a:pt x="1079923" y="1701800"/>
                </a:lnTo>
                <a:lnTo>
                  <a:pt x="0" y="1701800"/>
                </a:lnTo>
                <a:lnTo>
                  <a:pt x="0" y="38100"/>
                </a:lnTo>
                <a:arcTo hR="38100" wR="38100" stAng="10800000" swAng="5400000"/>
                <a:close/>
              </a:path>
            </a:pathLst>
          </a:custGeom>
          <a:solidFill>
            <a:srgbClr val="E4572E"/>
          </a:solidFill>
          <a:ln/>
        </p:spPr>
      </p:sp>
      <p:sp>
        <p:nvSpPr>
          <p:cNvPr id="22" name="Text 20"/>
          <p:cNvSpPr/>
          <p:nvPr/>
        </p:nvSpPr>
        <p:spPr>
          <a:xfrm>
            <a:off x="6119283" y="1788161"/>
            <a:ext cx="1130829"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4,12</a:t>
            </a:r>
            <a:endParaRPr lang="en-US" sz="1300" dirty="0"/>
          </a:p>
        </p:txBody>
      </p:sp>
      <p:sp>
        <p:nvSpPr>
          <p:cNvPr id="23" name="Shape 21"/>
          <p:cNvSpPr/>
          <p:nvPr/>
        </p:nvSpPr>
        <p:spPr>
          <a:xfrm>
            <a:off x="6144683" y="2070100"/>
            <a:ext cx="1080029" cy="1676400"/>
          </a:xfrm>
          <a:custGeom>
            <a:avLst/>
            <a:gdLst/>
            <a:ahLst/>
            <a:cxnLst/>
            <a:rect l="l" t="t" r="r" b="b"/>
            <a:pathLst>
              <a:path w="1080029" h="1676400">
                <a:moveTo>
                  <a:pt x="38100" y="0"/>
                </a:moveTo>
                <a:lnTo>
                  <a:pt x="1041929" y="0"/>
                </a:lnTo>
                <a:arcTo hR="38100" wR="38100" stAng="16200000" swAng="5400000"/>
                <a:lnTo>
                  <a:pt x="1080029" y="1676400"/>
                </a:lnTo>
                <a:lnTo>
                  <a:pt x="0" y="1676400"/>
                </a:lnTo>
                <a:lnTo>
                  <a:pt x="0" y="38100"/>
                </a:lnTo>
                <a:arcTo hR="38100" wR="38100" stAng="10800000" swAng="5400000"/>
                <a:close/>
              </a:path>
            </a:pathLst>
          </a:custGeom>
          <a:solidFill>
            <a:srgbClr val="E4572E"/>
          </a:solidFill>
          <a:ln/>
        </p:spPr>
      </p:sp>
      <p:sp>
        <p:nvSpPr>
          <p:cNvPr id="24" name="Text 22"/>
          <p:cNvSpPr/>
          <p:nvPr/>
        </p:nvSpPr>
        <p:spPr>
          <a:xfrm>
            <a:off x="7453312" y="1788161"/>
            <a:ext cx="1130829"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4,13</a:t>
            </a:r>
            <a:endParaRPr lang="en-US" sz="1300" dirty="0"/>
          </a:p>
        </p:txBody>
      </p:sp>
      <p:sp>
        <p:nvSpPr>
          <p:cNvPr id="25" name="Shape 23"/>
          <p:cNvSpPr/>
          <p:nvPr/>
        </p:nvSpPr>
        <p:spPr>
          <a:xfrm>
            <a:off x="7478713" y="2070100"/>
            <a:ext cx="1080029" cy="1676400"/>
          </a:xfrm>
          <a:custGeom>
            <a:avLst/>
            <a:gdLst/>
            <a:ahLst/>
            <a:cxnLst/>
            <a:rect l="l" t="t" r="r" b="b"/>
            <a:pathLst>
              <a:path w="1080029" h="1676400">
                <a:moveTo>
                  <a:pt x="38100" y="0"/>
                </a:moveTo>
                <a:lnTo>
                  <a:pt x="1041929" y="0"/>
                </a:lnTo>
                <a:arcTo hR="38100" wR="38100" stAng="16200000" swAng="5400000"/>
                <a:lnTo>
                  <a:pt x="1080029" y="1676400"/>
                </a:lnTo>
                <a:lnTo>
                  <a:pt x="0" y="1676400"/>
                </a:lnTo>
                <a:lnTo>
                  <a:pt x="0" y="38100"/>
                </a:lnTo>
                <a:arcTo hR="38100" wR="38100" stAng="10800000" swAng="5400000"/>
                <a:close/>
              </a:path>
            </a:pathLst>
          </a:custGeom>
          <a:solidFill>
            <a:srgbClr val="E4572E"/>
          </a:solidFill>
          <a:ln/>
        </p:spPr>
      </p:sp>
      <p:sp>
        <p:nvSpPr>
          <p:cNvPr id="26" name="Text 24"/>
          <p:cNvSpPr/>
          <p:nvPr/>
        </p:nvSpPr>
        <p:spPr>
          <a:xfrm>
            <a:off x="8787342" y="1750061"/>
            <a:ext cx="1130829"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4,22</a:t>
            </a:r>
            <a:endParaRPr lang="en-US" sz="1300" dirty="0"/>
          </a:p>
        </p:txBody>
      </p:sp>
      <p:sp>
        <p:nvSpPr>
          <p:cNvPr id="27" name="Shape 25"/>
          <p:cNvSpPr/>
          <p:nvPr/>
        </p:nvSpPr>
        <p:spPr>
          <a:xfrm>
            <a:off x="8812742" y="2032000"/>
            <a:ext cx="1080029" cy="1714500"/>
          </a:xfrm>
          <a:custGeom>
            <a:avLst/>
            <a:gdLst/>
            <a:ahLst/>
            <a:cxnLst/>
            <a:rect l="l" t="t" r="r" b="b"/>
            <a:pathLst>
              <a:path w="1080029" h="1714500">
                <a:moveTo>
                  <a:pt x="38100" y="0"/>
                </a:moveTo>
                <a:lnTo>
                  <a:pt x="1041929" y="0"/>
                </a:lnTo>
                <a:arcTo hR="38100" wR="38100" stAng="16200000" swAng="5400000"/>
                <a:lnTo>
                  <a:pt x="1080029" y="1714500"/>
                </a:lnTo>
                <a:lnTo>
                  <a:pt x="0" y="1714500"/>
                </a:lnTo>
                <a:lnTo>
                  <a:pt x="0" y="38100"/>
                </a:lnTo>
                <a:arcTo hR="38100" wR="38100" stAng="10800000" swAng="5400000"/>
                <a:close/>
              </a:path>
            </a:pathLst>
          </a:custGeom>
          <a:solidFill>
            <a:srgbClr val="E4572E"/>
          </a:solidFill>
          <a:ln/>
        </p:spPr>
      </p:sp>
      <p:sp>
        <p:nvSpPr>
          <p:cNvPr id="28" name="Text 26"/>
          <p:cNvSpPr/>
          <p:nvPr/>
        </p:nvSpPr>
        <p:spPr>
          <a:xfrm>
            <a:off x="10121371" y="1775461"/>
            <a:ext cx="1130829"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F2937"/>
                </a:solidFill>
                <a:latin typeface="Arial" pitchFamily="34" charset="0"/>
                <a:ea typeface="Arial" pitchFamily="34" charset="-122"/>
                <a:cs typeface="Arial" pitchFamily="34" charset="-120"/>
              </a:rPr>
              <a:t>4,16</a:t>
            </a:r>
            <a:endParaRPr lang="en-US" sz="1300" dirty="0"/>
          </a:p>
        </p:txBody>
      </p:sp>
      <p:sp>
        <p:nvSpPr>
          <p:cNvPr id="29" name="Shape 27"/>
          <p:cNvSpPr/>
          <p:nvPr/>
        </p:nvSpPr>
        <p:spPr>
          <a:xfrm>
            <a:off x="10146771" y="2057400"/>
            <a:ext cx="1080029" cy="1689100"/>
          </a:xfrm>
          <a:custGeom>
            <a:avLst/>
            <a:gdLst/>
            <a:ahLst/>
            <a:cxnLst/>
            <a:rect l="l" t="t" r="r" b="b"/>
            <a:pathLst>
              <a:path w="1080029" h="1689100">
                <a:moveTo>
                  <a:pt x="38100" y="0"/>
                </a:moveTo>
                <a:lnTo>
                  <a:pt x="1041929" y="0"/>
                </a:lnTo>
                <a:arcTo hR="38100" wR="38100" stAng="16200000" swAng="5400000"/>
                <a:lnTo>
                  <a:pt x="1080029" y="1689100"/>
                </a:lnTo>
                <a:lnTo>
                  <a:pt x="0" y="1689100"/>
                </a:lnTo>
                <a:lnTo>
                  <a:pt x="0" y="38100"/>
                </a:lnTo>
                <a:arcTo hR="38100" wR="38100" stAng="10800000" swAng="5400000"/>
                <a:close/>
              </a:path>
            </a:pathLst>
          </a:custGeom>
          <a:solidFill>
            <a:srgbClr val="E4572E"/>
          </a:solidFill>
          <a:ln/>
        </p:spPr>
      </p:sp>
      <p:sp>
        <p:nvSpPr>
          <p:cNvPr id="30" name="Text 28"/>
          <p:cNvSpPr/>
          <p:nvPr/>
        </p:nvSpPr>
        <p:spPr>
          <a:xfrm>
            <a:off x="4787900" y="3934461"/>
            <a:ext cx="11303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F2937"/>
                </a:solidFill>
                <a:latin typeface="Arial" pitchFamily="34" charset="0"/>
                <a:ea typeface="Arial" pitchFamily="34" charset="-122"/>
                <a:cs typeface="Arial" pitchFamily="34" charset="-120"/>
              </a:rPr>
              <a:t>20 min o menos</a:t>
            </a:r>
            <a:endParaRPr lang="en-US" sz="1200" dirty="0"/>
          </a:p>
          <a:p>
            <a:pPr algn="ctr" indent="0" marL="0">
              <a:lnSpc>
                <a:spcPts val="1500"/>
              </a:lnSpc>
              <a:buNone/>
            </a:pPr>
            <a:r>
              <a:rPr lang="en-US" sz="1200" dirty="0">
                <a:solidFill>
                  <a:srgbClr val="6B7280"/>
                </a:solidFill>
                <a:latin typeface="Arial" pitchFamily="34" charset="0"/>
                <a:ea typeface="Arial" pitchFamily="34" charset="-122"/>
                <a:cs typeface="Arial" pitchFamily="34" charset="-120"/>
              </a:rPr>
              <a:t>n = 125</a:t>
            </a:r>
            <a:endParaRPr lang="en-US" sz="1200" dirty="0"/>
          </a:p>
        </p:txBody>
      </p:sp>
      <p:sp>
        <p:nvSpPr>
          <p:cNvPr id="31" name="Text 29"/>
          <p:cNvSpPr/>
          <p:nvPr/>
        </p:nvSpPr>
        <p:spPr>
          <a:xfrm>
            <a:off x="6121400" y="3934461"/>
            <a:ext cx="11303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F2937"/>
                </a:solidFill>
                <a:latin typeface="Arial" pitchFamily="34" charset="0"/>
                <a:ea typeface="Arial" pitchFamily="34" charset="-122"/>
                <a:cs typeface="Arial" pitchFamily="34" charset="-120"/>
              </a:rPr>
              <a:t>21 a 30 min</a:t>
            </a:r>
            <a:endParaRPr lang="en-US" sz="1200" dirty="0"/>
          </a:p>
          <a:p>
            <a:pPr algn="ctr" indent="0" marL="0">
              <a:lnSpc>
                <a:spcPts val="1500"/>
              </a:lnSpc>
              <a:buNone/>
            </a:pPr>
            <a:r>
              <a:rPr lang="en-US" sz="1200" dirty="0">
                <a:solidFill>
                  <a:srgbClr val="6B7280"/>
                </a:solidFill>
                <a:latin typeface="Arial" pitchFamily="34" charset="0"/>
                <a:ea typeface="Arial" pitchFamily="34" charset="-122"/>
                <a:cs typeface="Arial" pitchFamily="34" charset="-120"/>
              </a:rPr>
              <a:t>n = 415</a:t>
            </a:r>
            <a:endParaRPr lang="en-US" sz="1200" dirty="0"/>
          </a:p>
        </p:txBody>
      </p:sp>
      <p:sp>
        <p:nvSpPr>
          <p:cNvPr id="32" name="Text 30"/>
          <p:cNvSpPr/>
          <p:nvPr/>
        </p:nvSpPr>
        <p:spPr>
          <a:xfrm>
            <a:off x="7454900" y="3934461"/>
            <a:ext cx="11303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F2937"/>
                </a:solidFill>
                <a:latin typeface="Arial" pitchFamily="34" charset="0"/>
                <a:ea typeface="Arial" pitchFamily="34" charset="-122"/>
                <a:cs typeface="Arial" pitchFamily="34" charset="-120"/>
              </a:rPr>
              <a:t>31 a 40 min</a:t>
            </a:r>
            <a:endParaRPr lang="en-US" sz="1200" dirty="0"/>
          </a:p>
          <a:p>
            <a:pPr algn="ctr" indent="0" marL="0">
              <a:lnSpc>
                <a:spcPts val="1500"/>
              </a:lnSpc>
              <a:buNone/>
            </a:pPr>
            <a:r>
              <a:rPr lang="en-US" sz="1200" dirty="0">
                <a:solidFill>
                  <a:srgbClr val="6B7280"/>
                </a:solidFill>
                <a:latin typeface="Arial" pitchFamily="34" charset="0"/>
                <a:ea typeface="Arial" pitchFamily="34" charset="-122"/>
                <a:cs typeface="Arial" pitchFamily="34" charset="-120"/>
              </a:rPr>
              <a:t>n = 473</a:t>
            </a:r>
            <a:endParaRPr lang="en-US" sz="1200" dirty="0"/>
          </a:p>
        </p:txBody>
      </p:sp>
      <p:sp>
        <p:nvSpPr>
          <p:cNvPr id="33" name="Text 31"/>
          <p:cNvSpPr/>
          <p:nvPr/>
        </p:nvSpPr>
        <p:spPr>
          <a:xfrm>
            <a:off x="8788400" y="3934461"/>
            <a:ext cx="11303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F2937"/>
                </a:solidFill>
                <a:latin typeface="Arial" pitchFamily="34" charset="0"/>
                <a:ea typeface="Arial" pitchFamily="34" charset="-122"/>
                <a:cs typeface="Arial" pitchFamily="34" charset="-120"/>
              </a:rPr>
              <a:t>41 a 50 min</a:t>
            </a:r>
            <a:endParaRPr lang="en-US" sz="1200" dirty="0"/>
          </a:p>
          <a:p>
            <a:pPr algn="ctr" indent="0" marL="0">
              <a:lnSpc>
                <a:spcPts val="1500"/>
              </a:lnSpc>
              <a:buNone/>
            </a:pPr>
            <a:r>
              <a:rPr lang="en-US" sz="1200" dirty="0">
                <a:solidFill>
                  <a:srgbClr val="6B7280"/>
                </a:solidFill>
                <a:latin typeface="Arial" pitchFamily="34" charset="0"/>
                <a:ea typeface="Arial" pitchFamily="34" charset="-122"/>
                <a:cs typeface="Arial" pitchFamily="34" charset="-120"/>
              </a:rPr>
              <a:t>n = 165</a:t>
            </a:r>
            <a:endParaRPr lang="en-US" sz="1200" dirty="0"/>
          </a:p>
        </p:txBody>
      </p:sp>
      <p:sp>
        <p:nvSpPr>
          <p:cNvPr id="34" name="Text 32"/>
          <p:cNvSpPr/>
          <p:nvPr/>
        </p:nvSpPr>
        <p:spPr>
          <a:xfrm>
            <a:off x="10121900" y="3934461"/>
            <a:ext cx="11303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F2937"/>
                </a:solidFill>
                <a:latin typeface="Arial" pitchFamily="34" charset="0"/>
                <a:ea typeface="Arial" pitchFamily="34" charset="-122"/>
                <a:cs typeface="Arial" pitchFamily="34" charset="-120"/>
              </a:rPr>
              <a:t>Más de 50 min</a:t>
            </a:r>
            <a:endParaRPr lang="en-US" sz="1200" dirty="0"/>
          </a:p>
          <a:p>
            <a:pPr algn="ctr" indent="0" marL="0">
              <a:lnSpc>
                <a:spcPts val="1500"/>
              </a:lnSpc>
              <a:buNone/>
            </a:pPr>
            <a:r>
              <a:rPr lang="en-US" sz="1200" dirty="0">
                <a:solidFill>
                  <a:srgbClr val="6B7280"/>
                </a:solidFill>
                <a:latin typeface="Arial" pitchFamily="34" charset="0"/>
                <a:ea typeface="Arial" pitchFamily="34" charset="-122"/>
                <a:cs typeface="Arial" pitchFamily="34" charset="-120"/>
              </a:rPr>
              <a:t>n = 19</a:t>
            </a:r>
            <a:endParaRPr lang="en-US" sz="1200" dirty="0"/>
          </a:p>
        </p:txBody>
      </p:sp>
      <p:sp>
        <p:nvSpPr>
          <p:cNvPr id="35" name="Shape 33"/>
          <p:cNvSpPr/>
          <p:nvPr/>
        </p:nvSpPr>
        <p:spPr>
          <a:xfrm>
            <a:off x="812800" y="4876167"/>
            <a:ext cx="10566400" cy="916940"/>
          </a:xfrm>
          <a:prstGeom prst="roundRect">
            <a:avLst>
              <a:gd name="adj" fmla="val 8310"/>
            </a:avLst>
          </a:prstGeom>
          <a:solidFill>
            <a:srgbClr val="F3F4F6"/>
          </a:solidFill>
          <a:ln/>
        </p:spPr>
      </p:sp>
      <p:sp>
        <p:nvSpPr>
          <p:cNvPr id="36" name="Text 34"/>
          <p:cNvSpPr/>
          <p:nvPr/>
        </p:nvSpPr>
        <p:spPr>
          <a:xfrm>
            <a:off x="1041400" y="5092067"/>
            <a:ext cx="54155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937"/>
                </a:solidFill>
                <a:latin typeface="Arial" pitchFamily="34" charset="0"/>
                <a:ea typeface="Arial" pitchFamily="34" charset="-122"/>
                <a:cs typeface="Arial" pitchFamily="34" charset="-120"/>
              </a:rPr>
              <a:t>El medio de pago no cambia nada</a:t>
            </a:r>
            <a:endParaRPr lang="en-US" sz="1500" dirty="0"/>
          </a:p>
        </p:txBody>
      </p:sp>
      <p:sp>
        <p:nvSpPr>
          <p:cNvPr id="37" name="Text 35"/>
          <p:cNvSpPr/>
          <p:nvPr/>
        </p:nvSpPr>
        <p:spPr>
          <a:xfrm>
            <a:off x="1041400" y="5371467"/>
            <a:ext cx="541553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F2937"/>
                </a:solidFill>
                <a:latin typeface="Arial" pitchFamily="34" charset="0"/>
                <a:ea typeface="Arial" pitchFamily="34" charset="-122"/>
                <a:cs typeface="Arial" pitchFamily="34" charset="-120"/>
              </a:rPr>
              <a:t>Los tres cancelan entre 9,4% y 11,1% y tienen un ticket cercano a $11.100.</a:t>
            </a:r>
            <a:endParaRPr lang="en-US" sz="1200" dirty="0"/>
          </a:p>
        </p:txBody>
      </p:sp>
      <p:sp>
        <p:nvSpPr>
          <p:cNvPr id="38" name="Text 36"/>
          <p:cNvSpPr/>
          <p:nvPr/>
        </p:nvSpPr>
        <p:spPr>
          <a:xfrm>
            <a:off x="6604000" y="5053967"/>
            <a:ext cx="1320800"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F2937"/>
                </a:solidFill>
                <a:latin typeface="Arial" pitchFamily="34" charset="0"/>
                <a:ea typeface="Arial" pitchFamily="34" charset="-122"/>
                <a:cs typeface="Arial" pitchFamily="34" charset="-120"/>
              </a:rPr>
              <a:t>58%</a:t>
            </a:r>
            <a:endParaRPr lang="en-US" sz="2400" dirty="0"/>
          </a:p>
        </p:txBody>
      </p:sp>
      <p:sp>
        <p:nvSpPr>
          <p:cNvPr id="39" name="Text 37"/>
          <p:cNvSpPr/>
          <p:nvPr/>
        </p:nvSpPr>
        <p:spPr>
          <a:xfrm>
            <a:off x="6604000" y="5401946"/>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con tarjeta</a:t>
            </a:r>
            <a:endParaRPr lang="en-US" sz="1200" dirty="0"/>
          </a:p>
        </p:txBody>
      </p:sp>
      <p:sp>
        <p:nvSpPr>
          <p:cNvPr id="40" name="Text 38"/>
          <p:cNvSpPr/>
          <p:nvPr/>
        </p:nvSpPr>
        <p:spPr>
          <a:xfrm>
            <a:off x="8178800" y="5053967"/>
            <a:ext cx="1320800"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F2937"/>
                </a:solidFill>
                <a:latin typeface="Arial" pitchFamily="34" charset="0"/>
                <a:ea typeface="Arial" pitchFamily="34" charset="-122"/>
                <a:cs typeface="Arial" pitchFamily="34" charset="-120"/>
              </a:rPr>
              <a:t>26%</a:t>
            </a:r>
            <a:endParaRPr lang="en-US" sz="2400" dirty="0"/>
          </a:p>
        </p:txBody>
      </p:sp>
      <p:sp>
        <p:nvSpPr>
          <p:cNvPr id="41" name="Text 39"/>
          <p:cNvSpPr/>
          <p:nvPr/>
        </p:nvSpPr>
        <p:spPr>
          <a:xfrm>
            <a:off x="8178800" y="5401946"/>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en efectivo</a:t>
            </a:r>
            <a:endParaRPr lang="en-US" sz="1200" dirty="0"/>
          </a:p>
        </p:txBody>
      </p:sp>
      <p:sp>
        <p:nvSpPr>
          <p:cNvPr id="42" name="Text 40"/>
          <p:cNvSpPr/>
          <p:nvPr/>
        </p:nvSpPr>
        <p:spPr>
          <a:xfrm>
            <a:off x="9753600" y="5053967"/>
            <a:ext cx="1447800"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F2937"/>
                </a:solidFill>
                <a:latin typeface="Arial" pitchFamily="34" charset="0"/>
                <a:ea typeface="Arial" pitchFamily="34" charset="-122"/>
                <a:cs typeface="Arial" pitchFamily="34" charset="-120"/>
              </a:rPr>
              <a:t>16%</a:t>
            </a:r>
            <a:endParaRPr lang="en-US" sz="2400" dirty="0"/>
          </a:p>
        </p:txBody>
      </p:sp>
      <p:sp>
        <p:nvSpPr>
          <p:cNvPr id="43" name="Text 41"/>
          <p:cNvSpPr/>
          <p:nvPr/>
        </p:nvSpPr>
        <p:spPr>
          <a:xfrm>
            <a:off x="9753600" y="5401946"/>
            <a:ext cx="1447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563"/>
                </a:solidFill>
                <a:latin typeface="Arial" pitchFamily="34" charset="0"/>
                <a:ea typeface="Arial" pitchFamily="34" charset="-122"/>
                <a:cs typeface="Arial" pitchFamily="34" charset="-120"/>
              </a:rPr>
              <a:t>por transferencia</a:t>
            </a:r>
            <a:endParaRPr lang="en-US" sz="1200" dirty="0"/>
          </a:p>
        </p:txBody>
      </p:sp>
      <p:sp>
        <p:nvSpPr>
          <p:cNvPr id="44" name="Text 42"/>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45" name="Text 4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Saludable lidera; Dulce Tentación vende mucho con la peor nota</a:t>
            </a:r>
            <a:endParaRPr lang="en-US" sz="2400" dirty="0"/>
          </a:p>
        </p:txBody>
      </p:sp>
      <p:sp>
        <p:nvSpPr>
          <p:cNvPr id="3" name="Shape 1"/>
          <p:cNvSpPr/>
          <p:nvPr/>
        </p:nvSpPr>
        <p:spPr>
          <a:xfrm>
            <a:off x="812800" y="1163321"/>
            <a:ext cx="5080000" cy="2273300"/>
          </a:xfrm>
          <a:prstGeom prst="roundRect">
            <a:avLst>
              <a:gd name="adj" fmla="val 3352"/>
            </a:avLst>
          </a:prstGeom>
          <a:solidFill>
            <a:srgbClr val="F3F4F6"/>
          </a:solidFill>
          <a:ln/>
        </p:spPr>
      </p:sp>
      <p:sp>
        <p:nvSpPr>
          <p:cNvPr id="4" name="Text 2"/>
          <p:cNvSpPr/>
          <p:nvPr/>
        </p:nvSpPr>
        <p:spPr>
          <a:xfrm>
            <a:off x="1041400" y="1366521"/>
            <a:ext cx="476148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937"/>
                </a:solidFill>
                <a:latin typeface="Arial" pitchFamily="34" charset="0"/>
                <a:ea typeface="Arial" pitchFamily="34" charset="-122"/>
                <a:cs typeface="Arial" pitchFamily="34" charset="-120"/>
              </a:rPr>
              <a:t>Dulce Tentación</a:t>
            </a:r>
            <a:endParaRPr lang="en-US" sz="1800" dirty="0"/>
          </a:p>
        </p:txBody>
      </p:sp>
      <p:sp>
        <p:nvSpPr>
          <p:cNvPr id="5" name="Text 3"/>
          <p:cNvSpPr/>
          <p:nvPr/>
        </p:nvSpPr>
        <p:spPr>
          <a:xfrm>
            <a:off x="1041400" y="1717042"/>
            <a:ext cx="4761484"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B5563"/>
                </a:solidFill>
                <a:latin typeface="Arial" pitchFamily="34" charset="0"/>
                <a:ea typeface="Arial" pitchFamily="34" charset="-122"/>
                <a:cs typeface="Arial" pitchFamily="34" charset="-120"/>
              </a:rPr>
              <a:t>3.er restaurante en ventas, con la peor calificación</a:t>
            </a:r>
            <a:endParaRPr lang="en-US" sz="1300" dirty="0"/>
          </a:p>
        </p:txBody>
      </p:sp>
      <p:sp>
        <p:nvSpPr>
          <p:cNvPr id="6" name="Text 4"/>
          <p:cNvSpPr/>
          <p:nvPr/>
        </p:nvSpPr>
        <p:spPr>
          <a:xfrm>
            <a:off x="1041400" y="2084071"/>
            <a:ext cx="1456267"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1F2937"/>
                </a:solidFill>
                <a:latin typeface="Arial" pitchFamily="34" charset="0"/>
                <a:ea typeface="Arial" pitchFamily="34" charset="-122"/>
                <a:cs typeface="Arial" pitchFamily="34" charset="-120"/>
              </a:rPr>
              <a:t>$692 mil</a:t>
            </a:r>
            <a:endParaRPr lang="en-US" sz="2400" dirty="0"/>
          </a:p>
        </p:txBody>
      </p:sp>
      <p:sp>
        <p:nvSpPr>
          <p:cNvPr id="7" name="Text 5"/>
          <p:cNvSpPr/>
          <p:nvPr/>
        </p:nvSpPr>
        <p:spPr>
          <a:xfrm>
            <a:off x="1041400" y="2444750"/>
            <a:ext cx="145626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en ventas</a:t>
            </a:r>
            <a:endParaRPr lang="en-US" sz="1200" dirty="0"/>
          </a:p>
        </p:txBody>
      </p:sp>
      <p:sp>
        <p:nvSpPr>
          <p:cNvPr id="8" name="Text 6"/>
          <p:cNvSpPr/>
          <p:nvPr/>
        </p:nvSpPr>
        <p:spPr>
          <a:xfrm>
            <a:off x="2650067" y="2084071"/>
            <a:ext cx="1456267"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C2410C"/>
                </a:solidFill>
                <a:latin typeface="Arial" pitchFamily="34" charset="0"/>
                <a:ea typeface="Arial" pitchFamily="34" charset="-122"/>
                <a:cs typeface="Arial" pitchFamily="34" charset="-120"/>
              </a:rPr>
              <a:t>3,77</a:t>
            </a:r>
            <a:endParaRPr lang="en-US" sz="2400" dirty="0"/>
          </a:p>
        </p:txBody>
      </p:sp>
      <p:sp>
        <p:nvSpPr>
          <p:cNvPr id="9" name="Text 7"/>
          <p:cNvSpPr/>
          <p:nvPr/>
        </p:nvSpPr>
        <p:spPr>
          <a:xfrm>
            <a:off x="2650067" y="2444750"/>
            <a:ext cx="145626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calificación promedio</a:t>
            </a:r>
            <a:endParaRPr lang="en-US" sz="1200" dirty="0"/>
          </a:p>
        </p:txBody>
      </p:sp>
      <p:sp>
        <p:nvSpPr>
          <p:cNvPr id="10" name="Text 8"/>
          <p:cNvSpPr/>
          <p:nvPr/>
        </p:nvSpPr>
        <p:spPr>
          <a:xfrm>
            <a:off x="4258733" y="2084071"/>
            <a:ext cx="1456267"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C2410C"/>
                </a:solidFill>
                <a:latin typeface="Arial" pitchFamily="34" charset="0"/>
                <a:ea typeface="Arial" pitchFamily="34" charset="-122"/>
                <a:cs typeface="Arial" pitchFamily="34" charset="-120"/>
              </a:rPr>
              <a:t>43%</a:t>
            </a:r>
            <a:endParaRPr lang="en-US" sz="2400" dirty="0"/>
          </a:p>
        </p:txBody>
      </p:sp>
      <p:sp>
        <p:nvSpPr>
          <p:cNvPr id="11" name="Text 9"/>
          <p:cNvSpPr/>
          <p:nvPr/>
        </p:nvSpPr>
        <p:spPr>
          <a:xfrm>
            <a:off x="4258733" y="2444750"/>
            <a:ext cx="1456267"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B5563"/>
                </a:solidFill>
                <a:latin typeface="Arial" pitchFamily="34" charset="0"/>
                <a:ea typeface="Arial" pitchFamily="34" charset="-122"/>
                <a:cs typeface="Arial" pitchFamily="34" charset="-120"/>
              </a:rPr>
              <a:t>de sus notas son de 3 estrellas o menos</a:t>
            </a:r>
            <a:endParaRPr lang="en-US" sz="1200" dirty="0"/>
          </a:p>
        </p:txBody>
      </p:sp>
      <p:sp>
        <p:nvSpPr>
          <p:cNvPr id="12" name="Shape 10"/>
          <p:cNvSpPr/>
          <p:nvPr/>
        </p:nvSpPr>
        <p:spPr>
          <a:xfrm>
            <a:off x="1060450" y="2993392"/>
            <a:ext cx="0" cy="240030"/>
          </a:xfrm>
          <a:prstGeom prst="line">
            <a:avLst/>
          </a:prstGeom>
          <a:noFill/>
          <a:ln w="38100">
            <a:solidFill>
              <a:srgbClr val="C2410C"/>
            </a:solidFill>
            <a:prstDash val="solid"/>
          </a:ln>
        </p:spPr>
      </p:sp>
      <p:sp>
        <p:nvSpPr>
          <p:cNvPr id="13" name="Text 11"/>
          <p:cNvSpPr/>
          <p:nvPr/>
        </p:nvSpPr>
        <p:spPr>
          <a:xfrm>
            <a:off x="1191260" y="3006092"/>
            <a:ext cx="4607128" cy="2400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F2937"/>
                </a:solidFill>
                <a:latin typeface="Arial" pitchFamily="34" charset="0"/>
                <a:ea typeface="Arial" pitchFamily="34" charset="-122"/>
                <a:cs typeface="Arial" pitchFamily="34" charset="-120"/>
              </a:rPr>
              <a:t>La diferencia con el resto no es casualidad</a:t>
            </a:r>
            <a:endParaRPr lang="en-US" sz="1300" dirty="0"/>
          </a:p>
        </p:txBody>
      </p:sp>
      <p:sp>
        <p:nvSpPr>
          <p:cNvPr id="14" name="Text 12"/>
          <p:cNvSpPr/>
          <p:nvPr/>
        </p:nvSpPr>
        <p:spPr>
          <a:xfrm>
            <a:off x="6197600" y="1163321"/>
            <a:ext cx="533704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Ventas por categoría (millones de pesos)</a:t>
            </a:r>
            <a:endParaRPr lang="en-US" sz="1300" dirty="0"/>
          </a:p>
        </p:txBody>
      </p:sp>
      <p:sp>
        <p:nvSpPr>
          <p:cNvPr id="15" name="Text 13"/>
          <p:cNvSpPr/>
          <p:nvPr/>
        </p:nvSpPr>
        <p:spPr>
          <a:xfrm>
            <a:off x="6197600" y="14884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7"/>
                </a:solidFill>
                <a:latin typeface="Arial" pitchFamily="34" charset="0"/>
                <a:ea typeface="Arial" pitchFamily="34" charset="-122"/>
                <a:cs typeface="Arial" pitchFamily="34" charset="-120"/>
              </a:rPr>
              <a:t>Saludable</a:t>
            </a:r>
            <a:endParaRPr lang="en-US" sz="1300" dirty="0"/>
          </a:p>
        </p:txBody>
      </p:sp>
      <p:sp>
        <p:nvSpPr>
          <p:cNvPr id="16" name="Shape 14"/>
          <p:cNvSpPr/>
          <p:nvPr/>
        </p:nvSpPr>
        <p:spPr>
          <a:xfrm>
            <a:off x="7569200" y="1470658"/>
            <a:ext cx="2946400" cy="266700"/>
          </a:xfrm>
          <a:custGeom>
            <a:avLst/>
            <a:gdLst/>
            <a:ahLst/>
            <a:cxnLst/>
            <a:rect l="l" t="t" r="r" b="b"/>
            <a:pathLst>
              <a:path w="2946400" h="266700">
                <a:moveTo>
                  <a:pt x="0" y="0"/>
                </a:moveTo>
                <a:lnTo>
                  <a:pt x="2908300" y="0"/>
                </a:lnTo>
                <a:arcTo hR="38100" wR="38100" stAng="16200000" swAng="5400000"/>
                <a:lnTo>
                  <a:pt x="2946400" y="228600"/>
                </a:lnTo>
                <a:arcTo hR="38100" wR="38100" stAng="0" swAng="5400000"/>
                <a:lnTo>
                  <a:pt x="0" y="266700"/>
                </a:lnTo>
                <a:lnTo>
                  <a:pt x="0" y="0"/>
                </a:lnTo>
                <a:close/>
              </a:path>
            </a:pathLst>
          </a:custGeom>
          <a:solidFill>
            <a:srgbClr val="E4572E"/>
          </a:solidFill>
          <a:ln/>
        </p:spPr>
      </p:sp>
      <p:sp>
        <p:nvSpPr>
          <p:cNvPr id="17" name="Text 15"/>
          <p:cNvSpPr/>
          <p:nvPr/>
        </p:nvSpPr>
        <p:spPr>
          <a:xfrm>
            <a:off x="10617200" y="1488442"/>
            <a:ext cx="71589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$5,15 M</a:t>
            </a:r>
            <a:endParaRPr lang="en-US" sz="1300" dirty="0"/>
          </a:p>
        </p:txBody>
      </p:sp>
      <p:sp>
        <p:nvSpPr>
          <p:cNvPr id="18" name="Text 16"/>
          <p:cNvSpPr/>
          <p:nvPr/>
        </p:nvSpPr>
        <p:spPr>
          <a:xfrm>
            <a:off x="6197600" y="18313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7"/>
                </a:solidFill>
                <a:latin typeface="Arial" pitchFamily="34" charset="0"/>
                <a:ea typeface="Arial" pitchFamily="34" charset="-122"/>
                <a:cs typeface="Arial" pitchFamily="34" charset="-120"/>
              </a:rPr>
              <a:t>Asiática</a:t>
            </a:r>
            <a:endParaRPr lang="en-US" sz="1300" dirty="0"/>
          </a:p>
        </p:txBody>
      </p:sp>
      <p:sp>
        <p:nvSpPr>
          <p:cNvPr id="19" name="Shape 17"/>
          <p:cNvSpPr/>
          <p:nvPr/>
        </p:nvSpPr>
        <p:spPr>
          <a:xfrm>
            <a:off x="7569200" y="1813558"/>
            <a:ext cx="2260600" cy="266700"/>
          </a:xfrm>
          <a:custGeom>
            <a:avLst/>
            <a:gdLst/>
            <a:ahLst/>
            <a:cxnLst/>
            <a:rect l="l" t="t" r="r" b="b"/>
            <a:pathLst>
              <a:path w="2260600" h="266700">
                <a:moveTo>
                  <a:pt x="0" y="0"/>
                </a:moveTo>
                <a:lnTo>
                  <a:pt x="2222500" y="0"/>
                </a:lnTo>
                <a:arcTo hR="38100" wR="38100" stAng="16200000" swAng="5400000"/>
                <a:lnTo>
                  <a:pt x="2260600" y="228600"/>
                </a:lnTo>
                <a:arcTo hR="38100" wR="38100" stAng="0" swAng="5400000"/>
                <a:lnTo>
                  <a:pt x="0" y="266700"/>
                </a:lnTo>
                <a:lnTo>
                  <a:pt x="0" y="0"/>
                </a:lnTo>
                <a:close/>
              </a:path>
            </a:pathLst>
          </a:custGeom>
          <a:solidFill>
            <a:srgbClr val="E4572E"/>
          </a:solidFill>
          <a:ln/>
        </p:spPr>
      </p:sp>
      <p:sp>
        <p:nvSpPr>
          <p:cNvPr id="20" name="Text 18"/>
          <p:cNvSpPr/>
          <p:nvPr/>
        </p:nvSpPr>
        <p:spPr>
          <a:xfrm>
            <a:off x="9931400" y="1831342"/>
            <a:ext cx="71589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$3,95 M</a:t>
            </a:r>
            <a:endParaRPr lang="en-US" sz="1300" dirty="0"/>
          </a:p>
        </p:txBody>
      </p:sp>
      <p:sp>
        <p:nvSpPr>
          <p:cNvPr id="21" name="Text 19"/>
          <p:cNvSpPr/>
          <p:nvPr/>
        </p:nvSpPr>
        <p:spPr>
          <a:xfrm>
            <a:off x="6197600" y="21742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7"/>
                </a:solidFill>
                <a:latin typeface="Arial" pitchFamily="34" charset="0"/>
                <a:ea typeface="Arial" pitchFamily="34" charset="-122"/>
                <a:cs typeface="Arial" pitchFamily="34" charset="-120"/>
              </a:rPr>
              <a:t>Italiana</a:t>
            </a:r>
            <a:endParaRPr lang="en-US" sz="1300" dirty="0"/>
          </a:p>
        </p:txBody>
      </p:sp>
      <p:sp>
        <p:nvSpPr>
          <p:cNvPr id="22" name="Shape 20"/>
          <p:cNvSpPr/>
          <p:nvPr/>
        </p:nvSpPr>
        <p:spPr>
          <a:xfrm>
            <a:off x="7569200" y="2156458"/>
            <a:ext cx="1873250" cy="266700"/>
          </a:xfrm>
          <a:custGeom>
            <a:avLst/>
            <a:gdLst/>
            <a:ahLst/>
            <a:cxnLst/>
            <a:rect l="l" t="t" r="r" b="b"/>
            <a:pathLst>
              <a:path w="1873250" h="266700">
                <a:moveTo>
                  <a:pt x="0" y="0"/>
                </a:moveTo>
                <a:lnTo>
                  <a:pt x="1835150" y="0"/>
                </a:lnTo>
                <a:arcTo hR="38100" wR="38100" stAng="16200000" swAng="5400000"/>
                <a:lnTo>
                  <a:pt x="1873250" y="228600"/>
                </a:lnTo>
                <a:arcTo hR="38100" wR="38100" stAng="0" swAng="5400000"/>
                <a:lnTo>
                  <a:pt x="0" y="266700"/>
                </a:lnTo>
                <a:lnTo>
                  <a:pt x="0" y="0"/>
                </a:lnTo>
                <a:close/>
              </a:path>
            </a:pathLst>
          </a:custGeom>
          <a:solidFill>
            <a:srgbClr val="E4572E"/>
          </a:solidFill>
          <a:ln/>
        </p:spPr>
      </p:sp>
      <p:sp>
        <p:nvSpPr>
          <p:cNvPr id="23" name="Text 21"/>
          <p:cNvSpPr/>
          <p:nvPr/>
        </p:nvSpPr>
        <p:spPr>
          <a:xfrm>
            <a:off x="9544050" y="2174242"/>
            <a:ext cx="71589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$3,28 M</a:t>
            </a:r>
            <a:endParaRPr lang="en-US" sz="1300" dirty="0"/>
          </a:p>
        </p:txBody>
      </p:sp>
      <p:sp>
        <p:nvSpPr>
          <p:cNvPr id="24" name="Text 22"/>
          <p:cNvSpPr/>
          <p:nvPr/>
        </p:nvSpPr>
        <p:spPr>
          <a:xfrm>
            <a:off x="6197600" y="25171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7"/>
                </a:solidFill>
                <a:latin typeface="Arial" pitchFamily="34" charset="0"/>
                <a:ea typeface="Arial" pitchFamily="34" charset="-122"/>
                <a:cs typeface="Arial" pitchFamily="34" charset="-120"/>
              </a:rPr>
              <a:t>Comida rápida</a:t>
            </a:r>
            <a:endParaRPr lang="en-US" sz="1300" dirty="0"/>
          </a:p>
        </p:txBody>
      </p:sp>
      <p:sp>
        <p:nvSpPr>
          <p:cNvPr id="25" name="Shape 23"/>
          <p:cNvSpPr/>
          <p:nvPr/>
        </p:nvSpPr>
        <p:spPr>
          <a:xfrm>
            <a:off x="7569200" y="2499358"/>
            <a:ext cx="1231900" cy="266700"/>
          </a:xfrm>
          <a:custGeom>
            <a:avLst/>
            <a:gdLst/>
            <a:ahLst/>
            <a:cxnLst/>
            <a:rect l="l" t="t" r="r" b="b"/>
            <a:pathLst>
              <a:path w="1231900" h="266700">
                <a:moveTo>
                  <a:pt x="0" y="0"/>
                </a:moveTo>
                <a:lnTo>
                  <a:pt x="1193800" y="0"/>
                </a:lnTo>
                <a:arcTo hR="38100" wR="38100" stAng="16200000" swAng="5400000"/>
                <a:lnTo>
                  <a:pt x="1231900" y="228600"/>
                </a:lnTo>
                <a:arcTo hR="38100" wR="38100" stAng="0" swAng="5400000"/>
                <a:lnTo>
                  <a:pt x="0" y="266700"/>
                </a:lnTo>
                <a:lnTo>
                  <a:pt x="0" y="0"/>
                </a:lnTo>
                <a:close/>
              </a:path>
            </a:pathLst>
          </a:custGeom>
          <a:solidFill>
            <a:srgbClr val="E4572E"/>
          </a:solidFill>
          <a:ln/>
        </p:spPr>
      </p:sp>
      <p:sp>
        <p:nvSpPr>
          <p:cNvPr id="26" name="Text 24"/>
          <p:cNvSpPr/>
          <p:nvPr/>
        </p:nvSpPr>
        <p:spPr>
          <a:xfrm>
            <a:off x="8902700" y="2517142"/>
            <a:ext cx="71589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$2,15 M</a:t>
            </a:r>
            <a:endParaRPr lang="en-US" sz="1300" dirty="0"/>
          </a:p>
        </p:txBody>
      </p:sp>
      <p:sp>
        <p:nvSpPr>
          <p:cNvPr id="27" name="Text 25"/>
          <p:cNvSpPr/>
          <p:nvPr/>
        </p:nvSpPr>
        <p:spPr>
          <a:xfrm>
            <a:off x="6197600" y="28600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937"/>
                </a:solidFill>
                <a:latin typeface="Arial" pitchFamily="34" charset="0"/>
                <a:ea typeface="Arial" pitchFamily="34" charset="-122"/>
                <a:cs typeface="Arial" pitchFamily="34" charset="-120"/>
              </a:rPr>
              <a:t>Postres y café</a:t>
            </a:r>
            <a:endParaRPr lang="en-US" sz="1300" dirty="0"/>
          </a:p>
        </p:txBody>
      </p:sp>
      <p:sp>
        <p:nvSpPr>
          <p:cNvPr id="28" name="Shape 26"/>
          <p:cNvSpPr/>
          <p:nvPr/>
        </p:nvSpPr>
        <p:spPr>
          <a:xfrm>
            <a:off x="7569200" y="2842258"/>
            <a:ext cx="158750" cy="266700"/>
          </a:xfrm>
          <a:custGeom>
            <a:avLst/>
            <a:gdLst/>
            <a:ahLst/>
            <a:cxnLst/>
            <a:rect l="l" t="t" r="r" b="b"/>
            <a:pathLst>
              <a:path w="158750" h="266700">
                <a:moveTo>
                  <a:pt x="0" y="0"/>
                </a:moveTo>
                <a:lnTo>
                  <a:pt x="120650" y="0"/>
                </a:lnTo>
                <a:arcTo hR="38100" wR="38100" stAng="16200000" swAng="5400000"/>
                <a:lnTo>
                  <a:pt x="158750" y="228600"/>
                </a:lnTo>
                <a:arcTo hR="38100" wR="38100" stAng="0" swAng="5400000"/>
                <a:lnTo>
                  <a:pt x="0" y="266700"/>
                </a:lnTo>
                <a:lnTo>
                  <a:pt x="0" y="0"/>
                </a:lnTo>
                <a:close/>
              </a:path>
            </a:pathLst>
          </a:custGeom>
          <a:solidFill>
            <a:srgbClr val="E4572E"/>
          </a:solidFill>
          <a:ln/>
        </p:spPr>
      </p:sp>
      <p:sp>
        <p:nvSpPr>
          <p:cNvPr id="29" name="Text 27"/>
          <p:cNvSpPr/>
          <p:nvPr/>
        </p:nvSpPr>
        <p:spPr>
          <a:xfrm>
            <a:off x="7829550" y="2860042"/>
            <a:ext cx="71589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937"/>
                </a:solidFill>
                <a:latin typeface="Arial" pitchFamily="34" charset="0"/>
                <a:ea typeface="Arial" pitchFamily="34" charset="-122"/>
                <a:cs typeface="Arial" pitchFamily="34" charset="-120"/>
              </a:rPr>
              <a:t>$0,28 M</a:t>
            </a:r>
            <a:endParaRPr lang="en-US" sz="1300" dirty="0"/>
          </a:p>
        </p:txBody>
      </p:sp>
      <p:sp>
        <p:nvSpPr>
          <p:cNvPr id="30" name="Text 28"/>
          <p:cNvSpPr/>
          <p:nvPr/>
        </p:nvSpPr>
        <p:spPr>
          <a:xfrm>
            <a:off x="6197600" y="3185158"/>
            <a:ext cx="599440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F2937"/>
                </a:solidFill>
                <a:latin typeface="Arial" pitchFamily="34" charset="0"/>
                <a:ea typeface="Arial" pitchFamily="34" charset="-122"/>
                <a:cs typeface="Arial" pitchFamily="34" charset="-120"/>
              </a:rPr>
              <a:t>Saludable: </a:t>
            </a:r>
            <a:r>
              <a:rPr lang="en-US" sz="1200" b="1" dirty="0">
                <a:solidFill>
                  <a:srgbClr val="15803D"/>
                </a:solidFill>
                <a:latin typeface="Arial" pitchFamily="34" charset="0"/>
                <a:ea typeface="Arial" pitchFamily="34" charset="-122"/>
                <a:cs typeface="Arial" pitchFamily="34" charset="-120"/>
              </a:rPr>
              <a:t>4,22</a:t>
            </a:r>
            <a:r>
              <a:rPr lang="en-US" sz="1200" dirty="0">
                <a:solidFill>
                  <a:srgbClr val="1F2937"/>
                </a:solidFill>
                <a:latin typeface="Arial" pitchFamily="34" charset="0"/>
                <a:ea typeface="Arial" pitchFamily="34" charset="-122"/>
                <a:cs typeface="Arial" pitchFamily="34" charset="-120"/>
              </a:rPr>
              <a:t> de nota y </a:t>
            </a:r>
            <a:r>
              <a:rPr lang="en-US" sz="1200" b="1" dirty="0">
                <a:solidFill>
                  <a:srgbClr val="1F2937"/>
                </a:solidFill>
                <a:latin typeface="Arial" pitchFamily="34" charset="0"/>
                <a:ea typeface="Arial" pitchFamily="34" charset="-122"/>
                <a:cs typeface="Arial" pitchFamily="34" charset="-120"/>
              </a:rPr>
              <a:t>82,6%</a:t>
            </a:r>
            <a:r>
              <a:rPr lang="en-US" sz="1200" dirty="0">
                <a:solidFill>
                  <a:srgbClr val="1F2937"/>
                </a:solidFill>
                <a:latin typeface="Arial" pitchFamily="34" charset="0"/>
                <a:ea typeface="Arial" pitchFamily="34" charset="-122"/>
                <a:cs typeface="Arial" pitchFamily="34" charset="-120"/>
              </a:rPr>
              <a:t> de clientes satisfechos, la mejor categoría</a:t>
            </a:r>
            <a:endParaRPr lang="en-US" sz="1200" dirty="0"/>
          </a:p>
        </p:txBody>
      </p:sp>
      <p:sp>
        <p:nvSpPr>
          <p:cNvPr id="31" name="Shape 29"/>
          <p:cNvSpPr/>
          <p:nvPr/>
        </p:nvSpPr>
        <p:spPr>
          <a:xfrm>
            <a:off x="812800" y="3639821"/>
            <a:ext cx="3420533" cy="1549400"/>
          </a:xfrm>
          <a:prstGeom prst="roundRect">
            <a:avLst>
              <a:gd name="adj" fmla="val 4918"/>
            </a:avLst>
          </a:prstGeom>
          <a:solidFill>
            <a:srgbClr val="F3F4F6"/>
          </a:solidFill>
          <a:ln/>
        </p:spPr>
      </p:sp>
      <p:sp>
        <p:nvSpPr>
          <p:cNvPr id="32" name="Text 30"/>
          <p:cNvSpPr/>
          <p:nvPr/>
        </p:nvSpPr>
        <p:spPr>
          <a:xfrm>
            <a:off x="1016000" y="3817621"/>
            <a:ext cx="3104557"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F2937"/>
                </a:solidFill>
                <a:latin typeface="Arial" pitchFamily="34" charset="0"/>
                <a:ea typeface="Arial" pitchFamily="34" charset="-122"/>
                <a:cs typeface="Arial" pitchFamily="34" charset="-120"/>
              </a:rPr>
              <a:t>Más pedidos</a:t>
            </a:r>
            <a:endParaRPr lang="en-US" sz="1300" dirty="0"/>
          </a:p>
        </p:txBody>
      </p:sp>
      <p:sp>
        <p:nvSpPr>
          <p:cNvPr id="33" name="Text 31"/>
          <p:cNvSpPr/>
          <p:nvPr/>
        </p:nvSpPr>
        <p:spPr>
          <a:xfrm>
            <a:off x="1016000" y="4066542"/>
            <a:ext cx="1575562"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Panadería del Sol</a:t>
            </a:r>
            <a:endParaRPr lang="en-US" sz="1300" dirty="0"/>
          </a:p>
        </p:txBody>
      </p:sp>
      <p:sp>
        <p:nvSpPr>
          <p:cNvPr id="34" name="Text 32"/>
          <p:cNvSpPr/>
          <p:nvPr/>
        </p:nvSpPr>
        <p:spPr>
          <a:xfrm>
            <a:off x="3795607" y="4066542"/>
            <a:ext cx="234527"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1F2937"/>
                </a:solidFill>
                <a:latin typeface="Arial" pitchFamily="34" charset="0"/>
                <a:ea typeface="Arial" pitchFamily="34" charset="-122"/>
                <a:cs typeface="Arial" pitchFamily="34" charset="-120"/>
              </a:rPr>
              <a:t>68</a:t>
            </a:r>
            <a:endParaRPr lang="en-US" sz="1300" dirty="0"/>
          </a:p>
        </p:txBody>
      </p:sp>
      <p:sp>
        <p:nvSpPr>
          <p:cNvPr id="35" name="Text 33"/>
          <p:cNvSpPr/>
          <p:nvPr/>
        </p:nvSpPr>
        <p:spPr>
          <a:xfrm>
            <a:off x="1016000" y="4315458"/>
            <a:ext cx="1112393"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Café Central</a:t>
            </a:r>
            <a:endParaRPr lang="en-US" sz="1300" dirty="0"/>
          </a:p>
        </p:txBody>
      </p:sp>
      <p:sp>
        <p:nvSpPr>
          <p:cNvPr id="36" name="Text 34"/>
          <p:cNvSpPr/>
          <p:nvPr/>
        </p:nvSpPr>
        <p:spPr>
          <a:xfrm>
            <a:off x="3795607" y="4315458"/>
            <a:ext cx="234527"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1F2937"/>
                </a:solidFill>
                <a:latin typeface="Arial" pitchFamily="34" charset="0"/>
                <a:ea typeface="Arial" pitchFamily="34" charset="-122"/>
                <a:cs typeface="Arial" pitchFamily="34" charset="-120"/>
              </a:rPr>
              <a:t>63</a:t>
            </a:r>
            <a:endParaRPr lang="en-US" sz="1300" dirty="0"/>
          </a:p>
        </p:txBody>
      </p:sp>
      <p:sp>
        <p:nvSpPr>
          <p:cNvPr id="37" name="Text 35"/>
          <p:cNvSpPr/>
          <p:nvPr/>
        </p:nvSpPr>
        <p:spPr>
          <a:xfrm>
            <a:off x="1016000" y="4564379"/>
            <a:ext cx="1068832"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La Baguette</a:t>
            </a:r>
            <a:endParaRPr lang="en-US" sz="1300" dirty="0"/>
          </a:p>
        </p:txBody>
      </p:sp>
      <p:sp>
        <p:nvSpPr>
          <p:cNvPr id="38" name="Text 36"/>
          <p:cNvSpPr/>
          <p:nvPr/>
        </p:nvSpPr>
        <p:spPr>
          <a:xfrm>
            <a:off x="3795607" y="4564379"/>
            <a:ext cx="234527"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1F2937"/>
                </a:solidFill>
                <a:latin typeface="Arial" pitchFamily="34" charset="0"/>
                <a:ea typeface="Arial" pitchFamily="34" charset="-122"/>
                <a:cs typeface="Arial" pitchFamily="34" charset="-120"/>
              </a:rPr>
              <a:t>62</a:t>
            </a:r>
            <a:endParaRPr lang="en-US" sz="1300" dirty="0"/>
          </a:p>
        </p:txBody>
      </p:sp>
      <p:sp>
        <p:nvSpPr>
          <p:cNvPr id="39" name="Shape 37"/>
          <p:cNvSpPr/>
          <p:nvPr/>
        </p:nvSpPr>
        <p:spPr>
          <a:xfrm>
            <a:off x="4385733" y="3639821"/>
            <a:ext cx="3420533" cy="1549400"/>
          </a:xfrm>
          <a:prstGeom prst="roundRect">
            <a:avLst>
              <a:gd name="adj" fmla="val 4918"/>
            </a:avLst>
          </a:prstGeom>
          <a:solidFill>
            <a:srgbClr val="F3F4F6"/>
          </a:solidFill>
          <a:ln/>
        </p:spPr>
      </p:sp>
      <p:sp>
        <p:nvSpPr>
          <p:cNvPr id="40" name="Text 38"/>
          <p:cNvSpPr/>
          <p:nvPr/>
        </p:nvSpPr>
        <p:spPr>
          <a:xfrm>
            <a:off x="4588933" y="3817621"/>
            <a:ext cx="3104557"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5803D"/>
                </a:solidFill>
                <a:latin typeface="Arial" pitchFamily="34" charset="0"/>
                <a:ea typeface="Arial" pitchFamily="34" charset="-122"/>
                <a:cs typeface="Arial" pitchFamily="34" charset="-120"/>
              </a:rPr>
              <a:t>Mejor nota</a:t>
            </a:r>
            <a:endParaRPr lang="en-US" sz="1300" dirty="0"/>
          </a:p>
        </p:txBody>
      </p:sp>
      <p:sp>
        <p:nvSpPr>
          <p:cNvPr id="41" name="Text 39"/>
          <p:cNvSpPr/>
          <p:nvPr/>
        </p:nvSpPr>
        <p:spPr>
          <a:xfrm>
            <a:off x="4588933" y="4066542"/>
            <a:ext cx="1060196"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Mar y Tierra</a:t>
            </a:r>
            <a:endParaRPr lang="en-US" sz="1300" dirty="0"/>
          </a:p>
        </p:txBody>
      </p:sp>
      <p:sp>
        <p:nvSpPr>
          <p:cNvPr id="42" name="Text 40"/>
          <p:cNvSpPr/>
          <p:nvPr/>
        </p:nvSpPr>
        <p:spPr>
          <a:xfrm>
            <a:off x="7217368" y="4066542"/>
            <a:ext cx="385699"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15803D"/>
                </a:solidFill>
                <a:latin typeface="Arial" pitchFamily="34" charset="0"/>
                <a:ea typeface="Arial" pitchFamily="34" charset="-122"/>
                <a:cs typeface="Arial" pitchFamily="34" charset="-120"/>
              </a:rPr>
              <a:t>4,44</a:t>
            </a:r>
            <a:endParaRPr lang="en-US" sz="1300" dirty="0"/>
          </a:p>
        </p:txBody>
      </p:sp>
      <p:sp>
        <p:nvSpPr>
          <p:cNvPr id="43" name="Text 41"/>
          <p:cNvSpPr/>
          <p:nvPr/>
        </p:nvSpPr>
        <p:spPr>
          <a:xfrm>
            <a:off x="4588933" y="4315458"/>
            <a:ext cx="1244600"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Tacos y Punto</a:t>
            </a:r>
            <a:endParaRPr lang="en-US" sz="1300" dirty="0"/>
          </a:p>
        </p:txBody>
      </p:sp>
      <p:sp>
        <p:nvSpPr>
          <p:cNvPr id="44" name="Text 42"/>
          <p:cNvSpPr/>
          <p:nvPr/>
        </p:nvSpPr>
        <p:spPr>
          <a:xfrm>
            <a:off x="7217368" y="4315458"/>
            <a:ext cx="385699"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15803D"/>
                </a:solidFill>
                <a:latin typeface="Arial" pitchFamily="34" charset="0"/>
                <a:ea typeface="Arial" pitchFamily="34" charset="-122"/>
                <a:cs typeface="Arial" pitchFamily="34" charset="-120"/>
              </a:rPr>
              <a:t>4,41</a:t>
            </a:r>
            <a:endParaRPr lang="en-US" sz="1300" dirty="0"/>
          </a:p>
        </p:txBody>
      </p:sp>
      <p:sp>
        <p:nvSpPr>
          <p:cNvPr id="45" name="Text 43"/>
          <p:cNvSpPr/>
          <p:nvPr/>
        </p:nvSpPr>
        <p:spPr>
          <a:xfrm>
            <a:off x="4588933" y="4564379"/>
            <a:ext cx="921512"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Ramen Ya</a:t>
            </a:r>
            <a:endParaRPr lang="en-US" sz="1300" dirty="0"/>
          </a:p>
        </p:txBody>
      </p:sp>
      <p:sp>
        <p:nvSpPr>
          <p:cNvPr id="46" name="Text 44"/>
          <p:cNvSpPr/>
          <p:nvPr/>
        </p:nvSpPr>
        <p:spPr>
          <a:xfrm>
            <a:off x="7217368" y="4564379"/>
            <a:ext cx="385699"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15803D"/>
                </a:solidFill>
                <a:latin typeface="Arial" pitchFamily="34" charset="0"/>
                <a:ea typeface="Arial" pitchFamily="34" charset="-122"/>
                <a:cs typeface="Arial" pitchFamily="34" charset="-120"/>
              </a:rPr>
              <a:t>4,28</a:t>
            </a:r>
            <a:endParaRPr lang="en-US" sz="1300" dirty="0"/>
          </a:p>
        </p:txBody>
      </p:sp>
      <p:sp>
        <p:nvSpPr>
          <p:cNvPr id="47" name="Shape 45"/>
          <p:cNvSpPr/>
          <p:nvPr/>
        </p:nvSpPr>
        <p:spPr>
          <a:xfrm>
            <a:off x="7958667" y="3639821"/>
            <a:ext cx="3420533" cy="1549400"/>
          </a:xfrm>
          <a:prstGeom prst="roundRect">
            <a:avLst>
              <a:gd name="adj" fmla="val 4918"/>
            </a:avLst>
          </a:prstGeom>
          <a:solidFill>
            <a:srgbClr val="F3F4F6"/>
          </a:solidFill>
          <a:ln/>
        </p:spPr>
      </p:sp>
      <p:sp>
        <p:nvSpPr>
          <p:cNvPr id="48" name="Text 46"/>
          <p:cNvSpPr/>
          <p:nvPr/>
        </p:nvSpPr>
        <p:spPr>
          <a:xfrm>
            <a:off x="8161867" y="3817621"/>
            <a:ext cx="3104557"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C2410C"/>
                </a:solidFill>
                <a:latin typeface="Arial" pitchFamily="34" charset="0"/>
                <a:ea typeface="Arial" pitchFamily="34" charset="-122"/>
                <a:cs typeface="Arial" pitchFamily="34" charset="-120"/>
              </a:rPr>
              <a:t>Bajo 4,0</a:t>
            </a:r>
            <a:endParaRPr lang="en-US" sz="1300" dirty="0"/>
          </a:p>
        </p:txBody>
      </p:sp>
      <p:sp>
        <p:nvSpPr>
          <p:cNvPr id="49" name="Text 47"/>
          <p:cNvSpPr/>
          <p:nvPr/>
        </p:nvSpPr>
        <p:spPr>
          <a:xfrm>
            <a:off x="8161867" y="4066542"/>
            <a:ext cx="1410081"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Dulce Tentación</a:t>
            </a:r>
            <a:endParaRPr lang="en-US" sz="1300" dirty="0"/>
          </a:p>
        </p:txBody>
      </p:sp>
      <p:sp>
        <p:nvSpPr>
          <p:cNvPr id="50" name="Text 48"/>
          <p:cNvSpPr/>
          <p:nvPr/>
        </p:nvSpPr>
        <p:spPr>
          <a:xfrm>
            <a:off x="10790301" y="4066542"/>
            <a:ext cx="385699"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C2410C"/>
                </a:solidFill>
                <a:latin typeface="Arial" pitchFamily="34" charset="0"/>
                <a:ea typeface="Arial" pitchFamily="34" charset="-122"/>
                <a:cs typeface="Arial" pitchFamily="34" charset="-120"/>
              </a:rPr>
              <a:t>3,77</a:t>
            </a:r>
            <a:endParaRPr lang="en-US" sz="1300" dirty="0"/>
          </a:p>
        </p:txBody>
      </p:sp>
      <p:sp>
        <p:nvSpPr>
          <p:cNvPr id="51" name="Text 49"/>
          <p:cNvSpPr/>
          <p:nvPr/>
        </p:nvSpPr>
        <p:spPr>
          <a:xfrm>
            <a:off x="8161867" y="4315458"/>
            <a:ext cx="1355090"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Pollo al Carbón</a:t>
            </a:r>
            <a:endParaRPr lang="en-US" sz="1300" dirty="0"/>
          </a:p>
        </p:txBody>
      </p:sp>
      <p:sp>
        <p:nvSpPr>
          <p:cNvPr id="52" name="Text 50"/>
          <p:cNvSpPr/>
          <p:nvPr/>
        </p:nvSpPr>
        <p:spPr>
          <a:xfrm>
            <a:off x="10790301" y="4315458"/>
            <a:ext cx="385699"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C2410C"/>
                </a:solidFill>
                <a:latin typeface="Arial" pitchFamily="34" charset="0"/>
                <a:ea typeface="Arial" pitchFamily="34" charset="-122"/>
                <a:cs typeface="Arial" pitchFamily="34" charset="-120"/>
              </a:rPr>
              <a:t>3,97</a:t>
            </a:r>
            <a:endParaRPr lang="en-US" sz="1300" dirty="0"/>
          </a:p>
        </p:txBody>
      </p:sp>
      <p:sp>
        <p:nvSpPr>
          <p:cNvPr id="53" name="Text 51"/>
          <p:cNvSpPr/>
          <p:nvPr/>
        </p:nvSpPr>
        <p:spPr>
          <a:xfrm>
            <a:off x="8161867" y="4564379"/>
            <a:ext cx="914527"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Café Luna</a:t>
            </a:r>
            <a:endParaRPr lang="en-US" sz="1300" dirty="0"/>
          </a:p>
        </p:txBody>
      </p:sp>
      <p:sp>
        <p:nvSpPr>
          <p:cNvPr id="54" name="Text 52"/>
          <p:cNvSpPr/>
          <p:nvPr/>
        </p:nvSpPr>
        <p:spPr>
          <a:xfrm>
            <a:off x="10790301" y="4564379"/>
            <a:ext cx="385699"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C2410C"/>
                </a:solidFill>
                <a:latin typeface="Arial" pitchFamily="34" charset="0"/>
                <a:ea typeface="Arial" pitchFamily="34" charset="-122"/>
                <a:cs typeface="Arial" pitchFamily="34" charset="-120"/>
              </a:rPr>
              <a:t>3,98</a:t>
            </a:r>
            <a:endParaRPr lang="en-US" sz="1300" dirty="0"/>
          </a:p>
        </p:txBody>
      </p:sp>
      <p:sp>
        <p:nvSpPr>
          <p:cNvPr id="55" name="Text 53"/>
          <p:cNvSpPr/>
          <p:nvPr/>
        </p:nvSpPr>
        <p:spPr>
          <a:xfrm>
            <a:off x="8161867" y="4813300"/>
            <a:ext cx="1002411" cy="223520"/>
          </a:xfrm>
          <a:prstGeom prst="rect">
            <a:avLst/>
          </a:prstGeom>
          <a:noFill/>
          <a:ln/>
        </p:spPr>
        <p:txBody>
          <a:bodyPr wrap="square" lIns="0" tIns="0" rIns="0" bIns="0" rtlCol="0" anchor="t">
            <a:normAutofit/>
          </a:bodyPr>
          <a:lstStyle/>
          <a:p>
            <a:pPr algn="l" indent="0" marL="0">
              <a:lnSpc>
                <a:spcPts val="1560"/>
              </a:lnSpc>
              <a:buNone/>
            </a:pPr>
            <a:r>
              <a:rPr lang="en-US" sz="1300" dirty="0">
                <a:solidFill>
                  <a:srgbClr val="1F2937"/>
                </a:solidFill>
                <a:latin typeface="Arial" pitchFamily="34" charset="0"/>
                <a:ea typeface="Arial" pitchFamily="34" charset="-122"/>
                <a:cs typeface="Arial" pitchFamily="34" charset="-120"/>
              </a:rPr>
              <a:t>Verde Bowl</a:t>
            </a:r>
            <a:endParaRPr lang="en-US" sz="1300" dirty="0"/>
          </a:p>
        </p:txBody>
      </p:sp>
      <p:sp>
        <p:nvSpPr>
          <p:cNvPr id="56" name="Text 54"/>
          <p:cNvSpPr/>
          <p:nvPr/>
        </p:nvSpPr>
        <p:spPr>
          <a:xfrm>
            <a:off x="10790301" y="4813300"/>
            <a:ext cx="385699" cy="223520"/>
          </a:xfrm>
          <a:prstGeom prst="rect">
            <a:avLst/>
          </a:prstGeom>
          <a:noFill/>
          <a:ln/>
        </p:spPr>
        <p:txBody>
          <a:bodyPr wrap="square" lIns="0" tIns="0" rIns="0" bIns="0" rtlCol="0" anchor="t">
            <a:normAutofit/>
          </a:bodyPr>
          <a:lstStyle/>
          <a:p>
            <a:pPr algn="r" indent="0" marL="0">
              <a:lnSpc>
                <a:spcPts val="1560"/>
              </a:lnSpc>
              <a:buNone/>
            </a:pPr>
            <a:r>
              <a:rPr lang="en-US" sz="1300" b="1" dirty="0">
                <a:solidFill>
                  <a:srgbClr val="C2410C"/>
                </a:solidFill>
                <a:latin typeface="Arial" pitchFamily="34" charset="0"/>
                <a:ea typeface="Arial" pitchFamily="34" charset="-122"/>
                <a:cs typeface="Arial" pitchFamily="34" charset="-120"/>
              </a:rPr>
              <a:t>3,98</a:t>
            </a:r>
            <a:endParaRPr lang="en-US" sz="1300" dirty="0"/>
          </a:p>
        </p:txBody>
      </p:sp>
      <p:sp>
        <p:nvSpPr>
          <p:cNvPr id="57" name="Text 55"/>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58" name="Text 5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La Florida y Ñuñoa tienen más espacio para crecer</a:t>
            </a:r>
            <a:endParaRPr lang="en-US" sz="2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173481"/>
          <a:ext cx="10556240" cy="2524760"/>
        </p:xfrm>
        <a:graphic>
          <a:graphicData uri="http://schemas.openxmlformats.org/drawingml/2006/table">
            <a:tbl>
              <a:tblPr/>
              <a:tblGrid>
                <a:gridCol w="1688998"/>
                <a:gridCol w="1055624"/>
                <a:gridCol w="1266749"/>
                <a:gridCol w="1266749"/>
                <a:gridCol w="1161186"/>
                <a:gridCol w="1266749"/>
                <a:gridCol w="1055624"/>
                <a:gridCol w="1794561"/>
              </a:tblGrid>
              <a:tr h="543560">
                <a:tc>
                  <a:txBody>
                    <a:bodyPr/>
                    <a:lstStyle/>
                    <a:p>
                      <a:pPr indent="0" marL="0">
                        <a:lnSpc>
                          <a:spcPts val="1680"/>
                        </a:lnSpc>
                        <a:buNone/>
                      </a:pPr>
                      <a:r>
                        <a:rPr lang="en-US" sz="1200" b="1" dirty="0">
                          <a:solidFill>
                            <a:srgbClr val="FFFFFF"/>
                          </a:solidFill>
                          <a:latin typeface="Arial" pitchFamily="34" charset="0"/>
                          <a:ea typeface="Arial" pitchFamily="34" charset="-122"/>
                          <a:cs typeface="Arial" pitchFamily="34" charset="-120"/>
                        </a:rPr>
                        <a:t>Comuna del cliente</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c>
                  <a:txBody>
                    <a:bodyPr/>
                    <a:lstStyle/>
                    <a:p>
                      <a:pPr algn="r" indent="0" marL="0">
                        <a:lnSpc>
                          <a:spcPts val="1680"/>
                        </a:lnSpc>
                        <a:buNone/>
                      </a:pPr>
                      <a:r>
                        <a:rPr lang="en-US" sz="1200" b="1" dirty="0">
                          <a:solidFill>
                            <a:srgbClr val="FFFFFF"/>
                          </a:solidFill>
                          <a:latin typeface="Arial" pitchFamily="34" charset="0"/>
                          <a:ea typeface="Arial" pitchFamily="34" charset="-122"/>
                          <a:cs typeface="Arial" pitchFamily="34" charset="-120"/>
                        </a:rPr>
                        <a:t>Usuarios</a:t>
                      </a:r>
                      <a:endParaRPr lang="en-US" sz="1200" dirty="0">
                        <a:latin typeface="Arial" charset="0"/>
                        <a:ea typeface="Arial" charset="0"/>
                        <a:cs typeface="Arial" charset="0"/>
                      </a:endParaRPr>
                    </a:p>
                  </a:txBody>
                  <a:tcPr marL="53340" marR="53340" marT="53340" marB="53340" anchor="t">
                    <a:lnL w="12700" cap="flat" cmpd="sng" algn="ctr">
                      <a:solidFill>
                        <a:srgbClr val="1D242F"/>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c>
                  <a:txBody>
                    <a:bodyPr/>
                    <a:lstStyle/>
                    <a:p>
                      <a:pPr algn="r" indent="0" marL="0">
                        <a:lnSpc>
                          <a:spcPts val="1680"/>
                        </a:lnSpc>
                        <a:buNone/>
                      </a:pPr>
                      <a:r>
                        <a:rPr lang="en-US" sz="1200" b="1" dirty="0">
                          <a:solidFill>
                            <a:srgbClr val="FFFFFF"/>
                          </a:solidFill>
                          <a:latin typeface="Arial" pitchFamily="34" charset="0"/>
                          <a:ea typeface="Arial" pitchFamily="34" charset="-122"/>
                          <a:cs typeface="Arial" pitchFamily="34" charset="-120"/>
                        </a:rPr>
                        <a:t>Nuevos desde mayo</a:t>
                      </a:r>
                      <a:endParaRPr lang="en-US" sz="1200" dirty="0">
                        <a:latin typeface="Arial" charset="0"/>
                        <a:ea typeface="Arial" charset="0"/>
                        <a:cs typeface="Arial" charset="0"/>
                      </a:endParaRPr>
                    </a:p>
                  </a:txBody>
                  <a:tcPr marL="53340" marR="53340" marT="53340" marB="53340" anchor="t">
                    <a:lnL w="12700" cap="flat" cmpd="sng" algn="ctr">
                      <a:solidFill>
                        <a:srgbClr val="1D242F"/>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c>
                  <a:txBody>
                    <a:bodyPr/>
                    <a:lstStyle/>
                    <a:p>
                      <a:pPr algn="r" indent="0" marL="0">
                        <a:lnSpc>
                          <a:spcPts val="1680"/>
                        </a:lnSpc>
                        <a:buNone/>
                      </a:pPr>
                      <a:r>
                        <a:rPr lang="en-US" sz="1200" b="1" dirty="0">
                          <a:solidFill>
                            <a:srgbClr val="FFFFFF"/>
                          </a:solidFill>
                          <a:latin typeface="Arial" pitchFamily="34" charset="0"/>
                          <a:ea typeface="Arial" pitchFamily="34" charset="-122"/>
                          <a:cs typeface="Arial" pitchFamily="34" charset="-120"/>
                        </a:rPr>
                        <a:t>Pedidos por usuario</a:t>
                      </a:r>
                      <a:endParaRPr lang="en-US" sz="1200" dirty="0">
                        <a:latin typeface="Arial" charset="0"/>
                        <a:ea typeface="Arial" charset="0"/>
                        <a:cs typeface="Arial" charset="0"/>
                      </a:endParaRPr>
                    </a:p>
                  </a:txBody>
                  <a:tcPr marL="53340" marR="53340" marT="53340" marB="53340" anchor="t">
                    <a:lnL w="12700" cap="flat" cmpd="sng" algn="ctr">
                      <a:solidFill>
                        <a:srgbClr val="1D242F"/>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c>
                  <a:txBody>
                    <a:bodyPr/>
                    <a:lstStyle/>
                    <a:p>
                      <a:pPr algn="r" indent="0" marL="0">
                        <a:lnSpc>
                          <a:spcPts val="1680"/>
                        </a:lnSpc>
                        <a:buNone/>
                      </a:pPr>
                      <a:r>
                        <a:rPr lang="en-US" sz="1200" b="1" dirty="0">
                          <a:solidFill>
                            <a:srgbClr val="FFFFFF"/>
                          </a:solidFill>
                          <a:latin typeface="Arial" pitchFamily="34" charset="0"/>
                          <a:ea typeface="Arial" pitchFamily="34" charset="-122"/>
                          <a:cs typeface="Arial" pitchFamily="34" charset="-120"/>
                        </a:rPr>
                        <a:t>% de ventas</a:t>
                      </a:r>
                      <a:endParaRPr lang="en-US" sz="1200" dirty="0">
                        <a:latin typeface="Arial" charset="0"/>
                        <a:ea typeface="Arial" charset="0"/>
                        <a:cs typeface="Arial" charset="0"/>
                      </a:endParaRPr>
                    </a:p>
                  </a:txBody>
                  <a:tcPr marL="53340" marR="53340" marT="53340" marB="53340" anchor="t">
                    <a:lnL w="12700" cap="flat" cmpd="sng" algn="ctr">
                      <a:solidFill>
                        <a:srgbClr val="1D242F"/>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c>
                  <a:txBody>
                    <a:bodyPr/>
                    <a:lstStyle/>
                    <a:p>
                      <a:pPr algn="r" indent="0" marL="0">
                        <a:lnSpc>
                          <a:spcPts val="1680"/>
                        </a:lnSpc>
                        <a:buNone/>
                      </a:pPr>
                      <a:r>
                        <a:rPr lang="en-US" sz="1200" b="1" dirty="0">
                          <a:solidFill>
                            <a:srgbClr val="FFFFFF"/>
                          </a:solidFill>
                          <a:latin typeface="Arial" pitchFamily="34" charset="0"/>
                          <a:ea typeface="Arial" pitchFamily="34" charset="-122"/>
                          <a:cs typeface="Arial" pitchFamily="34" charset="-120"/>
                        </a:rPr>
                        <a:t>Satisfechos</a:t>
                      </a:r>
                      <a:endParaRPr lang="en-US" sz="1200" dirty="0">
                        <a:latin typeface="Arial" charset="0"/>
                        <a:ea typeface="Arial" charset="0"/>
                        <a:cs typeface="Arial" charset="0"/>
                      </a:endParaRPr>
                    </a:p>
                  </a:txBody>
                  <a:tcPr marL="53340" marR="53340" marT="53340" marB="53340" anchor="t">
                    <a:lnL w="12700" cap="flat" cmpd="sng" algn="ctr">
                      <a:solidFill>
                        <a:srgbClr val="1D242F"/>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c>
                  <a:txBody>
                    <a:bodyPr/>
                    <a:lstStyle/>
                    <a:p>
                      <a:pPr algn="r" indent="0" marL="0">
                        <a:lnSpc>
                          <a:spcPts val="1680"/>
                        </a:lnSpc>
                        <a:buNone/>
                      </a:pPr>
                      <a:r>
                        <a:rPr lang="en-US" sz="1200" b="1" dirty="0">
                          <a:solidFill>
                            <a:srgbClr val="FFFFFF"/>
                          </a:solidFill>
                          <a:latin typeface="Arial" pitchFamily="34" charset="0"/>
                          <a:ea typeface="Arial" pitchFamily="34" charset="-122"/>
                          <a:cs typeface="Arial" pitchFamily="34" charset="-120"/>
                        </a:rPr>
                        <a:t>Locales</a:t>
                      </a:r>
                      <a:endParaRPr lang="en-US" sz="1200" dirty="0">
                        <a:latin typeface="Arial" charset="0"/>
                        <a:ea typeface="Arial" charset="0"/>
                        <a:cs typeface="Arial" charset="0"/>
                      </a:endParaRPr>
                    </a:p>
                  </a:txBody>
                  <a:tcPr marL="53340" marR="53340" marT="53340" marB="53340" anchor="t">
                    <a:lnL w="12700" cap="flat" cmpd="sng" algn="ctr">
                      <a:solidFill>
                        <a:srgbClr val="1D242F"/>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c>
                  <a:txBody>
                    <a:bodyPr/>
                    <a:lstStyle/>
                    <a:p>
                      <a:pPr algn="r" indent="0" marL="0">
                        <a:lnSpc>
                          <a:spcPts val="1680"/>
                        </a:lnSpc>
                        <a:buNone/>
                      </a:pPr>
                      <a:r>
                        <a:rPr lang="en-US" sz="1200" b="1" dirty="0">
                          <a:solidFill>
                            <a:srgbClr val="FFFFFF"/>
                          </a:solidFill>
                          <a:latin typeface="Arial" pitchFamily="34" charset="0"/>
                          <a:ea typeface="Arial" pitchFamily="34" charset="-122"/>
                          <a:cs typeface="Arial" pitchFamily="34" charset="-120"/>
                        </a:rPr>
                        <a:t>Cancelación de sus locales</a:t>
                      </a:r>
                      <a:endParaRPr lang="en-US" sz="1200" dirty="0">
                        <a:latin typeface="Arial" charset="0"/>
                        <a:ea typeface="Arial" charset="0"/>
                        <a:cs typeface="Arial" charset="0"/>
                      </a:endParaRPr>
                    </a:p>
                  </a:txBody>
                  <a:tcPr marL="53340" marR="53340" marT="53340" marB="53340" anchor="t">
                    <a:lnL w="12700" cap="flat" cmpd="sng" algn="ctr">
                      <a:solidFill>
                        <a:srgbClr val="1D242F"/>
                      </a:solidFill>
                      <a:prstDash val="solid"/>
                      <a:round/>
                      <a:headEnd type="none" w="med" len="med"/>
                      <a:tailEnd type="none" w="med" len="med"/>
                    </a:lnL>
                    <a:lnR w="12700" cap="flat" cmpd="sng" algn="ctr">
                      <a:solidFill>
                        <a:srgbClr val="1D242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D242F"/>
                      </a:solidFill>
                      <a:prstDash val="solid"/>
                      <a:round/>
                      <a:headEnd type="none" w="med" len="med"/>
                      <a:tailEnd type="none" w="med" len="med"/>
                    </a:lnB>
                    <a:solidFill>
                      <a:srgbClr val="1F2937"/>
                    </a:solidFill>
                  </a:tcPr>
                </a:tc>
              </a:tr>
              <a:tr h="330200">
                <a:tc>
                  <a:txBody>
                    <a:bodyPr/>
                    <a:lstStyle/>
                    <a:p>
                      <a:pPr indent="0" marL="0">
                        <a:lnSpc>
                          <a:spcPts val="1680"/>
                        </a:lnSpc>
                        <a:buNone/>
                      </a:pPr>
                      <a:r>
                        <a:rPr lang="en-US" sz="1200" dirty="0">
                          <a:solidFill>
                            <a:srgbClr val="1F2937"/>
                          </a:solidFill>
                          <a:latin typeface="Arial" pitchFamily="34" charset="0"/>
                          <a:ea typeface="Arial" pitchFamily="34" charset="-122"/>
                          <a:cs typeface="Arial" pitchFamily="34" charset="-120"/>
                        </a:rPr>
                        <a:t>Santiago</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96</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4,86</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31,3%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76,5%</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C2410C"/>
                          </a:solidFill>
                          <a:latin typeface="Arial" pitchFamily="34" charset="0"/>
                          <a:ea typeface="Arial" pitchFamily="34" charset="-122"/>
                          <a:cs typeface="Arial" pitchFamily="34" charset="-120"/>
                        </a:rPr>
                        <a:t>8,4%</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D242F"/>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F2937"/>
                          </a:solidFill>
                          <a:latin typeface="Arial" pitchFamily="34" charset="0"/>
                          <a:ea typeface="Arial" pitchFamily="34" charset="-122"/>
                          <a:cs typeface="Arial" pitchFamily="34" charset="-120"/>
                        </a:rPr>
                        <a:t>La Florida</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44</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5,25</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15,5%</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83,0%</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C2410C"/>
                          </a:solidFill>
                          <a:latin typeface="Arial" pitchFamily="34" charset="0"/>
                          <a:ea typeface="Arial" pitchFamily="34" charset="-122"/>
                          <a:cs typeface="Arial" pitchFamily="34" charset="-120"/>
                        </a:rPr>
                        <a:t>11,8%</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r>
              <a:tr h="330200">
                <a:tc>
                  <a:txBody>
                    <a:bodyPr/>
                    <a:lstStyle/>
                    <a:p>
                      <a:pPr indent="0" marL="0">
                        <a:lnSpc>
                          <a:spcPts val="1680"/>
                        </a:lnSpc>
                        <a:buNone/>
                      </a:pPr>
                      <a:r>
                        <a:rPr lang="en-US" sz="1200" dirty="0">
                          <a:solidFill>
                            <a:srgbClr val="1F2937"/>
                          </a:solidFill>
                          <a:latin typeface="Arial" pitchFamily="34" charset="0"/>
                          <a:ea typeface="Arial" pitchFamily="34" charset="-122"/>
                          <a:cs typeface="Arial" pitchFamily="34" charset="-120"/>
                        </a:rPr>
                        <a:t>Providencia</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46</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4,63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14,5%</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79,4%</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5803D"/>
                          </a:solidFill>
                          <a:latin typeface="Arial" pitchFamily="34" charset="0"/>
                          <a:ea typeface="Arial" pitchFamily="34" charset="-122"/>
                          <a:cs typeface="Arial" pitchFamily="34" charset="-120"/>
                        </a:rPr>
                        <a:t>7,3%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F2937"/>
                          </a:solidFill>
                          <a:latin typeface="Arial" pitchFamily="34" charset="0"/>
                          <a:ea typeface="Arial" pitchFamily="34" charset="-122"/>
                          <a:cs typeface="Arial" pitchFamily="34" charset="-120"/>
                        </a:rPr>
                        <a:t>Ñuñoa</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41</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5,15</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14,5%</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79,6%</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c>
                  <a:txBody>
                    <a:bodyPr/>
                    <a:lstStyle/>
                    <a:p>
                      <a:pPr algn="r" indent="0" marL="0">
                        <a:lnSpc>
                          <a:spcPts val="1680"/>
                        </a:lnSpc>
                        <a:buNone/>
                      </a:pPr>
                      <a:r>
                        <a:rPr lang="en-US" sz="1200" dirty="0">
                          <a:solidFill>
                            <a:srgbClr val="C2410C"/>
                          </a:solidFill>
                          <a:latin typeface="Arial" pitchFamily="34" charset="0"/>
                          <a:ea typeface="Arial" pitchFamily="34" charset="-122"/>
                          <a:cs typeface="Arial" pitchFamily="34" charset="-120"/>
                        </a:rPr>
                        <a:t>12,8%</a:t>
                      </a:r>
                      <a:endParaRPr lang="en-US" sz="1200" dirty="0">
                        <a:latin typeface="Arial" charset="0"/>
                        <a:ea typeface="Arial" charset="0"/>
                        <a:cs typeface="Arial" charset="0"/>
                      </a:endParaRPr>
                    </a:p>
                  </a:txBody>
                  <a:tcPr marL="53340" marR="53340" marT="53340" marB="53340" anchor="t">
                    <a:lnL w="12700" cap="flat" cmpd="sng" algn="ctr">
                      <a:solidFill>
                        <a:srgbClr val="CABAB4"/>
                      </a:solidFill>
                      <a:prstDash val="solid"/>
                      <a:round/>
                      <a:headEnd type="none" w="med" len="med"/>
                      <a:tailEnd type="none" w="med" len="med"/>
                    </a:lnL>
                    <a:lnR w="12700" cap="flat" cmpd="sng" algn="ctr">
                      <a:solidFill>
                        <a:srgbClr val="CABAB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BAB4"/>
                      </a:solidFill>
                      <a:prstDash val="solid"/>
                      <a:round/>
                      <a:headEnd type="none" w="med" len="med"/>
                      <a:tailEnd type="none" w="med" len="med"/>
                    </a:lnB>
                    <a:solidFill>
                      <a:srgbClr val="FDE9E2"/>
                    </a:solidFill>
                  </a:tcPr>
                </a:tc>
              </a:tr>
              <a:tr h="330200">
                <a:tc>
                  <a:txBody>
                    <a:bodyPr/>
                    <a:lstStyle/>
                    <a:p>
                      <a:pPr indent="0" marL="0">
                        <a:lnSpc>
                          <a:spcPts val="1680"/>
                        </a:lnSpc>
                        <a:buNone/>
                      </a:pPr>
                      <a:r>
                        <a:rPr lang="en-US" sz="1200" dirty="0">
                          <a:solidFill>
                            <a:srgbClr val="1F2937"/>
                          </a:solidFill>
                          <a:latin typeface="Arial" pitchFamily="34" charset="0"/>
                          <a:ea typeface="Arial" pitchFamily="34" charset="-122"/>
                          <a:cs typeface="Arial" pitchFamily="34" charset="-120"/>
                        </a:rPr>
                        <a:t>Las Condes</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5,12</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14,5%</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80,1%</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C2410C"/>
                          </a:solidFill>
                          <a:latin typeface="Arial" pitchFamily="34" charset="0"/>
                          <a:ea typeface="Arial" pitchFamily="34" charset="-122"/>
                          <a:cs typeface="Arial" pitchFamily="34" charset="-120"/>
                        </a:rPr>
                        <a:t>13,8%</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ABAB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200">
                <a:tc>
                  <a:txBody>
                    <a:bodyPr/>
                    <a:lstStyle/>
                    <a:p>
                      <a:pPr indent="0" marL="0">
                        <a:lnSpc>
                          <a:spcPts val="1680"/>
                        </a:lnSpc>
                        <a:buNone/>
                      </a:pPr>
                      <a:r>
                        <a:rPr lang="en-US" sz="1200" dirty="0">
                          <a:solidFill>
                            <a:srgbClr val="1F2937"/>
                          </a:solidFill>
                          <a:latin typeface="Arial" pitchFamily="34" charset="0"/>
                          <a:ea typeface="Arial" pitchFamily="34" charset="-122"/>
                          <a:cs typeface="Arial" pitchFamily="34" charset="-120"/>
                        </a:rPr>
                        <a:t>Maipú</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4,87</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9,7%</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80,8%</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1F2937"/>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680"/>
                        </a:lnSpc>
                        <a:buNone/>
                      </a:pPr>
                      <a:r>
                        <a:rPr lang="en-US" sz="1200" dirty="0">
                          <a:solidFill>
                            <a:srgbClr val="C2410C"/>
                          </a:solidFill>
                          <a:latin typeface="Arial" pitchFamily="34" charset="0"/>
                          <a:ea typeface="Arial" pitchFamily="34" charset="-122"/>
                          <a:cs typeface="Arial" pitchFamily="34" charset="-120"/>
                        </a:rPr>
                        <a:t>17,3%</a:t>
                      </a:r>
                      <a:endParaRPr lang="en-US" sz="1200" dirty="0">
                        <a:latin typeface="Arial" charset="0"/>
                        <a:ea typeface="Arial" charset="0"/>
                        <a:cs typeface="Arial"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4" name="Shape 1"/>
          <p:cNvSpPr/>
          <p:nvPr/>
        </p:nvSpPr>
        <p:spPr>
          <a:xfrm>
            <a:off x="812800" y="3901442"/>
            <a:ext cx="2989898" cy="1925320"/>
          </a:xfrm>
          <a:prstGeom prst="roundRect">
            <a:avLst>
              <a:gd name="adj" fmla="val 3958"/>
            </a:avLst>
          </a:prstGeom>
          <a:solidFill>
            <a:srgbClr val="F3F4F6"/>
          </a:solidFill>
          <a:ln/>
        </p:spPr>
      </p:sp>
      <p:sp>
        <p:nvSpPr>
          <p:cNvPr id="5" name="Shape 2"/>
          <p:cNvSpPr/>
          <p:nvPr/>
        </p:nvSpPr>
        <p:spPr>
          <a:xfrm>
            <a:off x="812800" y="3901442"/>
            <a:ext cx="2989898" cy="1925320"/>
          </a:xfrm>
          <a:custGeom>
            <a:avLst/>
            <a:gdLst/>
            <a:ahLst/>
            <a:cxnLst/>
            <a:rect l="l" t="t" r="r" b="b"/>
            <a:pathLst>
              <a:path w="2989898" h="1925320">
                <a:moveTo>
                  <a:pt x="0" y="76200"/>
                </a:moveTo>
                <a:lnTo>
                  <a:pt x="0" y="76200"/>
                </a:lnTo>
                <a:arcTo hR="76200" wR="76200" stAng="10800000" swAng="5400000"/>
                <a:lnTo>
                  <a:pt x="2913698" y="0"/>
                </a:lnTo>
                <a:arcTo hR="76200" wR="76200" stAng="16200000" swAng="5400000"/>
                <a:lnTo>
                  <a:pt x="2989898" y="76200"/>
                </a:lnTo>
                <a:arcTo hR="38100" wR="76200" stAng="0" swAng="-5400000"/>
                <a:lnTo>
                  <a:pt x="76200" y="38100"/>
                </a:lnTo>
                <a:arcTo hR="38100" wR="76200" stAng="16200000" swAng="-5400000"/>
                <a:close/>
              </a:path>
            </a:pathLst>
          </a:custGeom>
          <a:solidFill>
            <a:srgbClr val="E4572E"/>
          </a:solidFill>
          <a:ln/>
        </p:spPr>
      </p:sp>
      <p:sp>
        <p:nvSpPr>
          <p:cNvPr id="6" name="Text 3"/>
          <p:cNvSpPr/>
          <p:nvPr/>
        </p:nvSpPr>
        <p:spPr>
          <a:xfrm>
            <a:off x="1016000" y="4114800"/>
            <a:ext cx="266100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937"/>
                </a:solidFill>
                <a:latin typeface="Arial" pitchFamily="34" charset="0"/>
                <a:ea typeface="Arial" pitchFamily="34" charset="-122"/>
                <a:cs typeface="Arial" pitchFamily="34" charset="-120"/>
              </a:rPr>
              <a:t>La Florida</a:t>
            </a:r>
            <a:endParaRPr lang="en-US" sz="1500" dirty="0"/>
          </a:p>
        </p:txBody>
      </p:sp>
      <p:sp>
        <p:nvSpPr>
          <p:cNvPr id="7" name="Text 4"/>
          <p:cNvSpPr/>
          <p:nvPr/>
        </p:nvSpPr>
        <p:spPr>
          <a:xfrm>
            <a:off x="1016000" y="4406900"/>
            <a:ext cx="2661002"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F2937"/>
                </a:solidFill>
                <a:latin typeface="Arial" pitchFamily="34" charset="0"/>
                <a:ea typeface="Arial" pitchFamily="34" charset="-122"/>
                <a:cs typeface="Arial" pitchFamily="34" charset="-120"/>
              </a:rPr>
              <a:t>Los clientes más activos (5,25 pedidos), la mayor satisfacción (83%) y 41% de cuentas Premium.</a:t>
            </a:r>
            <a:endParaRPr lang="en-US" sz="1200" dirty="0"/>
          </a:p>
        </p:txBody>
      </p:sp>
      <p:sp>
        <p:nvSpPr>
          <p:cNvPr id="8" name="Shape 5"/>
          <p:cNvSpPr/>
          <p:nvPr/>
        </p:nvSpPr>
        <p:spPr>
          <a:xfrm>
            <a:off x="3955097" y="3901442"/>
            <a:ext cx="2990003" cy="1925320"/>
          </a:xfrm>
          <a:prstGeom prst="roundRect">
            <a:avLst>
              <a:gd name="adj" fmla="val 3958"/>
            </a:avLst>
          </a:prstGeom>
          <a:solidFill>
            <a:srgbClr val="F3F4F6"/>
          </a:solidFill>
          <a:ln/>
        </p:spPr>
      </p:sp>
      <p:sp>
        <p:nvSpPr>
          <p:cNvPr id="9" name="Shape 6"/>
          <p:cNvSpPr/>
          <p:nvPr/>
        </p:nvSpPr>
        <p:spPr>
          <a:xfrm>
            <a:off x="3955097" y="3901442"/>
            <a:ext cx="2990003" cy="1925320"/>
          </a:xfrm>
          <a:custGeom>
            <a:avLst/>
            <a:gdLst/>
            <a:ahLst/>
            <a:cxnLst/>
            <a:rect l="l" t="t" r="r" b="b"/>
            <a:pathLst>
              <a:path w="2990003" h="1925320">
                <a:moveTo>
                  <a:pt x="0" y="76200"/>
                </a:moveTo>
                <a:lnTo>
                  <a:pt x="0" y="76200"/>
                </a:lnTo>
                <a:arcTo hR="76200" wR="76200" stAng="10800000" swAng="5400000"/>
                <a:lnTo>
                  <a:pt x="2913803" y="0"/>
                </a:lnTo>
                <a:arcTo hR="76200" wR="76200" stAng="16200000" swAng="5400000"/>
                <a:lnTo>
                  <a:pt x="2990003" y="76200"/>
                </a:lnTo>
                <a:arcTo hR="38100" wR="76200" stAng="0" swAng="-5400000"/>
                <a:lnTo>
                  <a:pt x="76200" y="38100"/>
                </a:lnTo>
                <a:arcTo hR="38100" wR="76200" stAng="16200000" swAng="-5400000"/>
                <a:close/>
              </a:path>
            </a:pathLst>
          </a:custGeom>
          <a:solidFill>
            <a:srgbClr val="E4572E"/>
          </a:solidFill>
          <a:ln/>
        </p:spPr>
      </p:sp>
      <p:sp>
        <p:nvSpPr>
          <p:cNvPr id="10" name="Text 7"/>
          <p:cNvSpPr/>
          <p:nvPr/>
        </p:nvSpPr>
        <p:spPr>
          <a:xfrm>
            <a:off x="4158297" y="4114800"/>
            <a:ext cx="266111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937"/>
                </a:solidFill>
                <a:latin typeface="Arial" pitchFamily="34" charset="0"/>
                <a:ea typeface="Arial" pitchFamily="34" charset="-122"/>
                <a:cs typeface="Arial" pitchFamily="34" charset="-120"/>
              </a:rPr>
              <a:t>Ñuñoa</a:t>
            </a:r>
            <a:endParaRPr lang="en-US" sz="1500" dirty="0"/>
          </a:p>
        </p:txBody>
      </p:sp>
      <p:sp>
        <p:nvSpPr>
          <p:cNvPr id="11" name="Text 8"/>
          <p:cNvSpPr/>
          <p:nvPr/>
        </p:nvSpPr>
        <p:spPr>
          <a:xfrm>
            <a:off x="4158297" y="4406900"/>
            <a:ext cx="2661111"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F2937"/>
                </a:solidFill>
                <a:latin typeface="Arial" pitchFamily="34" charset="0"/>
                <a:ea typeface="Arial" pitchFamily="34" charset="-122"/>
                <a:cs typeface="Arial" pitchFamily="34" charset="-120"/>
              </a:rPr>
              <a:t>6 locales para 41 usuarios, la mayor oferta por usuario, y sus clientes son los que menos cancelan (8,1%).</a:t>
            </a:r>
            <a:endParaRPr lang="en-US" sz="1200" dirty="0"/>
          </a:p>
        </p:txBody>
      </p:sp>
      <p:sp>
        <p:nvSpPr>
          <p:cNvPr id="12" name="Shape 9"/>
          <p:cNvSpPr/>
          <p:nvPr/>
        </p:nvSpPr>
        <p:spPr>
          <a:xfrm>
            <a:off x="7097501" y="3901442"/>
            <a:ext cx="4281699" cy="1925320"/>
          </a:xfrm>
          <a:prstGeom prst="roundRect">
            <a:avLst>
              <a:gd name="adj" fmla="val 3958"/>
            </a:avLst>
          </a:prstGeom>
          <a:solidFill>
            <a:srgbClr val="F3F4F6"/>
          </a:solidFill>
          <a:ln/>
        </p:spPr>
      </p:sp>
      <p:sp>
        <p:nvSpPr>
          <p:cNvPr id="13" name="Shape 10"/>
          <p:cNvSpPr/>
          <p:nvPr/>
        </p:nvSpPr>
        <p:spPr>
          <a:xfrm>
            <a:off x="7097501" y="3901442"/>
            <a:ext cx="4281699" cy="1925320"/>
          </a:xfrm>
          <a:custGeom>
            <a:avLst/>
            <a:gdLst/>
            <a:ahLst/>
            <a:cxnLst/>
            <a:rect l="l" t="t" r="r" b="b"/>
            <a:pathLst>
              <a:path w="4281699" h="1925320">
                <a:moveTo>
                  <a:pt x="0" y="76200"/>
                </a:moveTo>
                <a:lnTo>
                  <a:pt x="0" y="76200"/>
                </a:lnTo>
                <a:arcTo hR="76200" wR="76200" stAng="10800000" swAng="5400000"/>
                <a:lnTo>
                  <a:pt x="4205499" y="0"/>
                </a:lnTo>
                <a:arcTo hR="76200" wR="76200" stAng="16200000" swAng="5400000"/>
                <a:lnTo>
                  <a:pt x="4281699" y="76200"/>
                </a:lnTo>
                <a:arcTo hR="38100" wR="76200" stAng="0" swAng="-5400000"/>
                <a:lnTo>
                  <a:pt x="76200" y="38100"/>
                </a:lnTo>
                <a:arcTo hR="38100" wR="76200" stAng="16200000" swAng="-5400000"/>
                <a:close/>
              </a:path>
            </a:pathLst>
          </a:custGeom>
          <a:solidFill>
            <a:srgbClr val="9CA3AF"/>
          </a:solidFill>
          <a:ln/>
        </p:spPr>
      </p:sp>
      <p:sp>
        <p:nvSpPr>
          <p:cNvPr id="14" name="Text 11"/>
          <p:cNvSpPr/>
          <p:nvPr/>
        </p:nvSpPr>
        <p:spPr>
          <a:xfrm>
            <a:off x="7300701" y="4114800"/>
            <a:ext cx="399155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937"/>
                </a:solidFill>
                <a:latin typeface="Arial" pitchFamily="34" charset="0"/>
                <a:ea typeface="Arial" pitchFamily="34" charset="-122"/>
                <a:cs typeface="Arial" pitchFamily="34" charset="-120"/>
              </a:rPr>
              <a:t>Las demás comunas</a:t>
            </a:r>
            <a:endParaRPr lang="en-US" sz="1500" dirty="0"/>
          </a:p>
        </p:txBody>
      </p:sp>
      <p:sp>
        <p:nvSpPr>
          <p:cNvPr id="15" name="Text 12"/>
          <p:cNvSpPr/>
          <p:nvPr/>
        </p:nvSpPr>
        <p:spPr>
          <a:xfrm>
            <a:off x="7412207" y="4406900"/>
            <a:ext cx="3872432" cy="1267460"/>
          </a:xfrm>
          <a:prstGeom prst="rect">
            <a:avLst/>
          </a:prstGeom>
          <a:noFill/>
          <a:ln/>
        </p:spPr>
        <p:txBody>
          <a:bodyPr wrap="square" lIns="0" tIns="0" rIns="0" bIns="0" rtlCol="0" anchor="t">
            <a:normAutofit/>
          </a:bodyPr>
          <a:lstStyle/>
          <a:p>
            <a:pPr algn="l" marL="142494" indent="-142494">
              <a:lnSpc>
                <a:spcPts val="1620"/>
              </a:lnSpc>
              <a:buSzPct val="100000"/>
              <a:buChar char="•"/>
            </a:pPr>
            <a:r>
              <a:rPr lang="en-US" sz="1200" b="1" dirty="0">
                <a:solidFill>
                  <a:srgbClr val="1F2937"/>
                </a:solidFill>
                <a:latin typeface="Arial" pitchFamily="34" charset="0"/>
                <a:ea typeface="Arial" pitchFamily="34" charset="-122"/>
                <a:cs typeface="Arial" pitchFamily="34" charset="-120"/>
              </a:rPr>
              <a:t>Maipú</a:t>
            </a:r>
            <a:r>
              <a:rPr lang="en-US" sz="1200" dirty="0">
                <a:solidFill>
                  <a:srgbClr val="1F2937"/>
                </a:solidFill>
                <a:latin typeface="Arial" pitchFamily="34" charset="0"/>
                <a:ea typeface="Arial" pitchFamily="34" charset="-122"/>
                <a:cs typeface="Arial" pitchFamily="34" charset="-120"/>
              </a:rPr>
              <a:t> crece (9 de sus 30 usuarios llegaron desde mayo), pero sus locales cancelan 17,3%: hay que arreglar la oferta primero.</a:t>
            </a:r>
            <a:endParaRPr lang="en-US" sz="1200" dirty="0"/>
          </a:p>
          <a:p>
            <a:pPr algn="l" marL="142494" indent="-142494">
              <a:lnSpc>
                <a:spcPts val="1620"/>
              </a:lnSpc>
              <a:buSzPct val="100000"/>
              <a:buChar char="•"/>
            </a:pPr>
            <a:r>
              <a:rPr lang="en-US" sz="1200" b="1" dirty="0">
                <a:solidFill>
                  <a:srgbClr val="1F2937"/>
                </a:solidFill>
                <a:latin typeface="Arial" pitchFamily="34" charset="0"/>
                <a:ea typeface="Arial" pitchFamily="34" charset="-122"/>
                <a:cs typeface="Arial" pitchFamily="34" charset="-120"/>
              </a:rPr>
              <a:t>Las Condes</a:t>
            </a:r>
            <a:r>
              <a:rPr lang="en-US" sz="1200" dirty="0">
                <a:solidFill>
                  <a:srgbClr val="1F2937"/>
                </a:solidFill>
                <a:latin typeface="Arial" pitchFamily="34" charset="0"/>
                <a:ea typeface="Arial" pitchFamily="34" charset="-122"/>
                <a:cs typeface="Arial" pitchFamily="34" charset="-120"/>
              </a:rPr>
              <a:t> solo sumó 2 usuarios desde mayo.</a:t>
            </a:r>
            <a:endParaRPr lang="en-US" sz="1200" dirty="0"/>
          </a:p>
          <a:p>
            <a:pPr algn="l" marL="142494" indent="-142494">
              <a:lnSpc>
                <a:spcPts val="1620"/>
              </a:lnSpc>
              <a:buSzPct val="100000"/>
              <a:buChar char="•"/>
            </a:pPr>
            <a:r>
              <a:rPr lang="en-US" sz="1200" b="1" dirty="0">
                <a:solidFill>
                  <a:srgbClr val="1F2937"/>
                </a:solidFill>
                <a:latin typeface="Arial" pitchFamily="34" charset="0"/>
                <a:ea typeface="Arial" pitchFamily="34" charset="-122"/>
                <a:cs typeface="Arial" pitchFamily="34" charset="-120"/>
              </a:rPr>
              <a:t>Santiago</a:t>
            </a:r>
            <a:r>
              <a:rPr lang="en-US" sz="1200" dirty="0">
                <a:solidFill>
                  <a:srgbClr val="1F2937"/>
                </a:solidFill>
                <a:latin typeface="Arial" pitchFamily="34" charset="0"/>
                <a:ea typeface="Arial" pitchFamily="34" charset="-122"/>
                <a:cs typeface="Arial" pitchFamily="34" charset="-120"/>
              </a:rPr>
              <a:t> tiene el 31% de las ventas y la satisfacción más baja (76,5%).</a:t>
            </a:r>
            <a:endParaRPr lang="en-US" sz="1200" dirty="0"/>
          </a:p>
        </p:txBody>
      </p:sp>
      <p:sp>
        <p:nvSpPr>
          <p:cNvPr id="16" name="Text 13"/>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17" name="Text 1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609600"/>
            <a:ext cx="10883392" cy="37592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F2937"/>
                </a:solidFill>
                <a:latin typeface="Arial" pitchFamily="34" charset="0"/>
                <a:ea typeface="Arial" pitchFamily="34" charset="-122"/>
                <a:cs typeface="Arial" pitchFamily="34" charset="-120"/>
              </a:rPr>
              <a:t>Cinco acciones: proteger las ventas actuales y volver a crecer</a:t>
            </a:r>
            <a:endParaRPr lang="en-US" sz="2400" dirty="0"/>
          </a:p>
        </p:txBody>
      </p:sp>
      <p:sp>
        <p:nvSpPr>
          <p:cNvPr id="3" name="Shape 1"/>
          <p:cNvSpPr/>
          <p:nvPr/>
        </p:nvSpPr>
        <p:spPr>
          <a:xfrm>
            <a:off x="812800" y="1163321"/>
            <a:ext cx="3420533" cy="2078990"/>
          </a:xfrm>
          <a:prstGeom prst="roundRect">
            <a:avLst>
              <a:gd name="adj" fmla="val 3665"/>
            </a:avLst>
          </a:prstGeom>
          <a:solidFill>
            <a:srgbClr val="F3F4F6"/>
          </a:solidFill>
          <a:ln/>
        </p:spPr>
      </p:sp>
      <p:sp>
        <p:nvSpPr>
          <p:cNvPr id="4" name="Text 2"/>
          <p:cNvSpPr/>
          <p:nvPr/>
        </p:nvSpPr>
        <p:spPr>
          <a:xfrm>
            <a:off x="1016000" y="1426846"/>
            <a:ext cx="355600" cy="355600"/>
          </a:xfrm>
          <a:prstGeom prst="roundRect">
            <a:avLst>
              <a:gd name="adj" fmla="val 50000"/>
            </a:avLst>
          </a:prstGeom>
          <a:solidFill>
            <a:srgbClr val="E4572E"/>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5" name="Text 3"/>
          <p:cNvSpPr/>
          <p:nvPr/>
        </p:nvSpPr>
        <p:spPr>
          <a:xfrm>
            <a:off x="1498600" y="1366521"/>
            <a:ext cx="2607479"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2937"/>
                </a:solidFill>
                <a:latin typeface="Arial" pitchFamily="34" charset="0"/>
                <a:ea typeface="Arial" pitchFamily="34" charset="-122"/>
                <a:cs typeface="Arial" pitchFamily="34" charset="-120"/>
              </a:rPr>
              <a:t>Bajar las cancelaciones en cinco restaurantes</a:t>
            </a:r>
            <a:endParaRPr lang="en-US" sz="1500" dirty="0"/>
          </a:p>
        </p:txBody>
      </p:sp>
      <p:sp>
        <p:nvSpPr>
          <p:cNvPr id="6" name="Text 4"/>
          <p:cNvSpPr/>
          <p:nvPr/>
        </p:nvSpPr>
        <p:spPr>
          <a:xfrm>
            <a:off x="1016000" y="1944371"/>
            <a:ext cx="310455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Sushi Mar, Trattoria Roma, Mar y Tierra, La Esquina Criolla y Ramen Ya.</a:t>
            </a:r>
            <a:endParaRPr lang="en-US" sz="1300" dirty="0"/>
          </a:p>
        </p:txBody>
      </p:sp>
      <p:sp>
        <p:nvSpPr>
          <p:cNvPr id="7" name="Text 5"/>
          <p:cNvSpPr/>
          <p:nvPr/>
        </p:nvSpPr>
        <p:spPr>
          <a:xfrm>
            <a:off x="1016000" y="2593342"/>
            <a:ext cx="3104557"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4572E"/>
                </a:solidFill>
                <a:latin typeface="Arial" pitchFamily="34" charset="0"/>
                <a:ea typeface="Arial" pitchFamily="34" charset="-122"/>
                <a:cs typeface="Arial" pitchFamily="34" charset="-120"/>
              </a:rPr>
              <a:t>Meta propuesta:</a:t>
            </a:r>
            <a:r>
              <a:rPr lang="en-US" sz="1300" dirty="0">
                <a:solidFill>
                  <a:srgbClr val="1F2937"/>
                </a:solidFill>
                <a:latin typeface="Arial" pitchFamily="34" charset="0"/>
                <a:ea typeface="Arial" pitchFamily="34" charset="-122"/>
                <a:cs typeface="Arial" pitchFamily="34" charset="-120"/>
              </a:rPr>
              <a:t> bajo 9,2% en 3 meses y bajo 8% en 6.</a:t>
            </a:r>
            <a:endParaRPr lang="en-US" sz="1300" dirty="0"/>
          </a:p>
        </p:txBody>
      </p:sp>
      <p:sp>
        <p:nvSpPr>
          <p:cNvPr id="8" name="Shape 6"/>
          <p:cNvSpPr/>
          <p:nvPr/>
        </p:nvSpPr>
        <p:spPr>
          <a:xfrm>
            <a:off x="4385733" y="1163321"/>
            <a:ext cx="3420533" cy="2078990"/>
          </a:xfrm>
          <a:prstGeom prst="roundRect">
            <a:avLst>
              <a:gd name="adj" fmla="val 3665"/>
            </a:avLst>
          </a:prstGeom>
          <a:solidFill>
            <a:srgbClr val="F3F4F6"/>
          </a:solidFill>
          <a:ln/>
        </p:spPr>
      </p:sp>
      <p:sp>
        <p:nvSpPr>
          <p:cNvPr id="9" name="Text 7"/>
          <p:cNvSpPr/>
          <p:nvPr/>
        </p:nvSpPr>
        <p:spPr>
          <a:xfrm>
            <a:off x="4588933" y="1426846"/>
            <a:ext cx="355600" cy="355600"/>
          </a:xfrm>
          <a:prstGeom prst="roundRect">
            <a:avLst>
              <a:gd name="adj" fmla="val 50000"/>
            </a:avLst>
          </a:prstGeom>
          <a:solidFill>
            <a:srgbClr val="E4572E"/>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8"/>
          <p:cNvSpPr/>
          <p:nvPr/>
        </p:nvSpPr>
        <p:spPr>
          <a:xfrm>
            <a:off x="5071533" y="1366521"/>
            <a:ext cx="2607479"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2937"/>
                </a:solidFill>
                <a:latin typeface="Arial" pitchFamily="34" charset="0"/>
                <a:ea typeface="Arial" pitchFamily="34" charset="-122"/>
                <a:cs typeface="Arial" pitchFamily="34" charset="-120"/>
              </a:rPr>
              <a:t>Mejorar a los restaurantes peor evaluados</a:t>
            </a:r>
            <a:endParaRPr lang="en-US" sz="1500" dirty="0"/>
          </a:p>
        </p:txBody>
      </p:sp>
      <p:sp>
        <p:nvSpPr>
          <p:cNvPr id="11" name="Text 9"/>
          <p:cNvSpPr/>
          <p:nvPr/>
        </p:nvSpPr>
        <p:spPr>
          <a:xfrm>
            <a:off x="4588933" y="1944371"/>
            <a:ext cx="310455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Dulce Tentación, Pollo al Carbón, Café Luna y Verde Bowl.</a:t>
            </a:r>
            <a:endParaRPr lang="en-US" sz="1300" dirty="0"/>
          </a:p>
        </p:txBody>
      </p:sp>
      <p:sp>
        <p:nvSpPr>
          <p:cNvPr id="12" name="Text 10"/>
          <p:cNvSpPr/>
          <p:nvPr/>
        </p:nvSpPr>
        <p:spPr>
          <a:xfrm>
            <a:off x="4588933" y="2593342"/>
            <a:ext cx="3104557"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4572E"/>
                </a:solidFill>
                <a:latin typeface="Arial" pitchFamily="34" charset="0"/>
                <a:ea typeface="Arial" pitchFamily="34" charset="-122"/>
                <a:cs typeface="Arial" pitchFamily="34" charset="-120"/>
              </a:rPr>
              <a:t>Meta propuesta:</a:t>
            </a:r>
            <a:r>
              <a:rPr lang="en-US" sz="1300" dirty="0">
                <a:solidFill>
                  <a:srgbClr val="1F2937"/>
                </a:solidFill>
                <a:latin typeface="Arial" pitchFamily="34" charset="0"/>
                <a:ea typeface="Arial" pitchFamily="34" charset="-122"/>
                <a:cs typeface="Arial" pitchFamily="34" charset="-120"/>
              </a:rPr>
              <a:t> 4,0 o más en cada local.</a:t>
            </a:r>
            <a:endParaRPr lang="en-US" sz="1300" dirty="0"/>
          </a:p>
        </p:txBody>
      </p:sp>
      <p:sp>
        <p:nvSpPr>
          <p:cNvPr id="13" name="Shape 11"/>
          <p:cNvSpPr/>
          <p:nvPr/>
        </p:nvSpPr>
        <p:spPr>
          <a:xfrm>
            <a:off x="7958667" y="1163321"/>
            <a:ext cx="3420533" cy="2078990"/>
          </a:xfrm>
          <a:prstGeom prst="roundRect">
            <a:avLst>
              <a:gd name="adj" fmla="val 3665"/>
            </a:avLst>
          </a:prstGeom>
          <a:solidFill>
            <a:srgbClr val="F3F4F6"/>
          </a:solidFill>
          <a:ln/>
        </p:spPr>
      </p:sp>
      <p:sp>
        <p:nvSpPr>
          <p:cNvPr id="14" name="Text 12"/>
          <p:cNvSpPr/>
          <p:nvPr/>
        </p:nvSpPr>
        <p:spPr>
          <a:xfrm>
            <a:off x="8161867" y="1426846"/>
            <a:ext cx="355600" cy="355600"/>
          </a:xfrm>
          <a:prstGeom prst="roundRect">
            <a:avLst>
              <a:gd name="adj" fmla="val 50000"/>
            </a:avLst>
          </a:prstGeom>
          <a:solidFill>
            <a:srgbClr val="E4572E"/>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8644467" y="1366521"/>
            <a:ext cx="2607479"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2937"/>
                </a:solidFill>
                <a:latin typeface="Arial" pitchFamily="34" charset="0"/>
                <a:ea typeface="Arial" pitchFamily="34" charset="-122"/>
                <a:cs typeface="Arial" pitchFamily="34" charset="-120"/>
              </a:rPr>
              <a:t>Captar clientes en La Florida y Ñuñoa</a:t>
            </a:r>
            <a:endParaRPr lang="en-US" sz="1500" dirty="0"/>
          </a:p>
        </p:txBody>
      </p:sp>
      <p:sp>
        <p:nvSpPr>
          <p:cNvPr id="16" name="Text 14"/>
          <p:cNvSpPr/>
          <p:nvPr/>
        </p:nvSpPr>
        <p:spPr>
          <a:xfrm>
            <a:off x="8161867" y="1944371"/>
            <a:ext cx="310455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Y contactar a los 73 clientes que llevan más de 45 días sin pedir.</a:t>
            </a:r>
            <a:endParaRPr lang="en-US" sz="1300" dirty="0"/>
          </a:p>
        </p:txBody>
      </p:sp>
      <p:sp>
        <p:nvSpPr>
          <p:cNvPr id="17" name="Text 15"/>
          <p:cNvSpPr/>
          <p:nvPr/>
        </p:nvSpPr>
        <p:spPr>
          <a:xfrm>
            <a:off x="8161867" y="2593342"/>
            <a:ext cx="3104557"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4572E"/>
                </a:solidFill>
                <a:latin typeface="Arial" pitchFamily="34" charset="0"/>
                <a:ea typeface="Arial" pitchFamily="34" charset="-122"/>
                <a:cs typeface="Arial" pitchFamily="34" charset="-120"/>
              </a:rPr>
              <a:t>Meta propuesta:</a:t>
            </a:r>
            <a:r>
              <a:rPr lang="en-US" sz="1300" dirty="0">
                <a:solidFill>
                  <a:srgbClr val="1F2937"/>
                </a:solidFill>
                <a:latin typeface="Arial" pitchFamily="34" charset="0"/>
                <a:ea typeface="Arial" pitchFamily="34" charset="-122"/>
                <a:cs typeface="Arial" pitchFamily="34" charset="-120"/>
              </a:rPr>
              <a:t> volver a 14 registros nuevos por mes.</a:t>
            </a:r>
            <a:endParaRPr lang="en-US" sz="1300" dirty="0"/>
          </a:p>
        </p:txBody>
      </p:sp>
      <p:sp>
        <p:nvSpPr>
          <p:cNvPr id="18" name="Shape 16"/>
          <p:cNvSpPr/>
          <p:nvPr/>
        </p:nvSpPr>
        <p:spPr>
          <a:xfrm>
            <a:off x="812800" y="3445508"/>
            <a:ext cx="5207000" cy="1958340"/>
          </a:xfrm>
          <a:prstGeom prst="roundRect">
            <a:avLst>
              <a:gd name="adj" fmla="val 3891"/>
            </a:avLst>
          </a:prstGeom>
          <a:solidFill>
            <a:srgbClr val="F3F4F6"/>
          </a:solidFill>
          <a:ln/>
        </p:spPr>
      </p:sp>
      <p:sp>
        <p:nvSpPr>
          <p:cNvPr id="19" name="Text 17"/>
          <p:cNvSpPr/>
          <p:nvPr/>
        </p:nvSpPr>
        <p:spPr>
          <a:xfrm>
            <a:off x="1016000" y="3648708"/>
            <a:ext cx="355600" cy="355600"/>
          </a:xfrm>
          <a:prstGeom prst="roundRect">
            <a:avLst>
              <a:gd name="adj" fmla="val 50000"/>
            </a:avLst>
          </a:prstGeom>
          <a:solidFill>
            <a:srgbClr val="E4572E"/>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0" name="Text 18"/>
          <p:cNvSpPr/>
          <p:nvPr/>
        </p:nvSpPr>
        <p:spPr>
          <a:xfrm>
            <a:off x="1498600" y="3707445"/>
            <a:ext cx="444754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2937"/>
                </a:solidFill>
                <a:latin typeface="Arial" pitchFamily="34" charset="0"/>
                <a:ea typeface="Arial" pitchFamily="34" charset="-122"/>
                <a:cs typeface="Arial" pitchFamily="34" charset="-120"/>
              </a:rPr>
              <a:t>Redefinir la cuenta Premium</a:t>
            </a:r>
            <a:endParaRPr lang="en-US" sz="1500" dirty="0"/>
          </a:p>
        </p:txBody>
      </p:sp>
      <p:sp>
        <p:nvSpPr>
          <p:cNvPr id="21" name="Text 19"/>
          <p:cNvSpPr/>
          <p:nvPr/>
        </p:nvSpPr>
        <p:spPr>
          <a:xfrm>
            <a:off x="1016000" y="4105908"/>
            <a:ext cx="4944618"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Con un beneficio ligado a la frecuencia de compra, como despacho prioritario.</a:t>
            </a:r>
            <a:endParaRPr lang="en-US" sz="1300" dirty="0"/>
          </a:p>
        </p:txBody>
      </p:sp>
      <p:sp>
        <p:nvSpPr>
          <p:cNvPr id="22" name="Text 20"/>
          <p:cNvSpPr/>
          <p:nvPr/>
        </p:nvSpPr>
        <p:spPr>
          <a:xfrm>
            <a:off x="1016000" y="4754879"/>
            <a:ext cx="4944618" cy="4711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4572E"/>
                </a:solidFill>
                <a:latin typeface="Arial" pitchFamily="34" charset="0"/>
                <a:ea typeface="Arial" pitchFamily="34" charset="-122"/>
                <a:cs typeface="Arial" pitchFamily="34" charset="-120"/>
              </a:rPr>
              <a:t>Meta propuesta:</a:t>
            </a:r>
            <a:r>
              <a:rPr lang="en-US" sz="1300" dirty="0">
                <a:solidFill>
                  <a:srgbClr val="1F2937"/>
                </a:solidFill>
                <a:latin typeface="Arial" pitchFamily="34" charset="0"/>
                <a:ea typeface="Arial" pitchFamily="34" charset="-122"/>
                <a:cs typeface="Arial" pitchFamily="34" charset="-120"/>
              </a:rPr>
              <a:t> más pedidos por cliente en Premium que en Estándar.</a:t>
            </a:r>
            <a:endParaRPr lang="en-US" sz="1300" dirty="0"/>
          </a:p>
        </p:txBody>
      </p:sp>
      <p:sp>
        <p:nvSpPr>
          <p:cNvPr id="23" name="Shape 21"/>
          <p:cNvSpPr/>
          <p:nvPr/>
        </p:nvSpPr>
        <p:spPr>
          <a:xfrm>
            <a:off x="6172200" y="3445508"/>
            <a:ext cx="5207000" cy="1958340"/>
          </a:xfrm>
          <a:prstGeom prst="roundRect">
            <a:avLst>
              <a:gd name="adj" fmla="val 3891"/>
            </a:avLst>
          </a:prstGeom>
          <a:solidFill>
            <a:srgbClr val="F3F4F6"/>
          </a:solidFill>
          <a:ln/>
        </p:spPr>
      </p:sp>
      <p:sp>
        <p:nvSpPr>
          <p:cNvPr id="24" name="Text 22"/>
          <p:cNvSpPr/>
          <p:nvPr/>
        </p:nvSpPr>
        <p:spPr>
          <a:xfrm>
            <a:off x="6375400" y="3648708"/>
            <a:ext cx="355600" cy="355600"/>
          </a:xfrm>
          <a:prstGeom prst="roundRect">
            <a:avLst>
              <a:gd name="adj" fmla="val 50000"/>
            </a:avLst>
          </a:prstGeom>
          <a:solidFill>
            <a:srgbClr val="E4572E"/>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5" name="Text 23"/>
          <p:cNvSpPr/>
          <p:nvPr/>
        </p:nvSpPr>
        <p:spPr>
          <a:xfrm>
            <a:off x="6858000" y="3707445"/>
            <a:ext cx="444754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2937"/>
                </a:solidFill>
                <a:latin typeface="Arial" pitchFamily="34" charset="0"/>
                <a:ea typeface="Arial" pitchFamily="34" charset="-122"/>
                <a:cs typeface="Arial" pitchFamily="34" charset="-120"/>
              </a:rPr>
              <a:t>Ordenar la captura de datos</a:t>
            </a:r>
            <a:endParaRPr lang="en-US" sz="1500" dirty="0"/>
          </a:p>
        </p:txBody>
      </p:sp>
      <p:sp>
        <p:nvSpPr>
          <p:cNvPr id="26" name="Text 24"/>
          <p:cNvSpPr/>
          <p:nvPr/>
        </p:nvSpPr>
        <p:spPr>
          <a:xfrm>
            <a:off x="6375400" y="4105908"/>
            <a:ext cx="4944618"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F2937"/>
                </a:solidFill>
                <a:latin typeface="Arial" pitchFamily="34" charset="0"/>
                <a:ea typeface="Arial" pitchFamily="34" charset="-122"/>
                <a:cs typeface="Arial" pitchFamily="34" charset="-120"/>
              </a:rPr>
              <a:t>Listas cerradas, corregir las categorías y registrar el motivo de cancelación y la hora del pedido.</a:t>
            </a:r>
            <a:endParaRPr lang="en-US" sz="1300" dirty="0"/>
          </a:p>
        </p:txBody>
      </p:sp>
      <p:sp>
        <p:nvSpPr>
          <p:cNvPr id="27" name="Text 25"/>
          <p:cNvSpPr/>
          <p:nvPr/>
        </p:nvSpPr>
        <p:spPr>
          <a:xfrm>
            <a:off x="6375400" y="4977767"/>
            <a:ext cx="4944618"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E4572E"/>
                </a:solidFill>
                <a:latin typeface="Arial" pitchFamily="34" charset="0"/>
                <a:ea typeface="Arial" pitchFamily="34" charset="-122"/>
                <a:cs typeface="Arial" pitchFamily="34" charset="-120"/>
              </a:rPr>
              <a:t>Meta propuesta:</a:t>
            </a:r>
            <a:r>
              <a:rPr lang="en-US" sz="1300" dirty="0">
                <a:solidFill>
                  <a:srgbClr val="1F2937"/>
                </a:solidFill>
                <a:latin typeface="Arial" pitchFamily="34" charset="0"/>
                <a:ea typeface="Arial" pitchFamily="34" charset="-122"/>
                <a:cs typeface="Arial" pitchFamily="34" charset="-120"/>
              </a:rPr>
              <a:t> cero correcciones manuales.</a:t>
            </a:r>
            <a:endParaRPr lang="en-US" sz="1300" dirty="0"/>
          </a:p>
        </p:txBody>
      </p:sp>
      <p:sp>
        <p:nvSpPr>
          <p:cNvPr id="28" name="Text 26"/>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Arial" pitchFamily="34" charset="0"/>
                <a:ea typeface="Arial" pitchFamily="34" charset="-122"/>
                <a:cs typeface="Arial" pitchFamily="34" charset="-120"/>
              </a:rPr>
              <a:t>PideYa · Presentación ejecutiva · ADY1104-001D</a:t>
            </a:r>
            <a:endParaRPr lang="en-US" sz="1200" dirty="0"/>
          </a:p>
        </p:txBody>
      </p:sp>
      <p:sp>
        <p:nvSpPr>
          <p:cNvPr id="29" name="Text 27"/>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937"/>
        </a:solidFill>
      </p:bgPr>
    </p:bg>
    <p:spTree>
      <p:nvGrpSpPr>
        <p:cNvPr id="1" name=""/>
        <p:cNvGrpSpPr/>
        <p:nvPr/>
      </p:nvGrpSpPr>
      <p:grpSpPr>
        <a:xfrm>
          <a:off x="0" y="0"/>
          <a:ext cx="0" cy="0"/>
          <a:chOff x="0" y="0"/>
          <a:chExt cx="0" cy="0"/>
        </a:xfrm>
      </p:grpSpPr>
      <p:sp>
        <p:nvSpPr>
          <p:cNvPr id="2" name="Text 0"/>
          <p:cNvSpPr/>
          <p:nvPr/>
        </p:nvSpPr>
        <p:spPr>
          <a:xfrm>
            <a:off x="812800" y="81280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4572E"/>
                </a:solidFill>
                <a:latin typeface="Arial" pitchFamily="34" charset="0"/>
                <a:ea typeface="Arial" pitchFamily="34" charset="-122"/>
                <a:cs typeface="Arial" pitchFamily="34" charset="-120"/>
              </a:rPr>
              <a:t>PideYa</a:t>
            </a:r>
            <a:endParaRPr lang="en-US" sz="1800" dirty="0"/>
          </a:p>
        </p:txBody>
      </p:sp>
      <p:sp>
        <p:nvSpPr>
          <p:cNvPr id="3" name="Shape 1"/>
          <p:cNvSpPr/>
          <p:nvPr/>
        </p:nvSpPr>
        <p:spPr>
          <a:xfrm>
            <a:off x="812800" y="2270758"/>
            <a:ext cx="762000" cy="50800"/>
          </a:xfrm>
          <a:prstGeom prst="roundRect">
            <a:avLst>
              <a:gd name="adj" fmla="val 50000"/>
            </a:avLst>
          </a:prstGeom>
          <a:solidFill>
            <a:srgbClr val="E4572E"/>
          </a:solidFill>
          <a:ln/>
        </p:spPr>
      </p:sp>
      <p:sp>
        <p:nvSpPr>
          <p:cNvPr id="4" name="Text 2"/>
          <p:cNvSpPr/>
          <p:nvPr>
            <p:ph type="title"/>
          </p:nvPr>
        </p:nvSpPr>
        <p:spPr>
          <a:xfrm>
            <a:off x="812800" y="2575558"/>
            <a:ext cx="9810750"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FFFFF"/>
                </a:solidFill>
                <a:latin typeface="Arial" pitchFamily="34" charset="0"/>
                <a:ea typeface="Arial" pitchFamily="34" charset="-122"/>
                <a:cs typeface="Arial" pitchFamily="34" charset="-120"/>
              </a:rPr>
              <a:t>Clientes fieles, una base que hay que hacer crecer</a:t>
            </a:r>
            <a:endParaRPr lang="en-US" sz="4000" dirty="0"/>
          </a:p>
        </p:txBody>
      </p:sp>
      <p:sp>
        <p:nvSpPr>
          <p:cNvPr id="5" name="Text 3"/>
          <p:cNvSpPr/>
          <p:nvPr/>
        </p:nvSpPr>
        <p:spPr>
          <a:xfrm>
            <a:off x="812800" y="3947158"/>
            <a:ext cx="9156700"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D1D5DB"/>
                </a:solidFill>
                <a:latin typeface="Arial" pitchFamily="34" charset="0"/>
                <a:ea typeface="Arial" pitchFamily="34" charset="-122"/>
                <a:cs typeface="Arial" pitchFamily="34" charset="-120"/>
              </a:rPr>
              <a:t>Las acciones 1 y 2 protegen las ventas actuales. La 3 y la 4 son las que pueden hacerlas crecer.</a:t>
            </a:r>
            <a:endParaRPr lang="en-US" sz="1700" dirty="0"/>
          </a:p>
        </p:txBody>
      </p:sp>
      <p:sp>
        <p:nvSpPr>
          <p:cNvPr id="6" name="Text 4"/>
          <p:cNvSpPr/>
          <p:nvPr/>
        </p:nvSpPr>
        <p:spPr>
          <a:xfrm>
            <a:off x="812800" y="56896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4572E"/>
                </a:solidFill>
                <a:latin typeface="Arial" pitchFamily="34" charset="0"/>
                <a:ea typeface="Arial" pitchFamily="34" charset="-122"/>
                <a:cs typeface="Arial" pitchFamily="34" charset="-120"/>
              </a:rPr>
              <a:t>Gracias · ¿Preguntas?</a:t>
            </a:r>
            <a:endParaRPr lang="en-US" sz="2000" dirty="0"/>
          </a:p>
        </p:txBody>
      </p:sp>
    </p:spTree>
  </p:cSld>
  <p:clrMapOvr>
    <a:masterClrMapping/>
  </p:clrMapOvr>
</p:sld>
</file>

<file path=ppt/theme/theme1.xml><?xml version="1.0" encoding="utf-8"?>
<a:theme xmlns:a="http://schemas.openxmlformats.org/drawingml/2006/main" name="PideYa · Presentación ejecutiva">
  <a:themeElements>
    <a:clrScheme name="PideYa · Presentación ejecutiva">
      <a:dk1>
        <a:srgbClr val="1F2937"/>
      </a:dk1>
      <a:lt1>
        <a:srgbClr val="FFFFFF"/>
      </a:lt1>
      <a:dk2>
        <a:srgbClr val="575F69"/>
      </a:dk2>
      <a:lt2>
        <a:srgbClr val="E9EAEB"/>
      </a:lt2>
      <a:accent1>
        <a:srgbClr val="E4572E"/>
      </a:accent1>
      <a:accent2>
        <a:srgbClr val="C2410C"/>
      </a:accent2>
      <a:accent3>
        <a:srgbClr val="15803D"/>
      </a:accent3>
      <a:accent4>
        <a:srgbClr val="4B5563"/>
      </a:accent4>
      <a:accent5>
        <a:srgbClr val="6B7280"/>
      </a:accent5>
      <a:accent6>
        <a:srgbClr val="9CA3AF"/>
      </a:accent6>
      <a:hlink>
        <a:srgbClr val="0563C1"/>
      </a:hlink>
      <a:folHlink>
        <a:srgbClr val="954F72"/>
      </a:folHlink>
    </a:clrScheme>
    <a:fontScheme name="PideYa · Presentación ejecutiv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PideYa · Presentación ejecutiva</dc:title>
  <dc:subject/>
  <dc:creator/>
  <cp:lastModifiedBy/>
  <cp:revision>1</cp:revision>
  <dcterms:created xsi:type="dcterms:W3CDTF">2026-10-29T23:40:12Z</dcterms:created>
  <dcterms:modified xsi:type="dcterms:W3CDTF">2026-10-29T23:40:12Z</dcterms:modified>
</cp:coreProperties>
</file>